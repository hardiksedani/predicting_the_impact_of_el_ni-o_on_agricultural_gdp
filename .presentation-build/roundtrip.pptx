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19314a123c4fc9" /><Relationship Type="http://schemas.openxmlformats.org/officeDocument/2006/relationships/extended-properties" Target="/docProps/app.xml" Id="R884261a4081149d1" /><Relationship Type="http://schemas.openxmlformats.org/officeDocument/2006/relationships/officeDocument" Target="/ppt/presentation.xml" Id="R994c649bf5bb4b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65fc1070b04170"/>
  </p:sldMasterIdLst>
  <p:notesMasterIdLst>
    <p:notesMasterId xmlns:r="http://schemas.openxmlformats.org/officeDocument/2006/relationships" r:id="R02301bdd37ad40fe"/>
  </p:notesMasterIdLst>
  <p:sldIdLst>
    <p:sldId xmlns:r="http://schemas.openxmlformats.org/officeDocument/2006/relationships" id="256" r:id="Rff141603fd8e41de"/>
    <p:sldId xmlns:r="http://schemas.openxmlformats.org/officeDocument/2006/relationships" id="257" r:id="R44b380d4ad8a4cae"/>
    <p:sldId xmlns:r="http://schemas.openxmlformats.org/officeDocument/2006/relationships" id="258" r:id="Rd3349efd839a4df5"/>
    <p:sldId xmlns:r="http://schemas.openxmlformats.org/officeDocument/2006/relationships" id="259" r:id="Re60d11d4f4ad4f68"/>
    <p:sldId xmlns:r="http://schemas.openxmlformats.org/officeDocument/2006/relationships" id="260" r:id="Rc3f7e52cd7d4452b"/>
    <p:sldId xmlns:r="http://schemas.openxmlformats.org/officeDocument/2006/relationships" id="261" r:id="R41eee8aaf38a430a"/>
    <p:sldId xmlns:r="http://schemas.openxmlformats.org/officeDocument/2006/relationships" id="262" r:id="R73d3de0d91ab4da3"/>
    <p:sldId xmlns:r="http://schemas.openxmlformats.org/officeDocument/2006/relationships" id="263" r:id="Rc80e00b2db4348a8"/>
    <p:sldId xmlns:r="http://schemas.openxmlformats.org/officeDocument/2006/relationships" id="264" r:id="R59bf8634105443ce"/>
    <p:sldId xmlns:r="http://schemas.openxmlformats.org/officeDocument/2006/relationships" id="265" r:id="Rf99699ff8c67406d"/>
    <p:sldId xmlns:r="http://schemas.openxmlformats.org/officeDocument/2006/relationships" id="266" r:id="R352d57fbd9d84f91"/>
    <p:sldId xmlns:r="http://schemas.openxmlformats.org/officeDocument/2006/relationships" id="267" r:id="Rbecc3c06eef74aa5"/>
    <p:sldId xmlns:r="http://schemas.openxmlformats.org/officeDocument/2006/relationships" id="268" r:id="R8b37c278cdde4ae0"/>
    <p:sldId xmlns:r="http://schemas.openxmlformats.org/officeDocument/2006/relationships" id="269" r:id="Rfe72f5fdd0344c54"/>
    <p:sldId xmlns:r="http://schemas.openxmlformats.org/officeDocument/2006/relationships" id="270" r:id="R53bf538837bd4386"/>
    <p:sldId xmlns:r="http://schemas.openxmlformats.org/officeDocument/2006/relationships" id="271" r:id="Ra3a601fcb2d24a23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4ee1e62beb4708" /><Relationship Type="http://schemas.openxmlformats.org/officeDocument/2006/relationships/slideMaster" Target="/ppt/slideMasters/slideMaster1.xml" Id="Rfb65fc1070b04170" /><Relationship Type="http://schemas.openxmlformats.org/officeDocument/2006/relationships/notesMaster" Target="/ppt/notesMasters/notesMaster1.xml" Id="R02301bdd37ad40fe" /><Relationship Type="http://schemas.openxmlformats.org/officeDocument/2006/relationships/presProps" Target="/ppt/presProps.xml" Id="Rd9fc0f70010847d4" /><Relationship Type="http://schemas.openxmlformats.org/officeDocument/2006/relationships/viewProps" Target="/ppt/viewProps.xml" Id="R36e97e79b0484e67" /><Relationship Type="http://schemas.openxmlformats.org/officeDocument/2006/relationships/tableStyles" Target="/ppt/tableStyles.xml" Id="Rd5a73b1066b14cc3" /><Relationship Type="http://schemas.openxmlformats.org/officeDocument/2006/relationships/slide" Target="/ppt/slides/slide1.xml" Id="Rff141603fd8e41de" /><Relationship Type="http://schemas.openxmlformats.org/officeDocument/2006/relationships/slide" Target="/ppt/slides/slide2.xml" Id="R44b380d4ad8a4cae" /><Relationship Type="http://schemas.openxmlformats.org/officeDocument/2006/relationships/slide" Target="/ppt/slides/slide3.xml" Id="Rd3349efd839a4df5" /><Relationship Type="http://schemas.openxmlformats.org/officeDocument/2006/relationships/slide" Target="/ppt/slides/slide4.xml" Id="Re60d11d4f4ad4f68" /><Relationship Type="http://schemas.openxmlformats.org/officeDocument/2006/relationships/slide" Target="/ppt/slides/slide5.xml" Id="Rc3f7e52cd7d4452b" /><Relationship Type="http://schemas.openxmlformats.org/officeDocument/2006/relationships/slide" Target="/ppt/slides/slide6.xml" Id="R41eee8aaf38a430a" /><Relationship Type="http://schemas.openxmlformats.org/officeDocument/2006/relationships/slide" Target="/ppt/slides/slide7.xml" Id="R73d3de0d91ab4da3" /><Relationship Type="http://schemas.openxmlformats.org/officeDocument/2006/relationships/slide" Target="/ppt/slides/slide8.xml" Id="Rc80e00b2db4348a8" /><Relationship Type="http://schemas.openxmlformats.org/officeDocument/2006/relationships/slide" Target="/ppt/slides/slide9.xml" Id="R59bf8634105443ce" /><Relationship Type="http://schemas.openxmlformats.org/officeDocument/2006/relationships/slide" Target="/ppt/slides/slide10.xml" Id="Rf99699ff8c67406d" /><Relationship Type="http://schemas.openxmlformats.org/officeDocument/2006/relationships/slide" Target="/ppt/slides/slide11.xml" Id="R352d57fbd9d84f91" /><Relationship Type="http://schemas.openxmlformats.org/officeDocument/2006/relationships/slide" Target="/ppt/slides/slide12.xml" Id="Rbecc3c06eef74aa5" /><Relationship Type="http://schemas.openxmlformats.org/officeDocument/2006/relationships/slide" Target="/ppt/slides/slide13.xml" Id="R8b37c278cdde4ae0" /><Relationship Type="http://schemas.openxmlformats.org/officeDocument/2006/relationships/slide" Target="/ppt/slides/slide14.xml" Id="Rfe72f5fdd0344c54" /><Relationship Type="http://schemas.openxmlformats.org/officeDocument/2006/relationships/slide" Target="/ppt/slides/slide15.xml" Id="R53bf538837bd4386" /><Relationship Type="http://schemas.openxmlformats.org/officeDocument/2006/relationships/slide" Target="/ppt/slides/slide16.xml" Id="Ra3a601fcb2d24a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05b194c47e4f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0aa880b24f420c" /><Relationship Type="http://schemas.openxmlformats.org/officeDocument/2006/relationships/notesMaster" Target="/ppt/notesMasters/notesMaster1.xml" Id="R2102f64583f445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a31a3ad32d4296" /><Relationship Type="http://schemas.openxmlformats.org/officeDocument/2006/relationships/notesMaster" Target="/ppt/notesMasters/notesMaster1.xml" Id="R14607e4279f14e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f8e53156db4c8a" /><Relationship Type="http://schemas.openxmlformats.org/officeDocument/2006/relationships/notesMaster" Target="/ppt/notesMasters/notesMaster1.xml" Id="R4be329f682614c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4cd56b98a0442b" /><Relationship Type="http://schemas.openxmlformats.org/officeDocument/2006/relationships/notesMaster" Target="/ppt/notesMasters/notesMaster1.xml" Id="Rc7b2274686874b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e40bb9d3d94cd2" /><Relationship Type="http://schemas.openxmlformats.org/officeDocument/2006/relationships/notesMaster" Target="/ppt/notesMasters/notesMaster1.xml" Id="R6c54b12de6674e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3551cb22fe47e4" /><Relationship Type="http://schemas.openxmlformats.org/officeDocument/2006/relationships/notesMaster" Target="/ppt/notesMasters/notesMaster1.xml" Id="R2382e96405d447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d4f8d251034baf" /><Relationship Type="http://schemas.openxmlformats.org/officeDocument/2006/relationships/notesMaster" Target="/ppt/notesMasters/notesMaster1.xml" Id="R4a97ba2eb9784a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cb013dd1424f44" /><Relationship Type="http://schemas.openxmlformats.org/officeDocument/2006/relationships/notesMaster" Target="/ppt/notesMasters/notesMaster1.xml" Id="Rbd393938d83149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2bc24cfbf14aec" /><Relationship Type="http://schemas.openxmlformats.org/officeDocument/2006/relationships/notesMaster" Target="/ppt/notesMasters/notesMaster1.xml" Id="R1b6c737ef7c445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b58baa2cac4295" /><Relationship Type="http://schemas.openxmlformats.org/officeDocument/2006/relationships/notesMaster" Target="/ppt/notesMasters/notesMaster1.xml" Id="R9b25bec009dc42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d2932d63ce43a4" /><Relationship Type="http://schemas.openxmlformats.org/officeDocument/2006/relationships/notesMaster" Target="/ppt/notesMasters/notesMaster1.xml" Id="R683292f59b4746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b11bb01ed54346" /><Relationship Type="http://schemas.openxmlformats.org/officeDocument/2006/relationships/notesMaster" Target="/ppt/notesMasters/notesMaster1.xml" Id="Re22012b1053349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c3e00eff5f43fa" /><Relationship Type="http://schemas.openxmlformats.org/officeDocument/2006/relationships/notesMaster" Target="/ppt/notesMasters/notesMaster1.xml" Id="Re3290ab3b9d04c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8696df275d4c4e" /><Relationship Type="http://schemas.openxmlformats.org/officeDocument/2006/relationships/notesMaster" Target="/ppt/notesMasters/notesMaster1.xml" Id="R73eeebee49e34a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d8f529c98e24574" /><Relationship Type="http://schemas.openxmlformats.org/officeDocument/2006/relationships/notesMaster" Target="/ppt/notesMasters/notesMaster1.xml" Id="R31f7d38d2311454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be08841863d4bdc" /><Relationship Type="http://schemas.openxmlformats.org/officeDocument/2006/relationships/notesMaster" Target="/ppt/notesMasters/notesMaster1.xml" Id="Rcfb79ad847ad4f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team and guide. One-line pitch: we built a full-stack ML platform that estimates how El Niño shocks change state-wise Agricultural GDP in India.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GSVA vs GDP: state agricultural accounts are compiled at basic prices (GVA). GDP = GVA + product taxes - product subsidies. In everyday discourse this is called Agricultural GDP, so we use both terms and are explicit about the distinction.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States: Maharashtra, Punjab, Uttar Pradesh, Madhya Pradesh, Rajasthan, Gujarat, Andhra Pradesh, Karnataka, Haryana, West Bengal. 10 states x 15 years = 150 observations, a balanced panel.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backend uses a dual storage adapter (db_storage.py): SQLite works out of the box; Firestore is used automatically when credentials are supplied.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Why not K-fold: in panel data, random folds train on future years and predict past ones, which inflates accuracy. The chronological split mimics real forecasting.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Extra Trees wins on all four metrics. Note the metrics are on the out-of-sample years 2020-2023 only.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Suggested: run a live demo here at https://pblminiprojecttyaids.vercel.app and show the Scenario Lab with a Strong El Niño preset for Maharashtra.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bb6b131166470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dd9dd5a63149dc" /><Relationship Type="http://schemas.openxmlformats.org/officeDocument/2006/relationships/slideLayout" Target="/ppt/slideLayouts/slideLayout1.xml" Id="R1c639030b5ea4c2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639030b5ea4c2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bc412158e4b86" /><Relationship Type="http://schemas.openxmlformats.org/officeDocument/2006/relationships/image" Target="/ppt/media/image.png" Id="Rd3c9e47758ed452d" /><Relationship Type="http://schemas.openxmlformats.org/officeDocument/2006/relationships/notesSlide" Target="/ppt/notesSlides/notesSlide1.xml" Id="R3215bf5f5d764f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255a2167843ab" /><Relationship Type="http://schemas.openxmlformats.org/officeDocument/2006/relationships/image" Target="/ppt/media/image2.png" Id="Rf69591de56fb473f" /><Relationship Type="http://schemas.openxmlformats.org/officeDocument/2006/relationships/notesSlide" Target="/ppt/notesSlides/notesSlide2.xml" Id="Rc126ae6cbada49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55499786741f2" /><Relationship Type="http://schemas.openxmlformats.org/officeDocument/2006/relationships/image" Target="/ppt/media/image3.png" Id="R598e43a38d7e4642" /><Relationship Type="http://schemas.openxmlformats.org/officeDocument/2006/relationships/notesSlide" Target="/ppt/notesSlides/notesSlide3.xml" Id="Rbed3ce9e9a1440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2979761d84881" /><Relationship Type="http://schemas.openxmlformats.org/officeDocument/2006/relationships/image" Target="/ppt/media/image4.png" Id="R810a8c22febc4e10" /><Relationship Type="http://schemas.openxmlformats.org/officeDocument/2006/relationships/notesSlide" Target="/ppt/notesSlides/notesSlide4.xml" Id="R10dc2646ac5749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b46cf21ca4c4f" /><Relationship Type="http://schemas.openxmlformats.org/officeDocument/2006/relationships/image" Target="/ppt/media/image5.png" Id="R94ab4a4978c94f81" /><Relationship Type="http://schemas.openxmlformats.org/officeDocument/2006/relationships/notesSlide" Target="/ppt/notesSlides/notesSlide5.xml" Id="R14794d415b6e44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4b2aae98942ff" /><Relationship Type="http://schemas.openxmlformats.org/officeDocument/2006/relationships/image" Target="/ppt/media/image6.png" Id="R86ab5221042444c9" /><Relationship Type="http://schemas.openxmlformats.org/officeDocument/2006/relationships/notesSlide" Target="/ppt/notesSlides/notesSlide6.xml" Id="R736735831db144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aba2b74e5482b" /><Relationship Type="http://schemas.openxmlformats.org/officeDocument/2006/relationships/image" Target="/ppt/media/image7.png" Id="R727c7b548554488f" /><Relationship Type="http://schemas.openxmlformats.org/officeDocument/2006/relationships/notesSlide" Target="/ppt/notesSlides/notesSlide7.xml" Id="Rdae84f91b38249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4565b0e0c40a2" /><Relationship Type="http://schemas.openxmlformats.org/officeDocument/2006/relationships/image" Target="/ppt/media/image8.png" Id="R9a9c6e142da94173" /><Relationship Type="http://schemas.openxmlformats.org/officeDocument/2006/relationships/notesSlide" Target="/ppt/notesSlides/notesSlide8.xml" Id="R0bc4dd7cfc2a4f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70df78123473a" /><Relationship Type="http://schemas.openxmlformats.org/officeDocument/2006/relationships/image" Target="/ppt/media/image9.png" Id="Rb401da76be464122" /><Relationship Type="http://schemas.openxmlformats.org/officeDocument/2006/relationships/notesSlide" Target="/ppt/notesSlides/notesSlide9.xml" Id="R3ef8067faed044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0d8d1848c4820" /><Relationship Type="http://schemas.openxmlformats.org/officeDocument/2006/relationships/image" Target="/ppt/media/image10.png" Id="R7ba6d60c472546cc" /><Relationship Type="http://schemas.openxmlformats.org/officeDocument/2006/relationships/notesSlide" Target="/ppt/notesSlides/notesSlide10.xml" Id="Rfe3bf00ec3a04d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d491c64da4fd5" /><Relationship Type="http://schemas.openxmlformats.org/officeDocument/2006/relationships/image" Target="/ppt/media/image11.png" Id="R3e13a942afd14e94" /><Relationship Type="http://schemas.openxmlformats.org/officeDocument/2006/relationships/chart" Target="/ppt/slides/charts/chart1.xml" Id="R1b76ac23ed4247cf" /><Relationship Type="http://schemas.openxmlformats.org/officeDocument/2006/relationships/notesSlide" Target="/ppt/notesSlides/notesSlide11.xml" Id="R09e8b02568fb4b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fb4bcb70b49a1" /><Relationship Type="http://schemas.openxmlformats.org/officeDocument/2006/relationships/image" Target="/ppt/media/image12.png" Id="Re0850ce29dec453e" /><Relationship Type="http://schemas.openxmlformats.org/officeDocument/2006/relationships/image" Target="/ppt/media/image13.png" Id="R67e9ae66a0554c6b" /><Relationship Type="http://schemas.openxmlformats.org/officeDocument/2006/relationships/image" Target="/ppt/media/image14.png" Id="Rdc840ac7fa084c8d" /><Relationship Type="http://schemas.openxmlformats.org/officeDocument/2006/relationships/image" Target="/ppt/media/image15.png" Id="R1a518251579d429f" /><Relationship Type="http://schemas.openxmlformats.org/officeDocument/2006/relationships/image" Target="/ppt/media/image16.png" Id="R64968b9d246a44ac" /><Relationship Type="http://schemas.openxmlformats.org/officeDocument/2006/relationships/notesSlide" Target="/ppt/notesSlides/notesSlide12.xml" Id="R14f1446f691c4b4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70c9d4c0a42d8" /><Relationship Type="http://schemas.openxmlformats.org/officeDocument/2006/relationships/image" Target="/ppt/media/image17.png" Id="R2b9593e773ee4605" /><Relationship Type="http://schemas.openxmlformats.org/officeDocument/2006/relationships/notesSlide" Target="/ppt/notesSlides/notesSlide13.xml" Id="Rbc558104f7b14e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3602b60e749f7" /><Relationship Type="http://schemas.openxmlformats.org/officeDocument/2006/relationships/image" Target="/ppt/media/image18.png" Id="R41c77bdd2aca470c" /><Relationship Type="http://schemas.openxmlformats.org/officeDocument/2006/relationships/notesSlide" Target="/ppt/notesSlides/notesSlide14.xml" Id="Raab5ba51f8e44ab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4005a3fc4478d" /><Relationship Type="http://schemas.openxmlformats.org/officeDocument/2006/relationships/image" Target="/ppt/media/image19.png" Id="R8633598c49c6445a" /><Relationship Type="http://schemas.openxmlformats.org/officeDocument/2006/relationships/hyperlink" Target="https://pblminiprojecttyaids.vercel.app/" TargetMode="External" Id="R6c78e366f9494d54" /><Relationship Type="http://schemas.openxmlformats.org/officeDocument/2006/relationships/hyperlink" Target="https://github.com/hardiksedani/pbl_mini_project_ty_aids" TargetMode="External" Id="Rd2b0bee40cc544c0" /><Relationship Type="http://schemas.openxmlformats.org/officeDocument/2006/relationships/hyperlink" Target="https://github.com/hardiksedani/pbl_mini_project_ty_aids" TargetMode="External" Id="Redcc012ffa9b4637" /><Relationship Type="http://schemas.openxmlformats.org/officeDocument/2006/relationships/notesSlide" Target="/ppt/notesSlides/notesSlide15.xml" Id="R4ad8e9c51dbf43d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528c1cb6b457e" /><Relationship Type="http://schemas.openxmlformats.org/officeDocument/2006/relationships/image" Target="/ppt/media/image20.png" Id="R624369493d5b43c9" /><Relationship Type="http://schemas.openxmlformats.org/officeDocument/2006/relationships/notesSlide" Target="/ppt/notesSlides/notesSlide16.xml" Id="R36e7d9bcd4b6498c" /></Relationships>
</file>

<file path=ppt/slides/charts/chart1.xml><?xml version="1.0" encoding="utf-8"?>
<c:chartSpace xmlns:c="http://schemas.openxmlformats.org/drawingml/2006/chart">
  <c:lang val="en-US"/>
  <c:roundedCorners val="1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 i="0" u="none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Out-of-sample error, 2020–2023 (₹ Crore)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0" i="0" u="none">
              <a:solidFill>
                <a:srgbClr val="212121"/>
              </a:solidFill>
              <a:latin typeface="Times New Roman"/>
              <a:ea typeface="Times New Roman"/>
              <a:cs typeface="Times New Roman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(₹ Cr)</c:v>
                </c:pt>
              </c:strCache>
            </c:strRef>
          </c:tx>
          <c:spPr>
            <a:solidFill xmlns:a="http://schemas.openxmlformats.org/drawingml/2006/main">
              <a:srgbClr val="1F3864"/>
            </a:solidFill>
          </c:spPr>
          <c:dLbls>
            <c:numFmt formatCode="0.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00" b="0" i="0" u="none">
                    <a:solidFill>
                      <a:srgbClr val="212121"/>
                    </a:solidFill>
                    <a:latin typeface="Times New Roman"/>
                    <a:ea typeface="Times New Roman"/>
                    <a:cs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OLS</c:v>
                </c:pt>
                <c:pt idx="1">
                  <c:v>Random Forest</c:v>
                </c:pt>
                <c:pt idx="2">
                  <c:v>Grad. Boosting</c:v>
                </c:pt>
                <c:pt idx="3">
                  <c:v>XGBoost</c:v>
                </c:pt>
                <c:pt idx="4">
                  <c:v>Extra Trees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15.16</c:v>
                </c:pt>
                <c:pt idx="1">
                  <c:v>13.37</c:v>
                </c:pt>
                <c:pt idx="2">
                  <c:v>13.74</c:v>
                </c:pt>
                <c:pt idx="3">
                  <c:v>14.02</c:v>
                </c:pt>
                <c:pt idx="4">
                  <c:v>12.19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 (₹ Cr)</c:v>
                </c:pt>
              </c:strCache>
            </c:strRef>
          </c:tx>
          <c:spPr>
            <a:solidFill xmlns:a="http://schemas.openxmlformats.org/drawingml/2006/main">
              <a:srgbClr val="C00000"/>
            </a:solidFill>
          </c:spPr>
          <c:dLbls>
            <c:numFmt formatCode="0.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00" b="0" i="0" u="none">
                    <a:solidFill>
                      <a:srgbClr val="212121"/>
                    </a:solidFill>
                    <a:latin typeface="Times New Roman"/>
                    <a:ea typeface="Times New Roman"/>
                    <a:cs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OLS</c:v>
                </c:pt>
                <c:pt idx="1">
                  <c:v>Random Forest</c:v>
                </c:pt>
                <c:pt idx="2">
                  <c:v>Grad. Boosting</c:v>
                </c:pt>
                <c:pt idx="3">
                  <c:v>XGBoost</c:v>
                </c:pt>
                <c:pt idx="4">
                  <c:v>Extra Trees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17.49</c:v>
                </c:pt>
                <c:pt idx="1">
                  <c:v>17.62</c:v>
                </c:pt>
                <c:pt idx="2">
                  <c:v>18.33</c:v>
                </c:pt>
                <c:pt idx="3">
                  <c:v>19.03</c:v>
                </c:pt>
                <c:pt idx="4">
                  <c:v>15.68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00" b="0" i="0" u="none">
                  <a:solidFill>
                    <a:srgbClr val="21212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2094734552"/>
        <c:crosses val="autoZero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6350">
              <a:solidFill>
                <a:srgbClr val="E3E6EC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209473455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00"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9DCB3DF-E913-44B8-A607-A1C54505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9914" y="1217981"/>
            <a:ext cx="230429" cy="3925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957B8C0-3544-4804-99C9-3559FDC2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262"/>
            <a:ext cx="2104949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>
            <a:solidFill>
              <a:srgbClr val="FF00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AC52CD4-81CF-4ACC-92C8-C4E8F763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49" y="4836262"/>
            <a:ext cx="6806794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9e47758ed45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332281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5BA08A5-C6CA-4E5B-A405-19462D82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836262"/>
            <a:ext cx="146304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29/9/2026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B394D9A-D88F-411D-9E60-0B7B6456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36262"/>
            <a:ext cx="41148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84F6099-48E2-401E-8453-D9CFC943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T.Y. Mini Project Presentation</a:t>
            </a:r>
            <a:endParaRPr sz="14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4695D52-F1F5-4533-926C-E1B96D4A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19072"/>
            <a:ext cx="74980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Predicting the Impact of El Niño on Agricultural GDP using Panel Data Machine Learning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AE66455-75F4-4717-B694-4C079A43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604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Guide: Prof. Prashant Bhandare</a:t>
            </a:r>
            <a:endParaRPr sz="1500"/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Group No: 25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90FB679-BEBB-47E0-BFBA-F60973FB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7560"/>
            <a:ext cx="8229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Hardik Sedani - 70</a:t>
            </a:r>
            <a:endParaRPr sz="1500"/>
          </a:p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Altair Patel - 68</a:t>
            </a:r>
            <a:endParaRPr sz="1500"/>
          </a:p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Nikhil More - 66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7C909A3-06C5-4578-8630-10B97A12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4526280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Department of AI&amp;DS, K.J. Somaiya Institute of Technology, Sion, Mumbai 400022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0569960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A2309C5-2F48-454E-805C-92E0C4A6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9914" y="1217981"/>
            <a:ext cx="230429" cy="3925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1514605-F0D4-4655-8777-2C9AF76A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262"/>
            <a:ext cx="2104949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>
            <a:solidFill>
              <a:srgbClr val="FF00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10E912F-EA97-4F27-8360-11B881CF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49" y="4836262"/>
            <a:ext cx="6806794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591de56fb47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332281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4FAEDFB-BD04-4C57-BB9D-D1B8D105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836262"/>
            <a:ext cx="146304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29/9/2026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05B6AA4-071F-4D78-B1AC-83E2EA14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36262"/>
            <a:ext cx="41148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 sz="1000"/>
          </a:p>
        </p:txBody>
      </p:sp>
      <p:graphicFrame>
        <p:nvGraphicFramePr>
          <p:cNvPr id="16" name="Contents Table"/>
          <p:cNvGraphicFramePr/>
          <p:nvPr/>
        </p:nvGraphicFramePr>
        <p:xfrm>
          <a:off xmlns:a="http://schemas.openxmlformats.org/drawingml/2006/main" x="1311000" y="1400000"/>
          <a:ext xmlns:a="http://schemas.openxmlformats.org/drawingml/2006/main" cx="4340000" cy="32900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830000"/>
                <a:gridCol w="3510000"/>
              </a:tblGrid>
              <a:tr h="235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Sr.No.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Content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</a:tr>
              <a:tr h="235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Introduction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</a:tr>
              <a:tr h="235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Literature Survey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</a:tr>
              <a:tr h="235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3.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Objectives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</a:tr>
              <a:tr h="235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 &amp; Features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</a:tr>
              <a:tr h="235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Implementation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</a:tr>
              <a:tr h="235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 Architecture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</a:tr>
              <a:tr h="235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Modelling &amp; Validation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</a:tr>
              <a:tr h="235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Results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</a:tr>
              <a:tr h="235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Platform Features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</a:tr>
              <a:tr h="235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Applications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</a:tr>
              <a:tr h="235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Future Scope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</a:tr>
              <a:tr h="235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12.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Conclusion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</a:tr>
              <a:tr h="235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13.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References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98513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005FF56-4F19-4EB8-884A-2148485D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9914" y="1217981"/>
            <a:ext cx="230429" cy="3925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35495FE-1E8B-4321-956A-84EA4772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262"/>
            <a:ext cx="2104949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>
            <a:solidFill>
              <a:srgbClr val="FF00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4279CC2-6DEF-4531-886F-A6EB0713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49" y="4836262"/>
            <a:ext cx="6806794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e43a38d7e46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332281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AF49478-EFA6-457E-A366-4A7C5F5A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836262"/>
            <a:ext cx="146304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29/9/2026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C6BD0C1-D3A9-4BFA-A52B-08015EBB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36262"/>
            <a:ext cx="41148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AB05896-7124-4E7B-96A6-D206B9E6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1872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1. Introduction</a:t>
            </a:r>
            <a:endParaRPr sz="24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8B4B80D-D54E-4DDF-9150-C4148086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7360"/>
            <a:ext cx="2651760" cy="210312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700">
            <a:solidFill>
              <a:srgbClr val="F1F3F8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2E67659-6D34-43E0-A028-D193FB63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2880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Background</a:t>
            </a:r>
            <a:endParaRPr sz="1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40B6A8D-55E2-44C0-BC7A-B6B7C4B3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76272"/>
            <a:ext cx="2395728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400"/>
              </a:spcAft>
              <a:buSzPct val="100000"/>
              <a:buChar char="•"/>
            </a:pPr>
            <a:r>
              <a:rPr sz="11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El Niño alters global weather patterns, causing delayed monsoons, lower rainfall, higher temperatures and drought in India.</a:t>
            </a:r>
            <a:endParaRPr sz="1100"/>
          </a:p>
          <a:p xmlns:a="http://schemas.openxmlformats.org/drawingml/2006/main">
            <a:pPr marL="177800" indent="-177800">
              <a:spcAft>
                <a:spcPts val="400"/>
              </a:spcAft>
              <a:buSzPct val="100000"/>
              <a:buChar char="•"/>
            </a:pPr>
            <a:r>
              <a:rPr sz="11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Indian agriculture depends on the monsoon, so crop output and Agricultural GDP fall when rainfall fails.</a:t>
            </a:r>
            <a:endParaRPr sz="11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6BD20B1-D70A-4ED5-955B-249C62BE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737360"/>
            <a:ext cx="2651760" cy="210312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700">
            <a:solidFill>
              <a:srgbClr val="F1F3F8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6D41E9F-E9B6-4078-9266-AF63DBA8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82880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Problem Statement</a:t>
            </a:r>
            <a:endParaRPr sz="14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BBEC78B-9E9D-4295-8A42-CDE0B6E4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176272"/>
            <a:ext cx="2395728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400"/>
              </a:spcAft>
              <a:buSzPct val="100000"/>
              <a:buChar char="•"/>
            </a:pPr>
            <a:r>
              <a:rPr sz="11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Rainfall, temperature, El Niño index and past GDP data exist, but there is no reliable AI system that estimates how a stronger El Niño would change state-wise Agricultural GDP.</a:t>
            </a:r>
            <a:endParaRPr sz="11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CA9B920-E201-4E63-B066-DDB8ECF9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737360"/>
            <a:ext cx="2651760" cy="210312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700">
            <a:solidFill>
              <a:srgbClr val="F1F3F8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D44F61F-6FEA-4A4A-8598-A223E191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2880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Motivation</a:t>
            </a:r>
            <a:endParaRPr sz="14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F9ED195A-719A-4F66-A62F-C428917F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6272"/>
            <a:ext cx="2395728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400"/>
              </a:spcAft>
              <a:buSzPct val="100000"/>
              <a:buChar char="•"/>
            </a:pPr>
            <a:r>
              <a:rPr sz="11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Farmers' income depends directly on agricultural output.</a:t>
            </a:r>
            <a:endParaRPr sz="1100"/>
          </a:p>
          <a:p xmlns:a="http://schemas.openxmlformats.org/drawingml/2006/main">
            <a:pPr marL="177800" indent="-177800">
              <a:spcAft>
                <a:spcPts val="400"/>
              </a:spcAft>
              <a:buSzPct val="100000"/>
              <a:buChar char="•"/>
            </a:pPr>
            <a:r>
              <a:rPr sz="11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Governments need early information to plan subsidies, irrigation support and food reserves.</a:t>
            </a:r>
            <a:endParaRPr sz="1100"/>
          </a:p>
          <a:p xmlns:a="http://schemas.openxmlformats.org/drawingml/2006/main">
            <a:pPr marL="177800" indent="-177800">
              <a:spcAft>
                <a:spcPts val="400"/>
              </a:spcAft>
              <a:buSzPct val="100000"/>
              <a:buChar char="•"/>
            </a:pPr>
            <a:r>
              <a:rPr sz="11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Accurate prediction enables proactive policy and lower economic losses.</a:t>
            </a:r>
            <a:endParaRPr sz="11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4D61C95A-E2F8-4C71-ABA9-4116785D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7640"/>
            <a:ext cx="8229600" cy="73152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ACF4F67-2CF0-4421-90D0-E6C0139B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41648"/>
            <a:ext cx="786384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BFD0F2"/>
                </a:solidFill>
                <a:latin typeface="Times New Roman"/>
                <a:ea typeface="Times New Roman"/>
                <a:cs typeface="Times New Roman"/>
              </a:rPr>
              <a:t>PREDICTION TARGET</a:t>
            </a:r>
            <a:endParaRPr sz="900"/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Agricultural Gross State Value Added (GSVA) at constant 2011-12 prices, in ₹ Crore. Conventionally called Agricultural GDP.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174131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5FA452A-E970-489B-805F-C8046534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9914" y="1217981"/>
            <a:ext cx="230429" cy="3925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8BC6A1D-E49A-4D53-860D-1C88B427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262"/>
            <a:ext cx="2104949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>
            <a:solidFill>
              <a:srgbClr val="FF00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58AB97C-997B-498E-A1C2-F3847C2A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49" y="4836262"/>
            <a:ext cx="6806794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a8c22febc4e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332281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8C03999-23F4-4797-B761-BACBF48F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836262"/>
            <a:ext cx="146304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29/9/2026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87627B5-2182-4053-AE72-6E0773CE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36262"/>
            <a:ext cx="41148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974D1FC-C25C-4119-BFB1-BA3CE83A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1872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2. Literature Survey</a:t>
            </a:r>
            <a:endParaRPr sz="2400"/>
          </a:p>
        </p:txBody>
      </p:sp>
      <p:graphicFrame>
        <p:nvGraphicFramePr>
          <p:cNvPr id="21" name="Table 0"/>
          <p:cNvGraphicFramePr/>
          <p:nvPr/>
        </p:nvGraphicFramePr>
        <p:xfrm>
          <a:off xmlns:a="http://schemas.openxmlformats.org/drawingml/2006/main" x="457200" y="1737360"/>
          <a:ext xmlns:a="http://schemas.openxmlformats.org/drawingml/2006/main" cx="68580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"/>
                <a:gridCol w="1737360"/>
                <a:gridCol w="3291840"/>
                <a:gridCol w="2743200"/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Sr.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Reviewed Area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Key Findings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Limitation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Climate–Agriculture Studies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ENSO (El Niño–Southern Oscillation) influences rainfall patterns and crop-yield variability across regions.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Focuses on rainfall and crop yield, not Agricultural GDP.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Crop Yield Prediction using ML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ML models use weather and soil features to estimate crop production and improve accuracy.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Predicts crop yield only; no economic (GDP) estimate.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Macroeconomic Impact Studies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Droughts and weather shocks affect national GDP and agricultural productivity.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National-level analysis, not state-wise Agricultural GDP.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Panel Data Econometrics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Combines state-wise and time-series data to study regional trends and support policy analysis.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Mostly traditional econometrics, few ML models.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C2C61AA-9992-4265-99FD-28282A05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8229600" cy="59436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BE9E9"/>
          </a:solidFill>
          <a:ln xmlns:a="http://schemas.openxmlformats.org/drawingml/2006/main" w="12700">
            <a:solidFill>
              <a:srgbClr val="FBE9E9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AC9D7A2C-6B81-4FA0-89B1-CBC0BE86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0"/>
            <a:ext cx="7863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Research gap:  </a:t>
            </a: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no prior work combines panel data, multi-model ML and ENSO scenario simulation to estimate state-wise Agricultural GSVA.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170657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84EF035-5315-4EC1-A4D3-6F31EEF8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9914" y="1217981"/>
            <a:ext cx="230429" cy="3925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B0A300A-45C2-40EA-9AD6-7C388057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262"/>
            <a:ext cx="2104949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>
            <a:solidFill>
              <a:srgbClr val="FF00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BC714B3-4C85-4550-9E3A-D0A40F35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49" y="4836262"/>
            <a:ext cx="6806794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b4a4978c94f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332281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320C4F-9066-4D1C-BCF9-3A125886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836262"/>
            <a:ext cx="146304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29/9/2026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D886DA9-6B3B-4644-A7FE-F616A6F9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36262"/>
            <a:ext cx="41148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0B4B970-8CB0-4DB4-8B38-518A64E8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1872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3. Objectives</a:t>
            </a:r>
            <a:endParaRPr sz="24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7E43BA1-BB4A-46C4-A08D-F8F21DC0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7360"/>
            <a:ext cx="822960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6F5075C-46AD-4B35-A329-A25732E5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64792"/>
            <a:ext cx="78638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BFD0F2"/>
                </a:solidFill>
                <a:latin typeface="Times New Roman"/>
                <a:ea typeface="Times New Roman"/>
                <a:cs typeface="Times New Roman"/>
              </a:rPr>
              <a:t>PRIMARY OBJECTIVE</a:t>
            </a:r>
            <a:endParaRPr sz="90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Build an AI system that estimates and simulates the impact of El Niño on the Agricultural GDP of Indian states.</a:t>
            </a:r>
            <a:endParaRPr sz="9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3E7912D-9EAB-4A21-BF69-79374F21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9464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A2BF078-8567-4E33-96AC-E7073838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946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 sz="11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D229CE7-6094-47CC-BF95-0B45784A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42032"/>
            <a:ext cx="7680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Collect NOAA ONI, ERA5 rainfall and temperature, and RBI/MoSPI Agricultural GSVA for 10 states (2009–2023).</a:t>
            </a:r>
            <a:endParaRPr sz="12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CB015758-8A1E-4D6E-BDF3-712A81B3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992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4B53F41-C470-4648-B5AB-2C7A29AD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99232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 sz="11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22566F2-EDCB-43DE-BB4D-3A5B94BD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971800"/>
            <a:ext cx="7680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Clean and merge into a balanced panel; engineer anomaly and lagged-ENSO features.</a:t>
            </a:r>
            <a:endParaRPr sz="12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2712D62-B062-4834-B518-7B442575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FDB0DF2-3805-4480-A3DA-20270126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sz="11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C0DD302-3F08-455E-90FA-0EBF31B1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401568"/>
            <a:ext cx="7680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Benchmark five models (OLS, Random Forest, Gradient Boosting, XGBoost, Extra Trees) on a chronological split.</a:t>
            </a:r>
            <a:endParaRPr sz="12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7D4A846-4485-48F1-963E-9E016747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5876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AD5A496-884C-4BD6-9783-D233A24C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5876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  <a:endParaRPr sz="11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2E65F65-E4E2-4A34-8952-372FB125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31336"/>
            <a:ext cx="7680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Simulate El Niño scenarios, from Normal to Strong El Niño and La Niña, for state-wise GSVA.</a:t>
            </a:r>
            <a:endParaRPr sz="12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DF879EE-6F9F-4820-85EE-203754B3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88536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FA37C20-5B01-4B53-970B-0BE0516C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8853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  <a:endParaRPr sz="11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4C81287-E29F-4E79-8061-34E34CF6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61104"/>
            <a:ext cx="7680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Deliver a web platform with dashboard, scenario lab, grounded AI search and data exports.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2802854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5EF8972-E1DE-46F0-A4FD-B7453C0E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9914" y="1217981"/>
            <a:ext cx="230429" cy="3925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7DBE04B-E2FA-422B-A6CC-AEA925BD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262"/>
            <a:ext cx="2104949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>
            <a:solidFill>
              <a:srgbClr val="FF00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79559EF-587A-48A2-8BCC-3254B726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49" y="4836262"/>
            <a:ext cx="6806794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b5221042444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332281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C929771-BFF3-474B-BF39-7C87FA46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836262"/>
            <a:ext cx="146304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29/9/2026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FEC02E4-7FBA-4A3D-812E-46D2D8FF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36262"/>
            <a:ext cx="41148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9F096FB-A406-4ADC-9592-B553BD80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1872"/>
            <a:ext cx="4114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4. Data &amp; Features</a:t>
            </a:r>
            <a:endParaRPr sz="24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30DBD6A-A28D-469C-9D87-32415A0B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1261872"/>
            <a:ext cx="4480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10 states  |  2009–2023  |  150 panel observations</a:t>
            </a:r>
            <a:endParaRPr sz="1200"/>
          </a:p>
        </p:txBody>
      </p:sp>
      <p:graphicFrame>
        <p:nvGraphicFramePr>
          <p:cNvPr id="34" name="Table 0"/>
          <p:cNvGraphicFramePr/>
          <p:nvPr/>
        </p:nvGraphicFramePr>
        <p:xfrm>
          <a:off xmlns:a="http://schemas.openxmlformats.org/drawingml/2006/main" x="457200" y="1737360"/>
          <a:ext xmlns:a="http://schemas.openxmlformats.org/drawingml/2006/main" cx="68580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1600200"/>
                <a:gridCol w="3657600"/>
                <a:gridCol w="1143000"/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Dimension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Source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Measurement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Coverage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Oceanic Niño Index (ONI)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NOAA CPC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3-month running mean SST anomaly, Niño 3.4 (°C)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Monthly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Monsoon precipitation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Open-Meteo ERA5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Total annual and monsoon rainfall (mm)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Daily, aggregated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2-metre temperature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Open-Meteo ERA5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daily air temperature (°C)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Daily, aggregated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Agricultural GSVA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RBI Handbook / MoSPI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Agriculture &amp; allied GSVA, constant 2011-12 prices (₹ Cr)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Annual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2DC183C2-9428-4861-8B15-956F5110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0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Engineered panel features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1DF9A6C8-885C-46BB-A15E-17EA2990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7328"/>
            <a:ext cx="265176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700">
            <a:solidFill>
              <a:srgbClr val="F1F3F8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3E393898-A7F2-48A8-B7BF-58A63A0C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13048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Rainfall anomaly</a:t>
            </a:r>
            <a:endParaRPr sz="115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10A78461-A375-4375-B800-CAFFEECB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041648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R(i,t) − mean R(i)</a:t>
            </a:r>
            <a:endParaRPr sz="13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C50EB569-AE67-465C-B999-6DACD2D2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15968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Deviation from the state's 15-year mean.</a:t>
            </a:r>
            <a:endParaRPr sz="10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2128D46B-9618-466D-A38D-F8C43682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767328"/>
            <a:ext cx="265176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700">
            <a:solidFill>
              <a:srgbClr val="F1F3F8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C443741-47C1-4885-B9DD-212AFEA0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813048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Temperature anomaly</a:t>
            </a:r>
            <a:endParaRPr sz="115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D6A03260-9A40-4870-8212-EFEE9D97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041648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T(i,t) − mean T(i)</a:t>
            </a:r>
            <a:endParaRPr sz="13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9A2B9B86-F3FA-4DC2-8CBA-4AFCFC4E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315968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Thermal stress index for each state-year.</a:t>
            </a:r>
            <a:endParaRPr sz="10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1EE69940-6D4A-418F-B28B-0479F5ED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767328"/>
            <a:ext cx="2651760" cy="9144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700">
            <a:solidFill>
              <a:srgbClr val="F1F3F8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34E7F85A-7C1B-4EE2-BFAF-055316FF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13048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Lagged ENSO effect</a:t>
            </a:r>
            <a:endParaRPr sz="115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1A12474-DD88-4F4E-AE22-21B36C0C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41648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ONI(t−1)</a:t>
            </a:r>
            <a:endParaRPr sz="13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ACDBF06C-569D-4438-88D7-A093AD28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15968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Captures delayed kharif-to-rabi impact.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850769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0693DEC-2595-4CB0-A6A3-3EA9792D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9914" y="1217981"/>
            <a:ext cx="230429" cy="3925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C6A94CC-432C-4B05-BC9D-C9E246D7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262"/>
            <a:ext cx="2104949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>
            <a:solidFill>
              <a:srgbClr val="FF00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68DE885-F277-41B4-AC3D-957D8879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49" y="4836262"/>
            <a:ext cx="6806794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c7b54855448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332281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7E720A8-2F86-49C1-885D-B37BD537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836262"/>
            <a:ext cx="146304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29/9/2026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509AAB5-99FB-45AD-A56D-4ACF5BD6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36262"/>
            <a:ext cx="41148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7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A080742-D13C-4D75-923E-6DE043B7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1872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5. Implementation</a:t>
            </a:r>
            <a:endParaRPr sz="24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C037C04-A465-4C31-8280-6BF71C27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1640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Reproducible pipeline (scripts/)</a:t>
            </a:r>
            <a:endParaRPr sz="13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3719CD6-4067-44CA-9272-5EA904F9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1680"/>
            <a:ext cx="123444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6348450-9782-4EA7-852B-A6C977FF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1680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Download Data</a:t>
            </a:r>
            <a:endParaRPr sz="11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F75976B-3442-46DF-AE19-C66944B0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15184"/>
            <a:ext cx="1325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download_data.py</a:t>
            </a:r>
            <a:endParaRPr sz="8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B36FD57-A02C-4A86-AE89-E96C1BBF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212848"/>
            <a:ext cx="128016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10D03C4-1536-4A07-A6F2-E84022D6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232" y="2011680"/>
            <a:ext cx="123444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2D1D51F-0D79-4D5E-82D2-166959CE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232" y="2011680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Preprocess</a:t>
            </a:r>
            <a:endParaRPr sz="11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BD88515-5648-4A79-8C7A-555CCD9B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2615184"/>
            <a:ext cx="1325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preprocess_data.py</a:t>
            </a:r>
            <a:endParaRPr sz="8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36619E2-C979-45CA-A88C-5F345340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212848"/>
            <a:ext cx="128016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3FD2B5DE-1138-403F-B97C-9CBF193D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264" y="2011680"/>
            <a:ext cx="123444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6E3CD4F-36F1-4AF0-A667-37DBBD2B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264" y="2011680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Train 5 Models</a:t>
            </a:r>
            <a:endParaRPr sz="11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5C2A7BA-15A4-40D6-B72A-38E09735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2615184"/>
            <a:ext cx="1325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train_models.py</a:t>
            </a:r>
            <a:endParaRPr sz="8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B84AA5-EE5A-4061-9717-8D561DC1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2212848"/>
            <a:ext cx="128016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8046F4A9-D50A-4768-9EA8-146EED4E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2011680"/>
            <a:ext cx="123444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77E2944-93AB-48F1-9FA5-AB842EDC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2011680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Evaluate</a:t>
            </a:r>
            <a:endParaRPr sz="11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A655D82-2F36-4696-A01B-4B4C534D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76" y="2615184"/>
            <a:ext cx="1325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evaluate_models.py</a:t>
            </a:r>
            <a:endParaRPr sz="8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8E221722-223C-4227-AE6E-AFF0F9B9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4" y="2212848"/>
            <a:ext cx="128016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5594B72-5F61-41E7-B3A3-1813E127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2011680"/>
            <a:ext cx="123444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6B8FD965-9DF9-4236-B555-09B48DC0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2011680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Predict</a:t>
            </a:r>
            <a:endParaRPr sz="11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A5CE68AA-5DEC-4822-8DF9-3CA704FB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615184"/>
            <a:ext cx="1325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run_prediction.py</a:t>
            </a:r>
            <a:endParaRPr sz="8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7F4CEA9-DA7E-4772-8B9F-CC7BDD06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6" y="2212848"/>
            <a:ext cx="128016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E8707E0E-D37E-4F24-8531-D6957ACC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011680"/>
            <a:ext cx="123444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853EE6A2-F1FD-43F3-85F1-6D41D111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011680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System Test</a:t>
            </a:r>
            <a:endParaRPr sz="11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752C087-61C1-4675-A3DF-E8A1812A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615184"/>
            <a:ext cx="1325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test_system.py</a:t>
            </a:r>
            <a:endParaRPr sz="8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DCA9B9B-641D-408D-8E7E-DFA5F4D6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Tools &amp; Technologies</a:t>
            </a:r>
            <a:endParaRPr sz="13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4608FEB-9B04-4B6B-BA63-F4E9F34D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7560"/>
            <a:ext cx="4023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Language: Python 3.11+</a:t>
            </a:r>
            <a:endParaRPr sz="1200"/>
          </a:p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Data &amp; ML: Pandas, NumPy, scikit-learn, XGBoost</a:t>
            </a:r>
            <a:endParaRPr sz="1200"/>
          </a:p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Backend: FastAPI, Pydantic v2</a:t>
            </a:r>
            <a:endParaRPr sz="1200"/>
          </a:p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Model artifacts: joblib (versioned)</a:t>
            </a:r>
            <a:endParaRPr sz="12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4495FE4D-3395-47ED-9D3A-E478FFD4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337560"/>
            <a:ext cx="4023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Frontend: Next.js 14 (App Router), React, Recharts</a:t>
            </a:r>
            <a:endParaRPr sz="1200"/>
          </a:p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Storage: SQLite (local) or Firebase Firestore + Storage</a:t>
            </a:r>
            <a:endParaRPr sz="1200"/>
          </a:p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Hosting: Vercel</a:t>
            </a:r>
            <a:endParaRPr sz="1200"/>
          </a:p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Tools: VS Code, Git / GitHub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974410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B0E42EC-ADBD-4140-A6A7-7922C2C7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9914" y="1217981"/>
            <a:ext cx="230429" cy="3925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9EE447A-16E1-48A1-AE9D-927A40CB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262"/>
            <a:ext cx="2104949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>
            <a:solidFill>
              <a:srgbClr val="FF00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B51C4C8-135B-454C-B93B-7CE8EBE3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49" y="4836262"/>
            <a:ext cx="6806794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pic>
        <p:nvPicPr>
          <p:cNvPr id="4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c6e142da941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332281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693B43C-7699-4F15-A777-41CC298A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836262"/>
            <a:ext cx="146304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29/9/2026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85C4523-0899-4CC1-A139-98332BCC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36262"/>
            <a:ext cx="41148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8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2DD5CE2-90F5-489E-AE6F-FC47C27B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1872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6. System Architecture</a:t>
            </a:r>
            <a:endParaRPr sz="24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FBD472E-1B5B-4A78-B972-ABC59D15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9072"/>
            <a:ext cx="8229600" cy="896112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700">
            <a:solidFill>
              <a:srgbClr val="F1F3F8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8134D78-D1D8-41A3-B567-7058CEE8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64792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Presentation layer: Next.js 14 App Router (React)</a:t>
            </a:r>
            <a:endParaRPr sz="12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C93CC88-BC3A-40CB-BA2F-AE0DE957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48840"/>
            <a:ext cx="1225296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CBE54D7-5248-414C-BB78-D0A7CB0D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48840"/>
            <a:ext cx="12252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Dashboard</a:t>
            </a:r>
            <a:endParaRPr sz="10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882212A-9B4F-40E3-91B2-7899B65A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096" y="2148840"/>
            <a:ext cx="1225296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3B089D-D4B2-4CFD-9B7C-CA5E4C12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096" y="2148840"/>
            <a:ext cx="12252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Scenario Lab</a:t>
            </a:r>
            <a:endParaRPr sz="1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F5B3A52-46C8-4DCC-B462-C57B9AE0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2148840"/>
            <a:ext cx="1225296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5E2CB86-6093-4BEF-B771-3A740682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2148840"/>
            <a:ext cx="12252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Model Benchmark</a:t>
            </a:r>
            <a:endParaRPr sz="10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D5F3CF8-FBEF-4FD8-9082-9179FE4C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148840"/>
            <a:ext cx="1225296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45E1661-E67D-4DD6-8022-76206BC9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148840"/>
            <a:ext cx="12252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AI Search</a:t>
            </a:r>
            <a:endParaRPr sz="10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58CB96AB-9921-425C-8024-5953C439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2148840"/>
            <a:ext cx="1225296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9E6DDD9-5751-44A4-96DA-4FE6D8FE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2148840"/>
            <a:ext cx="12252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State Profiles</a:t>
            </a:r>
            <a:endParaRPr sz="10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EAE62687-D332-4B87-8B2D-F71E7C44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148840"/>
            <a:ext cx="1225296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890A944-7797-46EA-A052-66BA0634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148840"/>
            <a:ext cx="12252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Data &amp; Export</a:t>
            </a:r>
            <a:endParaRPr sz="10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671720F-561B-4877-8609-68AA5B45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651760"/>
            <a:ext cx="182880" cy="201168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E6FE7A3D-104E-4FB1-A3B2-FDA182B8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651760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JSON REST API</a:t>
            </a:r>
            <a:endParaRPr sz="9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BF6EEAF0-2D40-4638-B372-6800F12A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9504"/>
            <a:ext cx="8229600" cy="896112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700">
            <a:solidFill>
              <a:srgbClr val="F1F3F8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3478D57-C296-4C52-A68E-F59A043C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35224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Application layer: FastAPI Python backend</a:t>
            </a:r>
            <a:endParaRPr sz="125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A4730F6-D7E5-4059-B96E-A39B38C8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19272"/>
            <a:ext cx="1901952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677C07E-90BE-417C-AC3F-42E5CCF6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19272"/>
            <a:ext cx="190195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Model training &amp; evaluation</a:t>
            </a:r>
            <a:endParaRPr sz="10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142A535D-5DB3-40E0-9C62-5B4012A9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752" y="3319272"/>
            <a:ext cx="1901952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7F6CE8AF-8599-4ABA-9BD4-DAFA9AB5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752" y="3319272"/>
            <a:ext cx="190195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Scenario simulation engine</a:t>
            </a:r>
            <a:endParaRPr sz="100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031083B-3BEB-42E8-BDFD-348E176A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3319272"/>
            <a:ext cx="1901952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4C34FA40-EAF3-4DC5-94DE-4E29DFDD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3319272"/>
            <a:ext cx="190195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Grounded search service</a:t>
            </a:r>
            <a:endParaRPr sz="1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68A2D56D-A752-4FB7-BF11-BF4336A2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319272"/>
            <a:ext cx="1901952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3864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54CD7AC-EE5B-49C8-A960-0CD69561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319272"/>
            <a:ext cx="190195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CSV / JSON exporters</a:t>
            </a:r>
            <a:endParaRPr sz="100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5FA15629-F725-4282-ACBA-1DB771FF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822192"/>
            <a:ext cx="182880" cy="18288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4B9B11D3-39DE-46E5-8812-93C3C24D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41648"/>
            <a:ext cx="384048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AE4DDDF8-FB1F-4B68-8E24-B337EA48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41648"/>
            <a:ext cx="38404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SQLite (local)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Zero-config storage for local runs</a:t>
            </a:r>
            <a:endParaRPr sz="12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8304CC-831C-4717-85D6-D78A4E94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041648"/>
            <a:ext cx="548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OR</a:t>
            </a:r>
            <a:endParaRPr sz="120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CA6E64E4-BEC6-441C-8277-F2847945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41648"/>
            <a:ext cx="384048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45247222-4FD0-40BE-86B7-DFDC43A3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41648"/>
            <a:ext cx="38404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Firebase Firestore + Storage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Cloud storage, active when keys are provided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4246796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9C1ABAA-D722-488B-8968-B5CC9405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9914" y="1217981"/>
            <a:ext cx="230429" cy="3925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DED378E-5FDB-463D-B9C6-F0C74727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262"/>
            <a:ext cx="2104949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>
            <a:solidFill>
              <a:srgbClr val="FF00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A35BBDD-CF8F-42C9-9EDA-4509F47D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49" y="4836262"/>
            <a:ext cx="6806794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1da76be4641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332281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F7A43A3-8845-4152-BC6A-061E1B92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836262"/>
            <a:ext cx="146304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29/9/2026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2902538-4C83-493D-9B82-6CBBAACE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36262"/>
            <a:ext cx="41148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9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B8BF204-5DC3-4412-9498-F24ABA63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1872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7. Modelling &amp; Validation</a:t>
            </a:r>
            <a:endParaRPr sz="2400"/>
          </a:p>
        </p:txBody>
      </p:sp>
      <p:graphicFrame>
        <p:nvGraphicFramePr>
          <p:cNvPr id="25" name="Table 0"/>
          <p:cNvGraphicFramePr/>
          <p:nvPr/>
        </p:nvGraphicFramePr>
        <p:xfrm>
          <a:off xmlns:a="http://schemas.openxmlformats.org/drawingml/2006/main" x="457200" y="1719072"/>
          <a:ext xmlns:a="http://schemas.openxmlformats.org/drawingml/2006/main" cx="68580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03120"/>
                <a:gridCol w="2103120"/>
                <a:gridCol w="4023360"/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Category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Role in the benchmark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Linear Regression (OLS)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Econometric baseline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Tests linear climate elasticity; benchmark for non-linear gains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Random Forest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Bagging ensemble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Reduces variance; captures non-linear interactions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Gradient Boosting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Sequential boosting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Fits residual errors step by step across anomaly thresholds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XGBoost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Regularised boosting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L1/L2 regularisation with second-order gradients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Extra Trees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Extremely randomised trees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Random split points; robust to collinear climate features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6652E39F-9D95-42BE-9928-A303444E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9312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Chronological out-of-sample validation</a:t>
            </a:r>
            <a:endParaRPr sz="130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263B6A2E-1D95-40B3-8F61-6FC05415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1920"/>
            <a:ext cx="60350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DB23DC61-7180-4595-B7FD-66C2667D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1920"/>
            <a:ext cx="6035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Train: 2009–2019 (11 years)</a:t>
            </a:r>
            <a:endParaRPr sz="1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A9215BA5-01B7-430A-8D8A-F7DECA8B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31920"/>
            <a:ext cx="21945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3C2D214-D2DE-4AD6-A98A-A8AE738C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31920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Test: 2020–2023 (4 years)</a:t>
            </a:r>
            <a:endParaRPr sz="12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435F06B-E0D7-4947-A910-E1641BD1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70832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Random K-fold is avoided because it leaks future shocks into past predictions. The best model has the lowest RMSE and MAE on the held-out years.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5154620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B8AB131-3801-4EB4-9ED6-394257F4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9914" y="1217981"/>
            <a:ext cx="230429" cy="3925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E02DD23-1F39-42BC-8C6D-F9E1DC31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262"/>
            <a:ext cx="2104949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>
            <a:solidFill>
              <a:srgbClr val="FF00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8AC2636-B20C-4DDF-A8BC-6CC748F8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49" y="4836262"/>
            <a:ext cx="6806794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6d60c472546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332281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240248D-6B6A-4C55-A209-65EECA05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836262"/>
            <a:ext cx="146304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29/9/2026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0E6FF3-EB1C-4541-8C02-6C91FC2D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36262"/>
            <a:ext cx="41148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10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E40C17D-0A17-479D-A6DC-17DA7DB6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1872"/>
            <a:ext cx="53035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8. Results: Model Evaluation</a:t>
            </a:r>
            <a:endParaRPr sz="24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7F7082E-747E-4EE8-9040-EC01382B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261872"/>
            <a:ext cx="29260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Held-out test set, 2020–2023</a:t>
            </a:r>
            <a:endParaRPr sz="1200"/>
          </a:p>
        </p:txBody>
      </p:sp>
      <p:graphicFrame>
        <p:nvGraphicFramePr>
          <p:cNvPr id="30" name="Table 0"/>
          <p:cNvGraphicFramePr/>
          <p:nvPr/>
        </p:nvGraphicFramePr>
        <p:xfrm>
          <a:off xmlns:a="http://schemas.openxmlformats.org/drawingml/2006/main" x="457200" y="1737360"/>
          <a:ext xmlns:a="http://schemas.openxmlformats.org/drawingml/2006/main" cx="68580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77440"/>
                <a:gridCol w="1051560"/>
                <a:gridCol w="1143000"/>
                <a:gridCol w="1005840"/>
                <a:gridCol w="914400"/>
                <a:gridCol w="1737360"/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MAE (₹ Cr)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RMSE (₹ Cr)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R²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MAPE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Selected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Linear Regression (OLS)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15.16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17.49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0.4058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14.0%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Baseline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Random Forest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13.37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17.62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0.3969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12.6%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Non-linear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Gradient Boosting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13.74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18.33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0.3468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13.1%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Sequential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XGBoost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14.02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19.03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0.2965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12.9%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Regularised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Extra Trees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12.19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15.68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0.5224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11.2%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performer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73152" marR="73152" marT="27432" marB="27432" anchor="ctr">
                    <a:lnL w="6350" cmpd="sng">
                      <a:solidFill>
                        <a:srgbClr val="BFC5D2"/>
                      </a:solidFill>
                      <a:prstDash val="solid"/>
                    </a:lnL>
                    <a:lnR w="6350" cmpd="sng">
                      <a:solidFill>
                        <a:srgbClr val="BFC5D2"/>
                      </a:solidFill>
                      <a:prstDash val="solid"/>
                    </a:lnR>
                    <a:lnT w="6350" cmpd="sng">
                      <a:solidFill>
                        <a:srgbClr val="BFC5D2"/>
                      </a:solidFill>
                      <a:prstDash val="solid"/>
                    </a:lnT>
                    <a:lnB w="6350" cmpd="sng">
                      <a:solidFill>
                        <a:srgbClr val="BFC5D2"/>
                      </a:solidFill>
                      <a:prstDash val="solid"/>
                    </a:lnB>
                    <a:solidFill>
                      <a:srgbClr val="FBE9E9"/>
                    </a:solidFill>
                  </a:tcPr>
                </a:tc>
              </a:tr>
            </a:tbl>
          </a:graphicData>
        </a:graphic>
      </p:graphicFrame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068B678A-C50C-4805-AFCD-5B23F944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2651760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700">
            <a:solidFill>
              <a:srgbClr val="F1F3F8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345E6B0-F4FC-496B-BAA9-3AF75276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15.68</a:t>
            </a:r>
            <a:endParaRPr sz="32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BE26D3DD-521A-4C4E-BA19-AB8417AA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15968"/>
            <a:ext cx="2423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₹ Cr RMSE, lowest of five models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E61BF147-4E79-481F-BAEC-2E2233FC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749040"/>
            <a:ext cx="2651760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700">
            <a:solidFill>
              <a:srgbClr val="F1F3F8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EE03D9B-59FE-4BDE-8177-6F03D9B3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776472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0.5224</a:t>
            </a:r>
            <a:endParaRPr sz="32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14314DB-EE9C-4253-96D3-4FA593F6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315968"/>
            <a:ext cx="2423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R² on unseen years, highest</a:t>
            </a:r>
            <a:endParaRPr sz="105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3718B2F7-5A82-4D91-9572-575C2B90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749040"/>
            <a:ext cx="2651760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700">
            <a:solidFill>
              <a:srgbClr val="F1F3F8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0B1A740-AF98-4FC8-9FB1-54DDE091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76472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11.2%</a:t>
            </a:r>
            <a:endParaRPr sz="32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1EBD199F-F5AF-4E5F-8860-3EF46591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15968"/>
            <a:ext cx="2423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MAPE, lowest of five models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9622284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3C678C-21C3-4F35-841D-F7B70314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9914" y="1217981"/>
            <a:ext cx="230429" cy="3925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1E5181-2643-43CC-B97E-4C3FB7C9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262"/>
            <a:ext cx="2104949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>
            <a:solidFill>
              <a:srgbClr val="FF00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776BBCC-2754-4BB7-A63E-8946F306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49" y="4836262"/>
            <a:ext cx="6806794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3a942afd14e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332281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1DA12B1-873B-4321-9429-39FFA2C6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836262"/>
            <a:ext cx="146304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29/9/2026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D8BA6BB-9119-4437-B7C8-886E8BB4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36262"/>
            <a:ext cx="41148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11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400935F-500F-45DA-AD08-CBACCC96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1872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8. Results: Key Findings</a:t>
            </a:r>
            <a:endParaRPr sz="2400"/>
          </a:p>
        </p:txBody>
      </p:sp>
      <p:graphicFrame>
        <p:nvGraphicFramePr>
          <p:cNvPr id="21" name="Chart 0"/>
          <p:cNvGraphicFramePr/>
          <p:nvPr/>
        </p:nvGraphicFramePr>
        <p:xfrm>
          <a:off xmlns:a="http://schemas.openxmlformats.org/drawingml/2006/main" x="365760" y="1691640"/>
          <a:ext xmlns:a="http://schemas.openxmlformats.org/drawingml/2006/main" cx="5029200" cy="30632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76ac23ed4247cf"/>
          </a:graphicData>
        </a:graphic>
      </p:graphicFrame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3818AC73-AE87-4D40-B9A9-CDD3E5DA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719072"/>
            <a:ext cx="3108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Key findings</a:t>
            </a:r>
            <a:endParaRPr sz="14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50573D8F-6B64-4CFF-8BB6-997D585F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057400"/>
            <a:ext cx="3108960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Extra Trees leads on every metric: RMSE 15.68 ₹ Cr, R² 0.52.</a:t>
            </a:r>
            <a:endParaRPr sz="1050"/>
          </a:p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The OLS baseline is second-best (R² 0.41), suggesting much of the climate effect is near-linear.</a:t>
            </a:r>
            <a:endParaRPr sz="1050"/>
          </a:p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Boosted models trail on this small panel of 150 observations.</a:t>
            </a:r>
            <a:endParaRPr sz="1050"/>
          </a:p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R² of about 0.52 means roughly half the variance is explained, so outputs are estimates, not forecasts.</a:t>
            </a:r>
            <a:endParaRPr sz="1050"/>
          </a:p>
          <a:p xmlns:a="http://schemas.openxmlformats.org/drawingml/2006/main">
            <a:pPr marL="177800" indent="-177800">
              <a:spcAft>
                <a:spcPts val="500"/>
              </a:spcAft>
              <a:buSzPct val="100000"/>
              <a:buChar char="•"/>
            </a:pPr>
            <a:r>
              <a:rPr sz="10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Random split points likely help with collinear rainfall and temperature anomalies.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8266989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F23FB2C-1D8A-4BD8-B3A8-3AA5CB1A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9914" y="1217981"/>
            <a:ext cx="230429" cy="3925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FD3E1E8-7E13-45D1-AAAA-FBBBDA38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262"/>
            <a:ext cx="2104949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>
            <a:solidFill>
              <a:srgbClr val="FF00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7B5AC2E-BE23-4893-AA0E-75F707DE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49" y="4836262"/>
            <a:ext cx="6806794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50ce29dec45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332281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B7F2DF3-1E37-4743-B789-4DC48D92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836262"/>
            <a:ext cx="146304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29/9/2026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1AD258D-EFFE-4B7F-9970-AC375653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36262"/>
            <a:ext cx="41148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12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AE4D024-63F2-418E-8013-972C1B24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1872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9. Platform Features</a:t>
            </a:r>
            <a:endParaRPr sz="24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C1696AB1-238E-4E52-9C4D-174B3505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7360"/>
            <a:ext cx="4023360" cy="1389888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700">
            <a:solidFill>
              <a:srgbClr val="F1F3F8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A6BEAC7-E10E-45A4-9F2B-4B6704AC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0195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pic>
        <p:nvPicPr>
          <p:cNvPr id="4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9ae66a0554c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664" y="2020824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93D12B7-C933-42F7-B1CF-A36EF66C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92024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El Niño Scenario Lab</a:t>
            </a:r>
            <a:endParaRPr sz="14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60D22CE4-5CA2-4FB1-8A5B-6F4C998A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267712"/>
            <a:ext cx="3108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Five presets (Normal, Weak, Moderate, Strong El Niño, La Niña) with live sliders and ensemble averaging.</a:t>
            </a:r>
            <a:endParaRPr sz="11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429DD237-C353-4624-86EF-8C040705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737360"/>
            <a:ext cx="4023360" cy="1389888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700">
            <a:solidFill>
              <a:srgbClr val="F1F3F8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CBA77FEE-E4D5-4FB3-92D9-753D226C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90195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pic>
        <p:nvPicPr>
          <p:cNvPr id="4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40ac7fa084c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46904" y="2020824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F32241DF-0951-4177-8CD4-C25F5DE7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92024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Grounded AI Search</a:t>
            </a:r>
            <a:endParaRPr sz="14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736AC7CC-5F9A-40E0-8D9A-29442F2A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267712"/>
            <a:ext cx="3108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Classifies questions as Factual, Historical, Prediction, Scenario or Mixed, and answers with exact metrics and citations (NOAA, IMD, RBI, MoSPI).</a:t>
            </a:r>
            <a:endParaRPr sz="115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397E79AB-C17C-486A-ADE8-A068B7B6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3552"/>
            <a:ext cx="4023360" cy="1389888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700">
            <a:solidFill>
              <a:srgbClr val="F1F3F8"/>
            </a:solidFill>
            <a:prstDash val="solid"/>
          </a:ln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B2D5660B-3280-419B-B505-872624DB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43814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18251579d42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664" y="3557016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B3CE17D8-14DF-48E9-9542-4FED5AD5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456432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State Deep-Dive Profiles</a:t>
            </a:r>
            <a:endParaRPr sz="14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4D71C8F7-E4D2-4AB9-A613-0BC7F297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03904"/>
            <a:ext cx="3108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Per-state climate–economy trajectories, vulnerability indices and historical drought correlations.</a:t>
            </a:r>
            <a:endParaRPr sz="115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D9806238-94AE-4076-9B13-7D21336B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273552"/>
            <a:ext cx="4023360" cy="1389888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700">
            <a:solidFill>
              <a:srgbClr val="F1F3F8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0C8F8584-5586-430E-8EBA-CB4D4398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343814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pic>
        <p:nvPicPr>
          <p:cNvPr id="5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68b9d246a44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46904" y="3557016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26F18741-C95D-46B8-9284-E10761FB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456432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Data &amp; Metric Exports</a:t>
            </a:r>
            <a:endParaRPr sz="140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1B6A6168-FE0A-4D8B-8D7D-67F8DAFD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803904"/>
            <a:ext cx="3108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One-click CSV and JSON downloads of the cleaned panel and the model benchmark results.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9230815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A66F23A-2C39-41DA-85F1-084ED25D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9914" y="1217981"/>
            <a:ext cx="230429" cy="3925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1F02B81-6AF0-4243-AC54-4BB8921F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262"/>
            <a:ext cx="2104949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>
            <a:solidFill>
              <a:srgbClr val="FF00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4BBAE53-D67E-400C-9A2C-76A52055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49" y="4836262"/>
            <a:ext cx="6806794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593e773ee46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332281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453D8BD-5D4E-4629-87D7-3136F3A9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836262"/>
            <a:ext cx="146304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29/9/2026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A87E1C2-C4BE-429C-85EC-36F5ACF5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36262"/>
            <a:ext cx="41148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13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FE73D52-38C0-4FC2-A313-BB8939B9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1872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10. Applications</a:t>
            </a:r>
            <a:endParaRPr sz="24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CBD1AC56-925B-4C89-8995-82153328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7452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CC28CB7-4288-4291-A041-82F3D98C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55648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Policy planning: </a:t>
            </a: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Early warning for food inflation and drought relief.</a:t>
            </a:r>
            <a:endParaRPr sz="12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0199400-3F7D-44CC-A11D-3B00DDF2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82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3EE13DC-8F5C-408E-A3F0-02E14E57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49424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Subsidy &amp; irrigation: </a:t>
            </a: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Identify states needing support before the impact peaks.</a:t>
            </a:r>
            <a:endParaRPr sz="12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3B78B46-EB15-4EFF-B987-10DE7301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62072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8F7CBEF-1A47-4CE5-B59E-C96E96DC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43200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Food reserves: </a:t>
            </a: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Plan procurement and storage ahead of a weak monsoon.</a:t>
            </a:r>
            <a:endParaRPr sz="12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2176CB4-905B-48CC-90FC-77C50957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5848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85670F3-26C4-4962-B53F-0034AACA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36976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Farmer support: </a:t>
            </a: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Target assistance to the most affected regions.</a:t>
            </a:r>
            <a:endParaRPr sz="12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AF5CB5F-A9E4-4428-8ADE-AD3A6C76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962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F7E02C5-D380-4809-A8DB-0D4EDA8D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30752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What-if analysis: </a:t>
            </a: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Test monsoon-deficit scenarios before the sowing season.</a:t>
            </a:r>
            <a:endParaRPr sz="12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9EEB20F-95AC-4FDD-BE19-C343B74C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4B36913-C079-4A68-9172-DE504444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24528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Economic research: </a:t>
            </a: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Study how climate indicators shape agricultural output.</a:t>
            </a:r>
            <a:endParaRPr sz="12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E6806EBB-F834-4D1D-8DC6-1BBEDA4D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55648"/>
            <a:ext cx="2834640" cy="2926080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F7508D8-EA07-476B-9533-6628CC4D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7452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Boundary of use</a:t>
            </a:r>
            <a:endParaRPr sz="15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C2E16CF-9AC3-4F19-9CD4-4A65F3C3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286000"/>
            <a:ext cx="24688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The platform gives analytical estimates and simulation scenarios to support decisions.</a:t>
            </a:r>
            <a:endParaRPr sz="115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7DDE97D-2C7C-464F-AC88-B5435941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91840"/>
            <a:ext cx="246888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It is not an official government forecast, and it does not claim El Niño is the sole cause of a change in Agricultural GSVA.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8694541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8F39AB-9993-4A16-94A6-3BA4A129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9914" y="1217981"/>
            <a:ext cx="230429" cy="3925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CEB3BC8-5C55-499A-A7B9-3E9272F6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262"/>
            <a:ext cx="2104949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>
            <a:solidFill>
              <a:srgbClr val="FF00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2413195-F05B-4076-83C3-4607F7B7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49" y="4836262"/>
            <a:ext cx="6806794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77bdd2aca47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332281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99B862C-FD8E-476F-899A-CAD8837E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836262"/>
            <a:ext cx="146304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29/9/2026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EE6E714-1DC7-4EC6-9CA3-5799FB0B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36262"/>
            <a:ext cx="41148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14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50DDA66-1E39-4B13-8929-051B9493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1872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11. Future Scope</a:t>
            </a:r>
            <a:endParaRPr sz="24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981F56E-AE6E-4EAA-8377-B56D5B1A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7360"/>
            <a:ext cx="2651760" cy="1371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700">
            <a:solidFill>
              <a:srgbClr val="F1F3F8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3A45780-E0A3-44B6-8EC3-43AB0243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28800"/>
            <a:ext cx="731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01</a:t>
            </a:r>
            <a:endParaRPr sz="2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AE157D5-30E5-44C3-8539-955A1E7B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212848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More climate variables</a:t>
            </a:r>
            <a:endParaRPr sz="13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9AC3A7-D1F2-426C-A333-1CBA3058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51460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Add soil moisture, humidity and reservoir levels.</a:t>
            </a:r>
            <a:endParaRPr sz="10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BDFBF22-0F73-4F08-84EF-8D084FF7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737360"/>
            <a:ext cx="2651760" cy="1371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700">
            <a:solidFill>
              <a:srgbClr val="F1F3F8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E0D8ECB-81BA-46E4-91F3-CC4651C0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828800"/>
            <a:ext cx="731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02</a:t>
            </a:r>
            <a:endParaRPr sz="22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C688BEF-B64D-4EB9-967E-56E98130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212848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All states and UTs</a:t>
            </a:r>
            <a:endParaRPr sz="13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A80BE41-15A1-4ECA-842C-5F13CCEF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51460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Extend the panel from 10 states to the whole country.</a:t>
            </a:r>
            <a:endParaRPr sz="10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9417279B-BB47-4CEF-87AB-7332AF8C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737360"/>
            <a:ext cx="2651760" cy="1371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700">
            <a:solidFill>
              <a:srgbClr val="F1F3F8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57011BB-85B5-4AB8-8AFD-291E0278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28800"/>
            <a:ext cx="731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03</a:t>
            </a:r>
            <a:endParaRPr sz="2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635E159-9623-4876-9BDD-16FB24D3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12848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Crop-level models</a:t>
            </a:r>
            <a:endParaRPr sz="13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772B3006-B29C-4E95-A7CC-7C9DB078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Predict wheat, cotton, sugarcane and soybean instead of aggregate GSVA.</a:t>
            </a:r>
            <a:endParaRPr sz="10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156CC010-E276-43DF-AE5C-53BF8244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6120"/>
            <a:ext cx="2651760" cy="1371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700">
            <a:solidFill>
              <a:srgbClr val="F1F3F8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37F6096-A462-4361-95B8-E3F48E62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37560"/>
            <a:ext cx="731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04</a:t>
            </a:r>
            <a:endParaRPr sz="22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9FAE0221-A236-4B81-BAC3-0530997B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21608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District-level output</a:t>
            </a:r>
            <a:endParaRPr sz="13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8C8633F-9E33-4AB6-B437-A6C24F91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02336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Move from state-level to district-level predictions.</a:t>
            </a:r>
            <a:endParaRPr sz="105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643F6F2A-C521-4B89-B27C-9E6A205C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246120"/>
            <a:ext cx="2651760" cy="1371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700">
            <a:solidFill>
              <a:srgbClr val="F1F3F8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938D6AAA-BB7A-47DA-B599-35F0AA70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337560"/>
            <a:ext cx="731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05</a:t>
            </a:r>
            <a:endParaRPr sz="22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2FC72CD-F46C-4E63-906D-AC6C429E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721608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Deep learning &amp; tuning</a:t>
            </a:r>
            <a:endParaRPr sz="13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8C52FE0F-13F8-492A-BD61-33B6138E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02336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Try LSTM and hyperparameter search to improve on R² 0.52.</a:t>
            </a:r>
            <a:endParaRPr sz="10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2BE64D32-BE69-4880-A05C-09FC2A7F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46120"/>
            <a:ext cx="2651760" cy="1371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700">
            <a:solidFill>
              <a:srgbClr val="F1F3F8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5833066E-1A64-42EF-BA82-4C341111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37560"/>
            <a:ext cx="731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06</a:t>
            </a:r>
            <a:endParaRPr sz="22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5610BA71-7D44-4E6A-8E1A-0C78BB54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21608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Live data feeds</a:t>
            </a:r>
            <a:endParaRPr sz="13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A4FA2401-02F7-4DCD-98C3-2147DA77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2336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Refresh ONI and ERA5 data automatically and retrain on a schedule.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2533854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A6273DE-BFA5-4D28-BD51-6301A1E6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9914" y="1217981"/>
            <a:ext cx="230429" cy="3925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46CD0C0-3B53-4342-BF6B-20BE371E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262"/>
            <a:ext cx="2104949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>
            <a:solidFill>
              <a:srgbClr val="FF00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6CC24E0-F43C-42F0-854C-4D02AD33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49" y="4836262"/>
            <a:ext cx="6806794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3598c49c644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332281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708ED82-2FC7-4545-975A-EB75098A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836262"/>
            <a:ext cx="146304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29/9/2026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1224199-592D-4A6D-8CEB-E7E07BA1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36262"/>
            <a:ext cx="41148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15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34F869D-B1F6-4BF9-B591-CFF9E59B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1872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12. Conclusion</a:t>
            </a:r>
            <a:endParaRPr sz="24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1E704A-B2EE-4218-81F3-E36B96FB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3080"/>
            <a:ext cx="502920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900"/>
              </a:spcAft>
              <a:buSzPct val="100000"/>
              <a:buChar char="•"/>
            </a:pPr>
            <a:r>
              <a:rPr sz="14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Built an end-to-end system: data ingestion, panel preparation, five ML models, scenario simulation and a web platform.</a:t>
            </a:r>
            <a:endParaRPr sz="1400"/>
          </a:p>
          <a:p xmlns:a="http://schemas.openxmlformats.org/drawingml/2006/main">
            <a:pPr marL="177800" indent="-177800">
              <a:spcAft>
                <a:spcPts val="900"/>
              </a:spcAft>
              <a:buSzPct val="100000"/>
              <a:buChar char="•"/>
            </a:pPr>
            <a:r>
              <a:rPr sz="14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Benchmarked models on a strict chronological split (train 2009–2019, test 2020–2023) to avoid temporal leakage.</a:t>
            </a:r>
            <a:endParaRPr sz="1400"/>
          </a:p>
          <a:p xmlns:a="http://schemas.openxmlformats.org/drawingml/2006/main">
            <a:pPr marL="177800" indent="-177800">
              <a:spcAft>
                <a:spcPts val="900"/>
              </a:spcAft>
              <a:buSzPct val="100000"/>
              <a:buChar char="•"/>
            </a:pPr>
            <a:r>
              <a:rPr sz="14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Extra Trees performed best: RMSE 15.68 ₹ Cr, MAE 12.19 ₹ Cr, R² 0.5224 on unseen years.</a:t>
            </a:r>
            <a:endParaRPr sz="1400"/>
          </a:p>
          <a:p xmlns:a="http://schemas.openxmlformats.org/drawingml/2006/main">
            <a:pPr marL="177800" indent="-177800">
              <a:spcAft>
                <a:spcPts val="900"/>
              </a:spcAft>
              <a:buSzPct val="100000"/>
              <a:buChar char="•"/>
            </a:pPr>
            <a:r>
              <a:rPr sz="14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The Scenario Lab turns model output into what-if estimates that support proactive agricultural policy.</a:t>
            </a:r>
            <a:endParaRPr sz="14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800E153-F191-479C-B1E4-0068D88D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755648"/>
            <a:ext cx="2926080" cy="2926080"/>
          </a:xfrm>
          <a:prstGeom xmlns:a="http://schemas.openxmlformats.org/drawingml/2006/main" prst="roundRect">
            <a:avLst>
              <a:gd name="adj" fmla="val 1875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 w="12700">
            <a:solidFill>
              <a:srgbClr val="1F3864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83BE6FA-73E6-4286-9CFA-ECA30D27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874520"/>
            <a:ext cx="2651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 models  |  10 states  |  15 years</a:t>
            </a:r>
            <a:endParaRPr sz="1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107DDE9-A7EB-4001-8DAC-1F9A592C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23160"/>
            <a:ext cx="2560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BFD0F2"/>
                </a:solidFill>
                <a:latin typeface="Times New Roman"/>
                <a:ea typeface="Times New Roman"/>
                <a:cs typeface="Times New Roman"/>
              </a:rPr>
              <a:t>LIVE DEMO</a:t>
            </a:r>
            <a:endParaRPr sz="9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8C94CE8-475B-46C3-9893-F85EA710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24328"/>
            <a:ext cx="2606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6c78e366f9494d54"/>
              </a:rPr>
              <a:t>pblminiprojecttyaids.vercel.app</a:t>
            </a:r>
            <a:endParaRPr sz="11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200C0D3-3A78-4047-A327-3F077B98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91840"/>
            <a:ext cx="2560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BFD0F2"/>
                </a:solidFill>
                <a:latin typeface="Times New Roman"/>
                <a:ea typeface="Times New Roman"/>
                <a:cs typeface="Times New Roman"/>
              </a:rPr>
              <a:t>SOURCE CODE</a:t>
            </a:r>
            <a:endParaRPr sz="9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209AB95-0BC3-4CF3-AB99-0CE4FBE7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93008"/>
            <a:ext cx="2606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d2b0bee40cc544c0"/>
              </a:rPr>
              <a:t>github.com/hardiksedani/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 u="sng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edcc012ffa9b4637"/>
              </a:rPr>
              <a:t>pbl_mini_project_ty_aids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260245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A670667-9D79-4A41-816A-1EC9430A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9914" y="1217981"/>
            <a:ext cx="230429" cy="3925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85E020F-92DF-4869-997B-90933FC7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262"/>
            <a:ext cx="2104949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12700">
            <a:solidFill>
              <a:srgbClr val="FF00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009CB98-5903-46F9-B98F-F9E73B31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49" y="4836262"/>
            <a:ext cx="6806794" cy="30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C00000"/>
            </a:solidFill>
            <a:prstDash val="solid"/>
          </a:ln>
        </p:spPr>
      </p:sp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369493d5b43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332281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A42A626-5CE1-4BEA-A781-937610FD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836262"/>
            <a:ext cx="146304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29/9/2026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40885BB-6AC1-4FF3-8F42-FA6823B3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36262"/>
            <a:ext cx="411480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16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813A7CB-171E-4F52-9332-C21A25C0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1872"/>
            <a:ext cx="8229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13. References</a:t>
            </a:r>
            <a:endParaRPr sz="24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DFEC6-9CEF-41B2-87D5-2FAA4DED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7360"/>
            <a:ext cx="822960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[1] Open-Meteo, "Historical Weather API (ERA5 Reanalysis)." [Online]. Available: https://open-meteo.com/</a:t>
            </a:r>
            <a:endParaRPr sz="105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[2] NOAA Climate Prediction Center, "Oceanic Niño Index (ONI) Historical Data." [Online]. Available: https://origin.cpc.ncep.noaa.gov/products/analysis_monitoring/ensostuff/ONI_v5.php. [Accessed: Aug. 6, 2026].</a:t>
            </a:r>
            <a:endParaRPr sz="105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[3] Ministry of Statistics and Programme Implementation (MoSPI), "State-wise Agricultural GDP Data." [Online]. Available: https://mospi.gov.in/. [Accessed: Aug. 6, 2026].</a:t>
            </a:r>
            <a:endParaRPr sz="105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[4] Reserve Bank of India (RBI), "Handbook of Statistics on Indian States." [Online]. Available: https://www.rbi.org.in/. [Accessed: Aug. 6, 2026].</a:t>
            </a:r>
            <a:endParaRPr sz="105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[5] India Meteorological Department (IMD), "Rainfall and Temperature Data." [Online]. Available: https://mausam.imd.gov.in/. [Accessed: Aug. 6, 2026].</a:t>
            </a:r>
            <a:endParaRPr sz="105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[6] P. Mahesh and R. Soundrapandiyan, "Yield Prediction for Crops by Gradient-Based Algorithms," PLOS ONE, vol. 19, no. 8, p. e0291928, Aug. 2024.</a:t>
            </a:r>
            <a:endParaRPr sz="105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[7] U. V. Nikhil, A. M. Pandiyan, S. P. Raja, and Z. Stamenkovic, "Machine Learning-Based Crop Yield Prediction in South India: Performance Analysis of Various Models," Computers, vol. 13, no. 6, p. 137, May 2024.</a:t>
            </a:r>
            <a:endParaRPr sz="105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05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[8] Y. Li, H. Zeng, M. Zhang, B. Wu, and X. Qin, "Global De-Trending Significantly Improves the Accuracy of XGBoost-Based County-Level Maize and Soybean Yield Prediction in the Midwestern United States," GIScience &amp; Remote Sensing, vol. 61, no. 1, p. 2349341, 2024.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3233494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2026-09-29T09:03:12.5400000Z</dcterms:created>
  <dcterms:modified xsi:type="dcterms:W3CDTF">2026-09-29T09:03:12.5400000Z</dcterms:modified>
</coreProperties>
</file>