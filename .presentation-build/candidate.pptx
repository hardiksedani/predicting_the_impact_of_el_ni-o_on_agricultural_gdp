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harts/chart1.xml" ContentType="application/vnd.openxmlformats-officedocument.drawingml.chart+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12121"/>
                </a:solidFill>
                <a:latin typeface="Times New Roman"/>
              </a:defRPr>
            </a:pPr>
            <a:r>
              <a:rPr sz="1200" b="0" i="0" u="none" strike="noStrike">
                <a:solidFill>
                  <a:srgbClr val="212121"/>
                </a:solidFill>
                <a:latin typeface="Times New Roman"/>
              </a:rPr>
              <a:t>Out-of-sample error, 2020–2023 (sample units)</a:t>
            </a:r>
          </a:p>
        </c:rich>
      </c:tx>
      <c:layout/>
      <c:overlay val="0"/>
    </c:title>
    <c:autoTitleDeleted val="0"/>
    <c:plotArea>
      <c:layout/>
      <c:barChart>
        <c:barDir val="col"/>
        <c:grouping val="clustered"/>
        <c:varyColors val="0"/>
        <c:ser>
          <c:idx val="0"/>
          <c:order val="0"/>
          <c:tx>
            <c:strRef>
              <c:f>Sheet1!$B$1</c:f>
              <c:strCache>
                <c:ptCount val="1"/>
                <c:pt idx="0">
                  <c:v>MAE (units)</c:v>
                </c:pt>
              </c:strCache>
            </c:strRef>
          </c:tx>
          <c:spPr>
            <a:solidFill>
              <a:srgbClr val="1F3864"/>
            </a:solidFill>
            <a:effectLst/>
          </c:spPr>
          <c:invertIfNegative val="0"/>
          <c:dLbls>
            <c:numFmt formatCode="0.0" sourceLinked="0"/>
            <c:txPr>
              <a:bodyPr/>
              <a:lstStyle/>
              <a:p>
                <a:pPr>
                  <a:defRPr b="0" i="0" strike="noStrike" sz="800" u="none">
                    <a:solidFill>
                      <a:srgbClr val="212121"/>
                    </a:solidFill>
                    <a:latin typeface="Times New Roman"/>
                  </a:defRPr>
                </a:pPr>
              </a:p>
            </c:txPr>
            <c:showLegendKey val="0"/>
            <c:showVal val="1"/>
            <c:showCatName val="0"/>
            <c:showSerName val="0"/>
            <c:showPercent val="0"/>
            <c:showBubbleSize val="0"/>
            <c:showLeaderLines val="0"/>
          </c:dLbls>
          <c:cat>
            <c:multiLvlStrRef>
              <c:f>Sheet1!$A$2:$A$6</c:f>
              <c:multiLvlStrCache>
                <c:ptCount val="5"/>
                <c:lvl>
                  <c:pt idx="0">
                    <c:v>OLS</c:v>
                  </c:pt>
                  <c:pt idx="1">
                    <c:v>Random Forest</c:v>
                  </c:pt>
                  <c:pt idx="2">
                    <c:v>Grad. Boosting</c:v>
                  </c:pt>
                  <c:pt idx="3">
                    <c:v>XGBoost</c:v>
                  </c:pt>
                  <c:pt idx="4">
                    <c:v>Extra Trees</c:v>
                  </c:pt>
                </c:lvl>
              </c:multiLvlStrCache>
            </c:multiLvlStrRef>
          </c:cat>
          <c:val>
            <c:numRef>
              <c:f>Sheet1!$B$2:$B$6</c:f>
              <c:numCache>
                <c:formatCode>General</c:formatCode>
                <c:ptCount val="5"/>
                <c:pt idx="0">
                  <c:v>15.16</c:v>
                </c:pt>
                <c:pt idx="1">
                  <c:v>13.37</c:v>
                </c:pt>
                <c:pt idx="2">
                  <c:v>13.74</c:v>
                </c:pt>
                <c:pt idx="3">
                  <c:v>14.00</c:v>
                </c:pt>
                <c:pt idx="4">
                  <c:v>12.19</c:v>
                </c:pt>
              </c:numCache>
            </c:numRef>
          </c:val>
        </c:ser>
        <c:ser>
          <c:idx val="1"/>
          <c:order val="1"/>
          <c:tx>
            <c:strRef>
              <c:f>Sheet1!$C$1</c:f>
              <c:strCache>
                <c:ptCount val="1"/>
                <c:pt idx="0">
                  <c:v>RMSE (units)</c:v>
                </c:pt>
              </c:strCache>
            </c:strRef>
          </c:tx>
          <c:spPr>
            <a:solidFill>
              <a:srgbClr val="C00000"/>
            </a:solidFill>
            <a:effectLst/>
          </c:spPr>
          <c:invertIfNegative val="0"/>
          <c:dLbls>
            <c:numFmt formatCode="0.0" sourceLinked="0"/>
            <c:txPr>
              <a:bodyPr/>
              <a:lstStyle/>
              <a:p>
                <a:pPr>
                  <a:defRPr b="0" i="0" strike="noStrike" sz="800" u="none">
                    <a:solidFill>
                      <a:srgbClr val="212121"/>
                    </a:solidFill>
                    <a:latin typeface="Times New Roman"/>
                  </a:defRPr>
                </a:pPr>
              </a:p>
            </c:txPr>
            <c:showLegendKey val="0"/>
            <c:showVal val="1"/>
            <c:showCatName val="0"/>
            <c:showSerName val="0"/>
            <c:showPercent val="0"/>
            <c:showBubbleSize val="0"/>
            <c:showLeaderLines val="0"/>
          </c:dLbls>
          <c:cat>
            <c:multiLvlStrRef>
              <c:f>Sheet1!$A$2:$A$6</c:f>
              <c:multiLvlStrCache>
                <c:ptCount val="5"/>
                <c:lvl>
                  <c:pt idx="0">
                    <c:v>OLS</c:v>
                  </c:pt>
                  <c:pt idx="1">
                    <c:v>Random Forest</c:v>
                  </c:pt>
                  <c:pt idx="2">
                    <c:v>Grad. Boosting</c:v>
                  </c:pt>
                  <c:pt idx="3">
                    <c:v>XGBoost</c:v>
                  </c:pt>
                  <c:pt idx="4">
                    <c:v>Extra Trees</c:v>
                  </c:pt>
                </c:lvl>
              </c:multiLvlStrCache>
            </c:multiLvlStrRef>
          </c:cat>
          <c:val>
            <c:numRef>
              <c:f>Sheet1!$C$2:$C$6</c:f>
              <c:numCache>
                <c:formatCode>General</c:formatCode>
                <c:ptCount val="5"/>
                <c:pt idx="0">
                  <c:v>17.49</c:v>
                </c:pt>
                <c:pt idx="1">
                  <c:v>17.62</c:v>
                </c:pt>
                <c:pt idx="2">
                  <c:v>18.33</c:v>
                </c:pt>
                <c:pt idx="3">
                  <c:v>19.09</c:v>
                </c:pt>
                <c:pt idx="4">
                  <c:v>15.68</c:v>
                </c:pt>
              </c:numCache>
            </c:numRef>
          </c:val>
        </c:ser>
        <c:dLbls>
          <c:numFmt formatCode="0.0" sourceLinked="0"/>
          <c:txPr>
            <a:bodyPr/>
            <a:lstStyle/>
            <a:p>
              <a:pPr>
                <a:defRPr b="0" i="0" strike="noStrike" sz="800" u="none">
                  <a:solidFill>
                    <a:srgbClr val="212121"/>
                  </a:solidFill>
                  <a:latin typeface="Times New Roman"/>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12121"/>
                </a:solidFill>
                <a:latin typeface="Times New Roman"/>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3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5555"/>
                </a:solidFill>
                <a:latin typeface="Times New Roman"/>
              </a:defRPr>
            </a:pPr>
            <a:endParaRPr lang="en-US"/>
          </a:p>
        </c:txPr>
        <c:crossAx val="2094734554"/>
        <c:crosses val="autoZero"/>
        <c:crossBetween val="between"/>
      </c:valAx>
      <c:spPr>
        <a:noFill/>
        <a:ln>
          <a:noFill/>
        </a:ln>
        <a:effectLst/>
      </c:spPr>
    </c:plotArea>
    <c:legend>
      <c:legendPos val="b"/>
      <c:overlay val="0"/>
      <c:txPr>
        <a:bodyPr/>
        <a:lstStyle/>
        <a:p>
          <a:pPr>
            <a:defRPr sz="1000">
              <a:latin typeface="Times New Roman"/>
              <a:cs typeface="Times New Roman"/>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guide. This is a local web prototype that compares climate-based predictions for a bundled agricultural GDP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a bundled agricultural GDP sample. We have not verified its official source or units, so do not call these values official GSVA or rupee crore.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panel contains Andhra Pradesh, Bihar, Gujarat, Karnataka, Kerala, Madhya Pradesh, Maharashtra, Punjab, Rajasthan and Tamil Nadu, with 15 years per state. Anomaly and lag columns exist in preprocessing but are not model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uses a dual storage adapter (db_storage.py): SQLite works out of the box; Firestore is used automatically when credentials are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chronological split keeps later years out of training. We selected the winning model on the same test period used to report its score. A stronger study should use a separate validation period and untouched final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Trees has the lowest MAE, RMSE and MAPE and highest R² among the five models on 2020–2023 rows. MAE and RMSE are in unverified sample units, not confirmed rupee crore.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frontend and backend locally before the presentation. The Vercel address currently returns 404. Show the Scenario Lab as a what-if demo, not a causal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localhost:3000" TargetMode="External"/><Relationship Id="rId3" Type="http://schemas.openxmlformats.org/officeDocument/2006/relationships/hyperlink" Target="https://github.com/hardiksedani/pbl_mini_project_ty_aids" TargetMode="External"/><Relationship Id="rId4" Type="http://schemas.openxmlformats.org/officeDocument/2006/relationships/hyperlink" Target="https://github.com/hardiksedani/pbl_mini_project_ty_aids" TargetMode="External"/><Relationship Id="rId1"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1</a:t>
            </a:r>
            <a:endParaRPr lang="en-US" sz="1000" dirty="0"/>
          </a:p>
        </p:txBody>
      </p:sp>
      <p:sp>
        <p:nvSpPr>
          <p:cNvPr id="8" name="Text 5"/>
          <p:cNvSpPr txBox="1"/>
          <p:nvPr/>
        </p:nvSpPr>
        <p:spPr>
          <a:xfrm>
            <a:off x="457200" y="1417320"/>
            <a:ext cx="8229600" cy="274320"/>
          </a:xfrm>
          <a:prstGeom prst="rect">
            <a:avLst/>
          </a:prstGeom>
          <a:noFill/>
          <a:ln/>
        </p:spPr>
        <p:txBody>
          <a:bodyPr wrap="square" lIns="0" tIns="0" rIns="0" bIns="0" rtlCol="0" anchor="t"/>
          <a:lstStyle/>
          <a:p>
            <a:pPr algn="ctr" indent="0" marL="0">
              <a:buNone/>
            </a:pPr>
            <a:r>
              <a:rPr lang="en-US" sz="1400" b="1" dirty="0">
                <a:solidFill>
                  <a:srgbClr val="1F3864"/>
                </a:solidFill>
                <a:latin typeface="Times New Roman" pitchFamily="34" charset="0"/>
                <a:ea typeface="Times New Roman" pitchFamily="34" charset="-122"/>
                <a:cs typeface="Times New Roman" pitchFamily="34" charset="-120"/>
              </a:rPr>
              <a:t>T.Y. Mini Project Presentation</a:t>
            </a:r>
            <a:endParaRPr lang="en-US" sz="1400" dirty="0"/>
          </a:p>
        </p:txBody>
      </p:sp>
      <p:sp>
        <p:nvSpPr>
          <p:cNvPr id="9" name="Text 6"/>
          <p:cNvSpPr txBox="1"/>
          <p:nvPr/>
        </p:nvSpPr>
        <p:spPr>
          <a:xfrm>
            <a:off x="822960" y="1719072"/>
            <a:ext cx="7498080" cy="685800"/>
          </a:xfrm>
          <a:prstGeom prst="rect">
            <a:avLst/>
          </a:prstGeom>
          <a:noFill/>
          <a:ln/>
        </p:spPr>
        <p:txBody>
          <a:bodyPr wrap="square" lIns="0" tIns="0" rIns="0" bIns="0" rtlCol="0" anchor="ctr"/>
          <a:lstStyle/>
          <a:p>
            <a:pPr algn="ctr" indent="0" marL="0">
              <a:buNone/>
            </a:pPr>
            <a:r>
              <a:rPr lang="en-US" sz="2000" b="1" dirty="0">
                <a:solidFill>
                  <a:srgbClr val="C00000"/>
                </a:solidFill>
                <a:latin typeface="Times New Roman" pitchFamily="34" charset="0"/>
                <a:ea typeface="Times New Roman" pitchFamily="34" charset="-122"/>
                <a:cs typeface="Times New Roman" pitchFamily="34" charset="-120"/>
              </a:rPr>
              <a:t>Agricultural GDP Prediction Using Climate and El Niño Data</a:t>
            </a:r>
            <a:endParaRPr lang="en-US" sz="2000" dirty="0"/>
          </a:p>
        </p:txBody>
      </p:sp>
      <p:sp>
        <p:nvSpPr>
          <p:cNvPr id="10" name="Text 7"/>
          <p:cNvSpPr txBox="1"/>
          <p:nvPr/>
        </p:nvSpPr>
        <p:spPr>
          <a:xfrm>
            <a:off x="457200" y="2606040"/>
            <a:ext cx="8229600" cy="640080"/>
          </a:xfrm>
          <a:prstGeom prst="rect">
            <a:avLst/>
          </a:prstGeom>
          <a:noFill/>
          <a:ln/>
        </p:spPr>
        <p:txBody>
          <a:bodyPr wrap="square" lIns="0" tIns="0" rIns="0" bIns="0" rtlCol="0" anchor="t"/>
          <a:lstStyle/>
          <a:p>
            <a:pPr algn="ctr" indent="0" marL="0">
              <a:buNone/>
            </a:pPr>
            <a:r>
              <a:rPr lang="en-US" sz="1500" b="1" dirty="0">
                <a:solidFill>
                  <a:srgbClr val="212121"/>
                </a:solidFill>
                <a:latin typeface="Times New Roman" pitchFamily="34" charset="0"/>
                <a:ea typeface="Times New Roman" pitchFamily="34" charset="-122"/>
                <a:cs typeface="Times New Roman" pitchFamily="34" charset="-120"/>
              </a:rPr>
              <a:t>Guide: Prof. Prashant Bhandare</a:t>
            </a:r>
            <a:endParaRPr lang="en-US" sz="1500" dirty="0"/>
          </a:p>
          <a:p>
            <a:pPr algn="ctr" indent="0" marL="0">
              <a:buNone/>
            </a:pPr>
            <a:r>
              <a:rPr lang="en-US" sz="1500" b="1" dirty="0">
                <a:solidFill>
                  <a:srgbClr val="212121"/>
                </a:solidFill>
                <a:latin typeface="Times New Roman" pitchFamily="34" charset="0"/>
                <a:ea typeface="Times New Roman" pitchFamily="34" charset="-122"/>
                <a:cs typeface="Times New Roman" pitchFamily="34" charset="-120"/>
              </a:rPr>
              <a:t>Group No: 25</a:t>
            </a:r>
            <a:endParaRPr lang="en-US" sz="1500" dirty="0"/>
          </a:p>
        </p:txBody>
      </p:sp>
      <p:sp>
        <p:nvSpPr>
          <p:cNvPr id="11" name="Text 8"/>
          <p:cNvSpPr txBox="1"/>
          <p:nvPr/>
        </p:nvSpPr>
        <p:spPr>
          <a:xfrm>
            <a:off x="457200" y="3337560"/>
            <a:ext cx="8229600" cy="868680"/>
          </a:xfrm>
          <a:prstGeom prst="rect">
            <a:avLst/>
          </a:prstGeom>
          <a:noFill/>
          <a:ln/>
        </p:spPr>
        <p:txBody>
          <a:bodyPr wrap="square" lIns="0" tIns="0" rIns="0" bIns="0" rtlCol="0" anchor="t"/>
          <a:lstStyle/>
          <a:p>
            <a:pPr algn="ctr" indent="0" marL="0">
              <a:buNone/>
            </a:pPr>
            <a:r>
              <a:rPr lang="en-US" sz="1500" dirty="0">
                <a:solidFill>
                  <a:srgbClr val="212121"/>
                </a:solidFill>
                <a:latin typeface="Times New Roman" pitchFamily="34" charset="0"/>
                <a:ea typeface="Times New Roman" pitchFamily="34" charset="-122"/>
                <a:cs typeface="Times New Roman" pitchFamily="34" charset="-120"/>
              </a:rPr>
              <a:t>Hardik Sedani - 70</a:t>
            </a:r>
            <a:endParaRPr lang="en-US" sz="1500" dirty="0"/>
          </a:p>
          <a:p>
            <a:pPr algn="ctr" indent="0" marL="0">
              <a:buNone/>
            </a:pPr>
            <a:r>
              <a:rPr lang="en-US" sz="1500" dirty="0">
                <a:solidFill>
                  <a:srgbClr val="212121"/>
                </a:solidFill>
                <a:latin typeface="Times New Roman" pitchFamily="34" charset="0"/>
                <a:ea typeface="Times New Roman" pitchFamily="34" charset="-122"/>
                <a:cs typeface="Times New Roman" pitchFamily="34" charset="-120"/>
              </a:rPr>
              <a:t>Altair Patel - 68</a:t>
            </a:r>
            <a:endParaRPr lang="en-US" sz="1500" dirty="0"/>
          </a:p>
          <a:p>
            <a:pPr algn="ctr" indent="0" marL="0">
              <a:buNone/>
            </a:pPr>
            <a:r>
              <a:rPr lang="en-US" sz="1500" dirty="0">
                <a:solidFill>
                  <a:srgbClr val="212121"/>
                </a:solidFill>
                <a:latin typeface="Times New Roman" pitchFamily="34" charset="0"/>
                <a:ea typeface="Times New Roman" pitchFamily="34" charset="-122"/>
                <a:cs typeface="Times New Roman" pitchFamily="34" charset="-120"/>
              </a:rPr>
              <a:t>Nikhil More - 66</a:t>
            </a:r>
            <a:endParaRPr lang="en-US" sz="1500" dirty="0"/>
          </a:p>
        </p:txBody>
      </p:sp>
      <p:sp>
        <p:nvSpPr>
          <p:cNvPr id="12" name="Text 9"/>
          <p:cNvSpPr txBox="1"/>
          <p:nvPr/>
        </p:nvSpPr>
        <p:spPr>
          <a:xfrm>
            <a:off x="182880" y="4526280"/>
            <a:ext cx="7772400" cy="274320"/>
          </a:xfrm>
          <a:prstGeom prst="rect">
            <a:avLst/>
          </a:prstGeom>
          <a:noFill/>
          <a:ln/>
        </p:spPr>
        <p:txBody>
          <a:bodyPr wrap="square" lIns="0" tIns="0" rIns="0" bIns="0" rtlCol="0" anchor="ctr"/>
          <a:lstStyle/>
          <a:p>
            <a:pPr indent="0" marL="0">
              <a:buNone/>
            </a:pPr>
            <a:r>
              <a:rPr lang="en-US" sz="1200" dirty="0">
                <a:solidFill>
                  <a:srgbClr val="212121"/>
                </a:solidFill>
                <a:latin typeface="Times New Roman" pitchFamily="34" charset="0"/>
                <a:ea typeface="Times New Roman" pitchFamily="34" charset="-122"/>
                <a:cs typeface="Times New Roman" pitchFamily="34" charset="-120"/>
              </a:rPr>
              <a:t>Department of AI&amp;DS, K.J. Somaiya Institute of Technology, Sion, Mumbai 400022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2</a:t>
            </a:r>
            <a:endParaRPr lang="en-US" sz="1000" dirty="0"/>
          </a:p>
        </p:txBody>
      </p:sp>
      <p:graphicFrame>
        <p:nvGraphicFramePr>
          <p:cNvPr id="8" name="Contents Table"/>
          <p:cNvGraphicFramePr>
            <a:graphicFrameLocks noGrp="1"/>
          </p:cNvGraphicFramePr>
          <p:nvPr/>
        </p:nvGraphicFramePr>
        <p:xfrm>
          <a:off x="1311000" y="1400000"/>
          <a:ext cx="4340000" cy="3290000"/>
        </p:xfrm>
        <a:graphic>
          <a:graphicData uri="http://schemas.openxmlformats.org/drawingml/2006/table">
            <a:tbl>
              <a:tblPr firstRow="1"/>
              <a:tblGrid>
                <a:gridCol w="830000"/>
                <a:gridCol w="3510000"/>
              </a:tblGrid>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Sr.No.</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Content</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1.</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Introduction</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2.</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Literature Survey</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3.</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Objectives</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4.</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Data &amp; Features</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5.</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Implementation</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6.</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System Architecture</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7.</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Modelling &amp; Validation</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8.</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Results</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9.</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Platform Features</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10.</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Applications</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11.</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Future Scope</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12.</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Conclusion</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r h="235000">
                <a:tc>
                  <a:txBody>
                    <a:bodyPr/>
                    <a:lstStyle/>
                    <a:p>
                      <a:pPr algn="ctr"/>
                      <a:r>
                        <a:rPr lang="en-US" sz="1200" b="0" dirty="0">
                          <a:solidFill>
                            <a:srgbClr val="000000"/>
                          </a:solidFill>
                          <a:latin typeface="Times New Roman" pitchFamily="34" charset="0"/>
                          <a:ea typeface="Times New Roman" pitchFamily="34" charset="-122"/>
                          <a:cs typeface="Times New Roman" pitchFamily="34" charset="-120"/>
                        </a:rPr>
                        <a:t>13.</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c>
                  <a:txBody>
                    <a:bodyPr/>
                    <a:lstStyle/>
                    <a:p>
                      <a:pPr algn="l"/>
                      <a:r>
                        <a:rPr lang="en-US" sz="1200" b="0" dirty="0">
                          <a:solidFill>
                            <a:srgbClr val="000000"/>
                          </a:solidFill>
                          <a:latin typeface="Times New Roman" pitchFamily="34" charset="0"/>
                          <a:ea typeface="Times New Roman" pitchFamily="34" charset="-122"/>
                          <a:cs typeface="Times New Roman" pitchFamily="34" charset="-120"/>
                        </a:rPr>
                        <a:t>References</a:t>
                      </a:r>
                    </a:p>
                  </a:txBody>
                  <a:tcPr marL="91440" marR="91440" marT="18000" marB="18000" anchor="ctr">
                    <a:lnL w="9525">
                      <a:solidFill>
                        <a:srgbClr val="A6A6A6"/>
                      </a:solidFill>
                    </a:lnL>
                    <a:lnR w="9525">
                      <a:solidFill>
                        <a:srgbClr val="A6A6A6"/>
                      </a:solidFill>
                    </a:lnR>
                    <a:lnT w="9525">
                      <a:solidFill>
                        <a:srgbClr val="A6A6A6"/>
                      </a:solidFill>
                    </a:lnT>
                    <a:lnB w="9525">
                      <a:solidFill>
                        <a:srgbClr val="A6A6A6"/>
                      </a:solidFill>
                    </a:lnB>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3</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1. Introduction</a:t>
            </a:r>
            <a:endParaRPr lang="en-US" sz="2400" dirty="0"/>
          </a:p>
        </p:txBody>
      </p:sp>
      <p:sp>
        <p:nvSpPr>
          <p:cNvPr id="9" name="Shape 6"/>
          <p:cNvSpPr/>
          <p:nvPr/>
        </p:nvSpPr>
        <p:spPr>
          <a:xfrm>
            <a:off x="457200" y="1737360"/>
            <a:ext cx="2651760" cy="2103120"/>
          </a:xfrm>
          <a:prstGeom prst="roundRect">
            <a:avLst>
              <a:gd name="adj" fmla="val 2609"/>
            </a:avLst>
          </a:prstGeom>
          <a:solidFill>
            <a:srgbClr val="F1F3F8"/>
          </a:solidFill>
          <a:ln w="12700">
            <a:solidFill>
              <a:srgbClr val="F1F3F8"/>
            </a:solidFill>
            <a:prstDash val="solid"/>
          </a:ln>
        </p:spPr>
      </p:sp>
      <p:sp>
        <p:nvSpPr>
          <p:cNvPr id="10" name="Text 7"/>
          <p:cNvSpPr txBox="1"/>
          <p:nvPr/>
        </p:nvSpPr>
        <p:spPr>
          <a:xfrm>
            <a:off x="594360" y="1828800"/>
            <a:ext cx="2377440" cy="274320"/>
          </a:xfrm>
          <a:prstGeom prst="rect">
            <a:avLst/>
          </a:prstGeom>
          <a:noFill/>
          <a:ln/>
        </p:spPr>
        <p:txBody>
          <a:bodyPr wrap="square" lIns="0" tIns="0" rIns="0" bIns="0" rtlCol="0" anchor="t"/>
          <a:lstStyle/>
          <a:p>
            <a:pPr indent="0" marL="0">
              <a:buNone/>
            </a:pPr>
            <a:r>
              <a:rPr lang="en-US" sz="1400" b="1" dirty="0">
                <a:solidFill>
                  <a:srgbClr val="C00000"/>
                </a:solidFill>
                <a:latin typeface="Times New Roman" pitchFamily="34" charset="0"/>
                <a:ea typeface="Times New Roman" pitchFamily="34" charset="-122"/>
                <a:cs typeface="Times New Roman" pitchFamily="34" charset="-120"/>
              </a:rPr>
              <a:t>Background</a:t>
            </a:r>
            <a:endParaRPr lang="en-US" sz="1400" dirty="0"/>
          </a:p>
        </p:txBody>
      </p:sp>
      <p:sp>
        <p:nvSpPr>
          <p:cNvPr id="11" name="Text 8"/>
          <p:cNvSpPr txBox="1"/>
          <p:nvPr/>
        </p:nvSpPr>
        <p:spPr>
          <a:xfrm>
            <a:off x="594360" y="2176272"/>
            <a:ext cx="2395728" cy="160020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212121"/>
                </a:solidFill>
                <a:latin typeface="Times New Roman" pitchFamily="34" charset="0"/>
                <a:ea typeface="Times New Roman" pitchFamily="34" charset="-122"/>
                <a:cs typeface="Times New Roman" pitchFamily="34" charset="-120"/>
              </a:rPr>
              <a:t>El Niño can affect the Indian monsoon, but its effects vary by place and year.</a:t>
            </a:r>
            <a:endParaRPr lang="en-US" sz="1100" dirty="0"/>
          </a:p>
          <a:p>
            <a:pPr marL="177800" indent="-177800">
              <a:spcAft>
                <a:spcPts val="400"/>
              </a:spcAft>
              <a:buSzPct val="100000"/>
              <a:buChar char="•"/>
            </a:pPr>
            <a:r>
              <a:rPr lang="en-US" sz="1100" dirty="0">
                <a:solidFill>
                  <a:srgbClr val="212121"/>
                </a:solidFill>
                <a:latin typeface="Times New Roman" pitchFamily="34" charset="0"/>
                <a:ea typeface="Times New Roman" pitchFamily="34" charset="-122"/>
                <a:cs typeface="Times New Roman" pitchFamily="34" charset="-120"/>
              </a:rPr>
              <a:t>Rainfall and temperature matter for farming, so we study them alongside an economic target.</a:t>
            </a:r>
            <a:endParaRPr lang="en-US" sz="1100" dirty="0"/>
          </a:p>
        </p:txBody>
      </p:sp>
      <p:sp>
        <p:nvSpPr>
          <p:cNvPr id="12" name="Shape 9"/>
          <p:cNvSpPr/>
          <p:nvPr/>
        </p:nvSpPr>
        <p:spPr>
          <a:xfrm>
            <a:off x="3246120" y="1737360"/>
            <a:ext cx="2651760" cy="2103120"/>
          </a:xfrm>
          <a:prstGeom prst="roundRect">
            <a:avLst>
              <a:gd name="adj" fmla="val 2609"/>
            </a:avLst>
          </a:prstGeom>
          <a:solidFill>
            <a:srgbClr val="F1F3F8"/>
          </a:solidFill>
          <a:ln w="12700">
            <a:solidFill>
              <a:srgbClr val="F1F3F8"/>
            </a:solidFill>
            <a:prstDash val="solid"/>
          </a:ln>
        </p:spPr>
      </p:sp>
      <p:sp>
        <p:nvSpPr>
          <p:cNvPr id="13" name="Text 10"/>
          <p:cNvSpPr txBox="1"/>
          <p:nvPr/>
        </p:nvSpPr>
        <p:spPr>
          <a:xfrm>
            <a:off x="3383280" y="1828800"/>
            <a:ext cx="2377440" cy="274320"/>
          </a:xfrm>
          <a:prstGeom prst="rect">
            <a:avLst/>
          </a:prstGeom>
          <a:noFill/>
          <a:ln/>
        </p:spPr>
        <p:txBody>
          <a:bodyPr wrap="square" lIns="0" tIns="0" rIns="0" bIns="0" rtlCol="0" anchor="t"/>
          <a:lstStyle/>
          <a:p>
            <a:pPr indent="0" marL="0">
              <a:buNone/>
            </a:pPr>
            <a:r>
              <a:rPr lang="en-US" sz="1400" b="1" dirty="0">
                <a:solidFill>
                  <a:srgbClr val="C00000"/>
                </a:solidFill>
                <a:latin typeface="Times New Roman" pitchFamily="34" charset="0"/>
                <a:ea typeface="Times New Roman" pitchFamily="34" charset="-122"/>
                <a:cs typeface="Times New Roman" pitchFamily="34" charset="-120"/>
              </a:rPr>
              <a:t>Problem Statement</a:t>
            </a:r>
            <a:endParaRPr lang="en-US" sz="1400" dirty="0"/>
          </a:p>
        </p:txBody>
      </p:sp>
      <p:sp>
        <p:nvSpPr>
          <p:cNvPr id="14" name="Text 11"/>
          <p:cNvSpPr txBox="1"/>
          <p:nvPr/>
        </p:nvSpPr>
        <p:spPr>
          <a:xfrm>
            <a:off x="3383280" y="2176272"/>
            <a:ext cx="2395728" cy="160020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212121"/>
                </a:solidFill>
                <a:latin typeface="Times New Roman" pitchFamily="34" charset="0"/>
                <a:ea typeface="Times New Roman" pitchFamily="34" charset="-122"/>
                <a:cs typeface="Times New Roman" pitchFamily="34" charset="-120"/>
              </a:rPr>
              <a:t>Can rainfall, temperature and ONI predict the project’s state-year agricultural GDP sample? What happens when we change these inputs?</a:t>
            </a:r>
            <a:endParaRPr lang="en-US" sz="1100" dirty="0"/>
          </a:p>
        </p:txBody>
      </p:sp>
      <p:sp>
        <p:nvSpPr>
          <p:cNvPr id="15" name="Shape 12"/>
          <p:cNvSpPr/>
          <p:nvPr/>
        </p:nvSpPr>
        <p:spPr>
          <a:xfrm>
            <a:off x="6035040" y="1737360"/>
            <a:ext cx="2651760" cy="2103120"/>
          </a:xfrm>
          <a:prstGeom prst="roundRect">
            <a:avLst>
              <a:gd name="adj" fmla="val 2609"/>
            </a:avLst>
          </a:prstGeom>
          <a:solidFill>
            <a:srgbClr val="F1F3F8"/>
          </a:solidFill>
          <a:ln w="12700">
            <a:solidFill>
              <a:srgbClr val="F1F3F8"/>
            </a:solidFill>
            <a:prstDash val="solid"/>
          </a:ln>
        </p:spPr>
      </p:sp>
      <p:sp>
        <p:nvSpPr>
          <p:cNvPr id="16" name="Text 13"/>
          <p:cNvSpPr txBox="1"/>
          <p:nvPr/>
        </p:nvSpPr>
        <p:spPr>
          <a:xfrm>
            <a:off x="6172200" y="1828800"/>
            <a:ext cx="2377440" cy="274320"/>
          </a:xfrm>
          <a:prstGeom prst="rect">
            <a:avLst/>
          </a:prstGeom>
          <a:noFill/>
          <a:ln/>
        </p:spPr>
        <p:txBody>
          <a:bodyPr wrap="square" lIns="0" tIns="0" rIns="0" bIns="0" rtlCol="0" anchor="t"/>
          <a:lstStyle/>
          <a:p>
            <a:pPr indent="0" marL="0">
              <a:buNone/>
            </a:pPr>
            <a:r>
              <a:rPr lang="en-US" sz="1400" b="1" dirty="0">
                <a:solidFill>
                  <a:srgbClr val="C00000"/>
                </a:solidFill>
                <a:latin typeface="Times New Roman" pitchFamily="34" charset="0"/>
                <a:ea typeface="Times New Roman" pitchFamily="34" charset="-122"/>
                <a:cs typeface="Times New Roman" pitchFamily="34" charset="-120"/>
              </a:rPr>
              <a:t>Motivation</a:t>
            </a:r>
            <a:endParaRPr lang="en-US" sz="1400" dirty="0"/>
          </a:p>
        </p:txBody>
      </p:sp>
      <p:sp>
        <p:nvSpPr>
          <p:cNvPr id="17" name="Text 14"/>
          <p:cNvSpPr txBox="1"/>
          <p:nvPr/>
        </p:nvSpPr>
        <p:spPr>
          <a:xfrm>
            <a:off x="6172200" y="2176272"/>
            <a:ext cx="2395728" cy="160020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212121"/>
                </a:solidFill>
                <a:latin typeface="Times New Roman" pitchFamily="34" charset="0"/>
                <a:ea typeface="Times New Roman" pitchFamily="34" charset="-122"/>
                <a:cs typeface="Times New Roman" pitchFamily="34" charset="-120"/>
              </a:rPr>
              <a:t>Explore the link between climate indicators and the economic sample.</a:t>
            </a:r>
            <a:endParaRPr lang="en-US" sz="1100" dirty="0"/>
          </a:p>
          <a:p>
            <a:pPr marL="177800" indent="-177800">
              <a:spcAft>
                <a:spcPts val="400"/>
              </a:spcAft>
              <a:buSzPct val="100000"/>
              <a:buChar char="•"/>
            </a:pPr>
            <a:r>
              <a:rPr lang="en-US" sz="1100" dirty="0">
                <a:solidFill>
                  <a:srgbClr val="212121"/>
                </a:solidFill>
                <a:latin typeface="Times New Roman" pitchFamily="34" charset="0"/>
                <a:ea typeface="Times New Roman" pitchFamily="34" charset="-122"/>
                <a:cs typeface="Times New Roman" pitchFamily="34" charset="-120"/>
              </a:rPr>
              <a:t>Compare a simple baseline with four tree-based ML models.</a:t>
            </a:r>
            <a:endParaRPr lang="en-US" sz="1100" dirty="0"/>
          </a:p>
          <a:p>
            <a:pPr marL="177800" indent="-177800">
              <a:spcAft>
                <a:spcPts val="400"/>
              </a:spcAft>
              <a:buSzPct val="100000"/>
              <a:buChar char="•"/>
            </a:pPr>
            <a:r>
              <a:rPr lang="en-US" sz="1100" dirty="0">
                <a:solidFill>
                  <a:srgbClr val="212121"/>
                </a:solidFill>
                <a:latin typeface="Times New Roman" pitchFamily="34" charset="0"/>
                <a:ea typeface="Times New Roman" pitchFamily="34" charset="-122"/>
                <a:cs typeface="Times New Roman" pitchFamily="34" charset="-120"/>
              </a:rPr>
              <a:t>Make results easy to explore in a local web app.</a:t>
            </a:r>
            <a:endParaRPr lang="en-US" sz="1100" dirty="0"/>
          </a:p>
        </p:txBody>
      </p:sp>
      <p:sp>
        <p:nvSpPr>
          <p:cNvPr id="18" name="Shape 15"/>
          <p:cNvSpPr/>
          <p:nvPr/>
        </p:nvSpPr>
        <p:spPr>
          <a:xfrm>
            <a:off x="457200" y="3977640"/>
            <a:ext cx="8229600" cy="731520"/>
          </a:xfrm>
          <a:prstGeom prst="roundRect">
            <a:avLst>
              <a:gd name="adj" fmla="val 7500"/>
            </a:avLst>
          </a:prstGeom>
          <a:solidFill>
            <a:srgbClr val="1F3864"/>
          </a:solidFill>
          <a:ln w="12700">
            <a:solidFill>
              <a:srgbClr val="1F3864"/>
            </a:solidFill>
            <a:prstDash val="solid"/>
          </a:ln>
        </p:spPr>
      </p:sp>
      <p:sp>
        <p:nvSpPr>
          <p:cNvPr id="19" name="Text 16"/>
          <p:cNvSpPr txBox="1"/>
          <p:nvPr/>
        </p:nvSpPr>
        <p:spPr>
          <a:xfrm>
            <a:off x="640080" y="4041648"/>
            <a:ext cx="7863840" cy="603504"/>
          </a:xfrm>
          <a:prstGeom prst="rect">
            <a:avLst/>
          </a:prstGeom>
          <a:noFill/>
          <a:ln/>
        </p:spPr>
        <p:txBody>
          <a:bodyPr wrap="square" lIns="0" tIns="0" rIns="0" bIns="0" rtlCol="0" anchor="ctr"/>
          <a:lstStyle/>
          <a:p>
            <a:pPr indent="0" marL="0">
              <a:buNone/>
            </a:pPr>
            <a:r>
              <a:rPr lang="en-US" sz="900" b="1" dirty="0">
                <a:solidFill>
                  <a:srgbClr val="BFD0F2"/>
                </a:solidFill>
                <a:latin typeface="Times New Roman" pitchFamily="34" charset="0"/>
                <a:ea typeface="Times New Roman" pitchFamily="34" charset="-122"/>
                <a:cs typeface="Times New Roman" pitchFamily="34" charset="-120"/>
              </a:rPr>
              <a:t>PREDICTION TARGET</a:t>
            </a:r>
            <a:endParaRPr lang="en-US" sz="900" dirty="0"/>
          </a:p>
          <a:p>
            <a:pPr indent="0" marL="0">
              <a:buNone/>
            </a:pPr>
            <a:r>
              <a:rPr lang="en-US" sz="1200" dirty="0">
                <a:solidFill>
                  <a:srgbClr val="FFFFFF"/>
                </a:solidFill>
                <a:latin typeface="Times New Roman" pitchFamily="34" charset="0"/>
                <a:ea typeface="Times New Roman" pitchFamily="34" charset="-122"/>
                <a:cs typeface="Times New Roman" pitchFamily="34" charset="-120"/>
              </a:rPr>
              <a:t>Bundled agricultural GDP sample. Its official source and units are not verified.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4</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2. Literature Survey</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6858000" cy="914400"/>
        </p:xfrm>
        <a:graphic>
          <a:graphicData uri="http://schemas.openxmlformats.org/drawingml/2006/table">
            <a:tbl>
              <a:tblPr/>
              <a:tblGrid>
                <a:gridCol w="457200"/>
                <a:gridCol w="1737360"/>
                <a:gridCol w="3291840"/>
                <a:gridCol w="2743200"/>
              </a:tblGrid>
              <a:tr h="274320">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Sr.</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Reviewed Area</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Key Findings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Limitation</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r>
              <a:tr h="502920">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b="1" dirty="0">
                          <a:solidFill>
                            <a:srgbClr val="212121"/>
                          </a:solidFill>
                          <a:latin typeface="Times New Roman" pitchFamily="34" charset="0"/>
                          <a:ea typeface="Times New Roman" pitchFamily="34" charset="-122"/>
                          <a:cs typeface="Times New Roman" pitchFamily="34" charset="-120"/>
                        </a:rPr>
                        <a:t>ENSO and agriculture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dirty="0">
                          <a:solidFill>
                            <a:srgbClr val="212121"/>
                          </a:solidFill>
                          <a:latin typeface="Times New Roman" pitchFamily="34" charset="0"/>
                          <a:ea typeface="Times New Roman" pitchFamily="34" charset="-122"/>
                          <a:cs typeface="Times New Roman" pitchFamily="34" charset="-120"/>
                        </a:rPr>
                        <a:t>ENSO is linked to rainfall and crop-yield variation in some regions.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dirty="0">
                          <a:solidFill>
                            <a:srgbClr val="212121"/>
                          </a:solidFill>
                          <a:latin typeface="Times New Roman" pitchFamily="34" charset="0"/>
                          <a:ea typeface="Times New Roman" pitchFamily="34" charset="-122"/>
                          <a:cs typeface="Times New Roman" pitchFamily="34" charset="-120"/>
                        </a:rPr>
                        <a:t>Regional effects differ and need careful testing.</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502920">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2</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b="1" dirty="0">
                          <a:solidFill>
                            <a:srgbClr val="212121"/>
                          </a:solidFill>
                          <a:latin typeface="Times New Roman" pitchFamily="34" charset="0"/>
                          <a:ea typeface="Times New Roman" pitchFamily="34" charset="-122"/>
                          <a:cs typeface="Times New Roman" pitchFamily="34" charset="-120"/>
                        </a:rPr>
                        <a:t>Crop prediction with ML</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dirty="0">
                          <a:solidFill>
                            <a:srgbClr val="212121"/>
                          </a:solidFill>
                          <a:latin typeface="Times New Roman" pitchFamily="34" charset="0"/>
                          <a:ea typeface="Times New Roman" pitchFamily="34" charset="-122"/>
                          <a:cs typeface="Times New Roman" pitchFamily="34" charset="-120"/>
                        </a:rPr>
                        <a:t>ML can learn patterns from weather and crop data.</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dirty="0">
                          <a:solidFill>
                            <a:srgbClr val="212121"/>
                          </a:solidFill>
                          <a:latin typeface="Times New Roman" pitchFamily="34" charset="0"/>
                          <a:ea typeface="Times New Roman" pitchFamily="34" charset="-122"/>
                          <a:cs typeface="Times New Roman" pitchFamily="34" charset="-120"/>
                        </a:rPr>
                        <a:t>Crop yield and economic output are different targets.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457200">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3</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b="1" dirty="0">
                          <a:solidFill>
                            <a:srgbClr val="212121"/>
                          </a:solidFill>
                          <a:latin typeface="Times New Roman" pitchFamily="34" charset="0"/>
                          <a:ea typeface="Times New Roman" pitchFamily="34" charset="-122"/>
                          <a:cs typeface="Times New Roman" pitchFamily="34" charset="-120"/>
                        </a:rPr>
                        <a:t>Climate and the economy</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dirty="0">
                          <a:solidFill>
                            <a:srgbClr val="212121"/>
                          </a:solidFill>
                          <a:latin typeface="Times New Roman" pitchFamily="34" charset="0"/>
                          <a:ea typeface="Times New Roman" pitchFamily="34" charset="-122"/>
                          <a:cs typeface="Times New Roman" pitchFamily="34" charset="-120"/>
                        </a:rPr>
                        <a:t>Weather shocks can be linked to changes in economic output.</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dirty="0">
                          <a:solidFill>
                            <a:srgbClr val="212121"/>
                          </a:solidFill>
                          <a:latin typeface="Times New Roman" pitchFamily="34" charset="0"/>
                          <a:ea typeface="Times New Roman" pitchFamily="34" charset="-122"/>
                          <a:cs typeface="Times New Roman" pitchFamily="34" charset="-120"/>
                        </a:rPr>
                        <a:t>National results may not describe every state.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502920">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4</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b="1" dirty="0">
                          <a:solidFill>
                            <a:srgbClr val="212121"/>
                          </a:solidFill>
                          <a:latin typeface="Times New Roman" pitchFamily="34" charset="0"/>
                          <a:ea typeface="Times New Roman" pitchFamily="34" charset="-122"/>
                          <a:cs typeface="Times New Roman" pitchFamily="34" charset="-120"/>
                        </a:rPr>
                        <a:t>State-year panel analysis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dirty="0">
                          <a:solidFill>
                            <a:srgbClr val="212121"/>
                          </a:solidFill>
                          <a:latin typeface="Times New Roman" pitchFamily="34" charset="0"/>
                          <a:ea typeface="Times New Roman" pitchFamily="34" charset="-122"/>
                          <a:cs typeface="Times New Roman" pitchFamily="34" charset="-120"/>
                        </a:rPr>
                        <a:t>Panel data follows several states across multiple years.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algn="l" indent="0" marL="0">
                        <a:buNone/>
                      </a:pPr>
                      <a:r>
                        <a:rPr lang="en-US" sz="1000" dirty="0">
                          <a:solidFill>
                            <a:srgbClr val="212121"/>
                          </a:solidFill>
                          <a:latin typeface="Times New Roman" pitchFamily="34" charset="0"/>
                          <a:ea typeface="Times New Roman" pitchFamily="34" charset="-122"/>
                          <a:cs typeface="Times New Roman" pitchFamily="34" charset="-120"/>
                        </a:rPr>
                        <a:t>Care is needed with time splits and state differences.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bl>
          </a:graphicData>
        </a:graphic>
      </p:graphicFrame>
      <p:sp>
        <p:nvSpPr>
          <p:cNvPr id="10" name="Shape 6"/>
          <p:cNvSpPr/>
          <p:nvPr/>
        </p:nvSpPr>
        <p:spPr>
          <a:xfrm>
            <a:off x="457200" y="4114800"/>
            <a:ext cx="8229600" cy="594360"/>
          </a:xfrm>
          <a:prstGeom prst="roundRect">
            <a:avLst>
              <a:gd name="adj" fmla="val 9231"/>
            </a:avLst>
          </a:prstGeom>
          <a:solidFill>
            <a:srgbClr val="FBE9E9"/>
          </a:solidFill>
          <a:ln w="12700">
            <a:solidFill>
              <a:srgbClr val="FBE9E9"/>
            </a:solidFill>
            <a:prstDash val="solid"/>
          </a:ln>
        </p:spPr>
      </p:sp>
      <p:sp>
        <p:nvSpPr>
          <p:cNvPr id="11" name="Text 7"/>
          <p:cNvSpPr txBox="1"/>
          <p:nvPr/>
        </p:nvSpPr>
        <p:spPr>
          <a:xfrm>
            <a:off x="640080" y="4114800"/>
            <a:ext cx="7863840" cy="594360"/>
          </a:xfrm>
          <a:prstGeom prst="rect">
            <a:avLst/>
          </a:prstGeom>
          <a:noFill/>
          <a:ln/>
        </p:spPr>
        <p:txBody>
          <a:bodyPr wrap="square" lIns="0" tIns="0" rIns="0" bIns="0" rtlCol="0" anchor="ctr"/>
          <a:lstStyle/>
          <a:p>
            <a:pPr indent="0" marL="0">
              <a:buNone/>
            </a:pPr>
            <a:r>
              <a:rPr lang="en-US" sz="1200" b="1" dirty="0">
                <a:solidFill>
                  <a:srgbClr val="C00000"/>
                </a:solidFill>
                <a:latin typeface="Times New Roman" pitchFamily="34" charset="0"/>
                <a:ea typeface="Times New Roman" pitchFamily="34" charset="-122"/>
                <a:cs typeface="Times New Roman" pitchFamily="34" charset="-120"/>
              </a:rPr>
              <a:t>Our approach:  </a:t>
            </a:r>
            <a:pPr indent="0" marL="0">
              <a:buNone/>
            </a:pPr>
            <a:r>
              <a:rPr lang="en-US" sz="1200" dirty="0">
                <a:solidFill>
                  <a:srgbClr val="212121"/>
                </a:solidFill>
                <a:latin typeface="Times New Roman" pitchFamily="34" charset="0"/>
                <a:ea typeface="Times New Roman" pitchFamily="34" charset="-122"/>
                <a:cs typeface="Times New Roman" pitchFamily="34" charset="-120"/>
              </a:rPr>
              <a:t>This prototype compares climate-based models and lets users explore what-if inputs. It does not establish a new causal effect.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5</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3. Objectives</a:t>
            </a:r>
            <a:endParaRPr lang="en-US" sz="2400" dirty="0"/>
          </a:p>
        </p:txBody>
      </p:sp>
      <p:sp>
        <p:nvSpPr>
          <p:cNvPr id="9" name="Shape 6"/>
          <p:cNvSpPr/>
          <p:nvPr/>
        </p:nvSpPr>
        <p:spPr>
          <a:xfrm>
            <a:off x="457200" y="1737360"/>
            <a:ext cx="8229600" cy="640080"/>
          </a:xfrm>
          <a:prstGeom prst="roundRect">
            <a:avLst>
              <a:gd name="adj" fmla="val 8571"/>
            </a:avLst>
          </a:prstGeom>
          <a:solidFill>
            <a:srgbClr val="1F3864"/>
          </a:solidFill>
          <a:ln w="12700">
            <a:solidFill>
              <a:srgbClr val="1F3864"/>
            </a:solidFill>
            <a:prstDash val="solid"/>
          </a:ln>
        </p:spPr>
      </p:sp>
      <p:sp>
        <p:nvSpPr>
          <p:cNvPr id="10" name="Text 7"/>
          <p:cNvSpPr txBox="1"/>
          <p:nvPr/>
        </p:nvSpPr>
        <p:spPr>
          <a:xfrm>
            <a:off x="640080" y="1764792"/>
            <a:ext cx="7863840" cy="585216"/>
          </a:xfrm>
          <a:prstGeom prst="rect">
            <a:avLst/>
          </a:prstGeom>
          <a:noFill/>
          <a:ln/>
        </p:spPr>
        <p:txBody>
          <a:bodyPr wrap="square" lIns="0" tIns="0" rIns="0" bIns="0" rtlCol="0" anchor="ctr"/>
          <a:lstStyle/>
          <a:p>
            <a:pPr indent="0" marL="0">
              <a:buNone/>
            </a:pPr>
            <a:r>
              <a:rPr lang="en-US" sz="900" b="1" dirty="0">
                <a:solidFill>
                  <a:srgbClr val="BFD0F2"/>
                </a:solidFill>
                <a:latin typeface="Times New Roman" pitchFamily="34" charset="0"/>
                <a:ea typeface="Times New Roman" pitchFamily="34" charset="-122"/>
                <a:cs typeface="Times New Roman" pitchFamily="34" charset="-120"/>
              </a:rPr>
              <a:t>PRIMARY OBJECTIVE</a:t>
            </a:r>
            <a:endParaRPr lang="en-US" sz="900" dirty="0"/>
          </a:p>
          <a:p>
            <a:pPr indent="0" marL="0">
              <a:buNone/>
            </a:pPr>
            <a:r>
              <a:rPr lang="en-US" sz="1250" dirty="0">
                <a:solidFill>
                  <a:srgbClr val="FFFFFF"/>
                </a:solidFill>
                <a:latin typeface="Times New Roman" pitchFamily="34" charset="0"/>
                <a:ea typeface="Times New Roman" pitchFamily="34" charset="-122"/>
                <a:cs typeface="Times New Roman" pitchFamily="34" charset="-120"/>
              </a:rPr>
              <a:t>Build a web prototype that predicts the local agricultural GDP sample from rainfall, temperature and ONI.</a:t>
            </a:r>
            <a:endParaRPr lang="en-US" sz="900" dirty="0"/>
          </a:p>
        </p:txBody>
      </p:sp>
      <p:sp>
        <p:nvSpPr>
          <p:cNvPr id="11" name="Shape 8"/>
          <p:cNvSpPr/>
          <p:nvPr/>
        </p:nvSpPr>
        <p:spPr>
          <a:xfrm>
            <a:off x="502920" y="2569464"/>
            <a:ext cx="292608" cy="292608"/>
          </a:xfrm>
          <a:prstGeom prst="ellipse">
            <a:avLst/>
          </a:prstGeom>
          <a:solidFill>
            <a:srgbClr val="C00000"/>
          </a:solidFill>
          <a:ln w="12700">
            <a:solidFill>
              <a:srgbClr val="C00000"/>
            </a:solidFill>
            <a:prstDash val="solid"/>
          </a:ln>
        </p:spPr>
      </p:sp>
      <p:sp>
        <p:nvSpPr>
          <p:cNvPr id="12" name="Text 9"/>
          <p:cNvSpPr txBox="1"/>
          <p:nvPr/>
        </p:nvSpPr>
        <p:spPr>
          <a:xfrm>
            <a:off x="502920" y="25694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1</a:t>
            </a:r>
            <a:endParaRPr lang="en-US" sz="1100" dirty="0"/>
          </a:p>
        </p:txBody>
      </p:sp>
      <p:sp>
        <p:nvSpPr>
          <p:cNvPr id="13" name="Text 10"/>
          <p:cNvSpPr txBox="1"/>
          <p:nvPr/>
        </p:nvSpPr>
        <p:spPr>
          <a:xfrm>
            <a:off x="960120" y="2542032"/>
            <a:ext cx="7680960" cy="347472"/>
          </a:xfrm>
          <a:prstGeom prst="rect">
            <a:avLst/>
          </a:prstGeom>
          <a:noFill/>
          <a:ln/>
        </p:spPr>
        <p:txBody>
          <a:bodyPr wrap="square" lIns="0" tIns="0" rIns="0" bIns="0" rtlCol="0" anchor="ctr"/>
          <a:lstStyle/>
          <a:p>
            <a:pPr indent="0" marL="0">
              <a:buNone/>
            </a:pPr>
            <a:r>
              <a:rPr lang="en-US" sz="1200" dirty="0">
                <a:solidFill>
                  <a:srgbClr val="212121"/>
                </a:solidFill>
                <a:latin typeface="Times New Roman" pitchFamily="34" charset="0"/>
                <a:ea typeface="Times New Roman" pitchFamily="34" charset="-122"/>
                <a:cs typeface="Times New Roman" pitchFamily="34" charset="-120"/>
              </a:rPr>
              <a:t>Prepare NOAA ONI, Open-Meteo weather and a bundled economic sample for 10 states (2009–2023).</a:t>
            </a:r>
            <a:endParaRPr lang="en-US" sz="1200" dirty="0"/>
          </a:p>
        </p:txBody>
      </p:sp>
      <p:sp>
        <p:nvSpPr>
          <p:cNvPr id="14" name="Shape 11"/>
          <p:cNvSpPr/>
          <p:nvPr/>
        </p:nvSpPr>
        <p:spPr>
          <a:xfrm>
            <a:off x="502920" y="2999232"/>
            <a:ext cx="292608" cy="292608"/>
          </a:xfrm>
          <a:prstGeom prst="ellipse">
            <a:avLst/>
          </a:prstGeom>
          <a:solidFill>
            <a:srgbClr val="C00000"/>
          </a:solidFill>
          <a:ln w="12700">
            <a:solidFill>
              <a:srgbClr val="C00000"/>
            </a:solidFill>
            <a:prstDash val="solid"/>
          </a:ln>
        </p:spPr>
      </p:sp>
      <p:sp>
        <p:nvSpPr>
          <p:cNvPr id="15" name="Text 12"/>
          <p:cNvSpPr txBox="1"/>
          <p:nvPr/>
        </p:nvSpPr>
        <p:spPr>
          <a:xfrm>
            <a:off x="502920" y="299923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2</a:t>
            </a:r>
            <a:endParaRPr lang="en-US" sz="1100" dirty="0"/>
          </a:p>
        </p:txBody>
      </p:sp>
      <p:sp>
        <p:nvSpPr>
          <p:cNvPr id="16" name="Text 13"/>
          <p:cNvSpPr txBox="1"/>
          <p:nvPr/>
        </p:nvSpPr>
        <p:spPr>
          <a:xfrm>
            <a:off x="960120" y="2971800"/>
            <a:ext cx="7680960" cy="347472"/>
          </a:xfrm>
          <a:prstGeom prst="rect">
            <a:avLst/>
          </a:prstGeom>
          <a:noFill/>
          <a:ln/>
        </p:spPr>
        <p:txBody>
          <a:bodyPr wrap="square" lIns="0" tIns="0" rIns="0" bIns="0" rtlCol="0" anchor="ctr"/>
          <a:lstStyle/>
          <a:p>
            <a:pPr indent="0" marL="0">
              <a:buNone/>
            </a:pPr>
            <a:r>
              <a:rPr lang="en-US" sz="1200" dirty="0">
                <a:solidFill>
                  <a:srgbClr val="212121"/>
                </a:solidFill>
                <a:latin typeface="Times New Roman" pitchFamily="34" charset="0"/>
                <a:ea typeface="Times New Roman" pitchFamily="34" charset="-122"/>
                <a:cs typeface="Times New Roman" pitchFamily="34" charset="-120"/>
              </a:rPr>
              <a:t>Join 150 state-year rows and train with three inputs: rainfall, temperature and ONI.</a:t>
            </a:r>
            <a:endParaRPr lang="en-US" sz="1200" dirty="0"/>
          </a:p>
        </p:txBody>
      </p:sp>
      <p:sp>
        <p:nvSpPr>
          <p:cNvPr id="17" name="Shape 14"/>
          <p:cNvSpPr/>
          <p:nvPr/>
        </p:nvSpPr>
        <p:spPr>
          <a:xfrm>
            <a:off x="502920" y="3429000"/>
            <a:ext cx="292608" cy="292608"/>
          </a:xfrm>
          <a:prstGeom prst="ellipse">
            <a:avLst/>
          </a:prstGeom>
          <a:solidFill>
            <a:srgbClr val="C00000"/>
          </a:solidFill>
          <a:ln w="12700">
            <a:solidFill>
              <a:srgbClr val="C00000"/>
            </a:solidFill>
            <a:prstDash val="solid"/>
          </a:ln>
        </p:spPr>
      </p:sp>
      <p:sp>
        <p:nvSpPr>
          <p:cNvPr id="18" name="Text 15"/>
          <p:cNvSpPr txBox="1"/>
          <p:nvPr/>
        </p:nvSpPr>
        <p:spPr>
          <a:xfrm>
            <a:off x="502920" y="34290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3</a:t>
            </a:r>
            <a:endParaRPr lang="en-US" sz="1100" dirty="0"/>
          </a:p>
        </p:txBody>
      </p:sp>
      <p:sp>
        <p:nvSpPr>
          <p:cNvPr id="19" name="Text 16"/>
          <p:cNvSpPr txBox="1"/>
          <p:nvPr/>
        </p:nvSpPr>
        <p:spPr>
          <a:xfrm>
            <a:off x="960120" y="3401568"/>
            <a:ext cx="7680960" cy="347472"/>
          </a:xfrm>
          <a:prstGeom prst="rect">
            <a:avLst/>
          </a:prstGeom>
          <a:noFill/>
          <a:ln/>
        </p:spPr>
        <p:txBody>
          <a:bodyPr wrap="square" lIns="0" tIns="0" rIns="0" bIns="0" rtlCol="0" anchor="ctr"/>
          <a:lstStyle/>
          <a:p>
            <a:pPr indent="0" marL="0">
              <a:buNone/>
            </a:pPr>
            <a:r>
              <a:rPr lang="en-US" sz="1200" dirty="0">
                <a:solidFill>
                  <a:srgbClr val="212121"/>
                </a:solidFill>
                <a:latin typeface="Times New Roman" pitchFamily="34" charset="0"/>
                <a:ea typeface="Times New Roman" pitchFamily="34" charset="-122"/>
                <a:cs typeface="Times New Roman" pitchFamily="34" charset="-120"/>
              </a:rPr>
              <a:t>Compare five models using earlier years for training and later years for testing.</a:t>
            </a:r>
            <a:endParaRPr lang="en-US" sz="1200" dirty="0"/>
          </a:p>
        </p:txBody>
      </p:sp>
      <p:sp>
        <p:nvSpPr>
          <p:cNvPr id="20" name="Shape 17"/>
          <p:cNvSpPr/>
          <p:nvPr/>
        </p:nvSpPr>
        <p:spPr>
          <a:xfrm>
            <a:off x="502920" y="3858768"/>
            <a:ext cx="292608" cy="292608"/>
          </a:xfrm>
          <a:prstGeom prst="ellipse">
            <a:avLst/>
          </a:prstGeom>
          <a:solidFill>
            <a:srgbClr val="C00000"/>
          </a:solidFill>
          <a:ln w="12700">
            <a:solidFill>
              <a:srgbClr val="C00000"/>
            </a:solidFill>
            <a:prstDash val="solid"/>
          </a:ln>
        </p:spPr>
      </p:sp>
      <p:sp>
        <p:nvSpPr>
          <p:cNvPr id="21" name="Text 18"/>
          <p:cNvSpPr txBox="1"/>
          <p:nvPr/>
        </p:nvSpPr>
        <p:spPr>
          <a:xfrm>
            <a:off x="502920" y="38587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4</a:t>
            </a:r>
            <a:endParaRPr lang="en-US" sz="1100" dirty="0"/>
          </a:p>
        </p:txBody>
      </p:sp>
      <p:sp>
        <p:nvSpPr>
          <p:cNvPr id="22" name="Text 19"/>
          <p:cNvSpPr txBox="1"/>
          <p:nvPr/>
        </p:nvSpPr>
        <p:spPr>
          <a:xfrm>
            <a:off x="960120" y="3831336"/>
            <a:ext cx="7680960" cy="347472"/>
          </a:xfrm>
          <a:prstGeom prst="rect">
            <a:avLst/>
          </a:prstGeom>
          <a:noFill/>
          <a:ln/>
        </p:spPr>
        <p:txBody>
          <a:bodyPr wrap="square" lIns="0" tIns="0" rIns="0" bIns="0" rtlCol="0" anchor="ctr"/>
          <a:lstStyle/>
          <a:p>
            <a:pPr indent="0" marL="0">
              <a:buNone/>
            </a:pPr>
            <a:r>
              <a:rPr lang="en-US" sz="1200" dirty="0">
                <a:solidFill>
                  <a:srgbClr val="212121"/>
                </a:solidFill>
                <a:latin typeface="Times New Roman" pitchFamily="34" charset="0"/>
                <a:ea typeface="Times New Roman" pitchFamily="34" charset="-122"/>
                <a:cs typeface="Times New Roman" pitchFamily="34" charset="-120"/>
              </a:rPr>
              <a:t>Let users change climate inputs and inspect what-if model estimates.</a:t>
            </a:r>
            <a:endParaRPr lang="en-US" sz="1200" dirty="0"/>
          </a:p>
        </p:txBody>
      </p:sp>
      <p:sp>
        <p:nvSpPr>
          <p:cNvPr id="23" name="Shape 20"/>
          <p:cNvSpPr/>
          <p:nvPr/>
        </p:nvSpPr>
        <p:spPr>
          <a:xfrm>
            <a:off x="502920" y="4288536"/>
            <a:ext cx="292608" cy="292608"/>
          </a:xfrm>
          <a:prstGeom prst="ellipse">
            <a:avLst/>
          </a:prstGeom>
          <a:solidFill>
            <a:srgbClr val="C00000"/>
          </a:solidFill>
          <a:ln w="12700">
            <a:solidFill>
              <a:srgbClr val="C00000"/>
            </a:solidFill>
            <a:prstDash val="solid"/>
          </a:ln>
        </p:spPr>
      </p:sp>
      <p:sp>
        <p:nvSpPr>
          <p:cNvPr id="24" name="Text 21"/>
          <p:cNvSpPr txBox="1"/>
          <p:nvPr/>
        </p:nvSpPr>
        <p:spPr>
          <a:xfrm>
            <a:off x="502920" y="42885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5</a:t>
            </a:r>
            <a:endParaRPr lang="en-US" sz="1100" dirty="0"/>
          </a:p>
        </p:txBody>
      </p:sp>
      <p:sp>
        <p:nvSpPr>
          <p:cNvPr id="25" name="Text 22"/>
          <p:cNvSpPr txBox="1"/>
          <p:nvPr/>
        </p:nvSpPr>
        <p:spPr>
          <a:xfrm>
            <a:off x="960120" y="4261104"/>
            <a:ext cx="7680960" cy="347472"/>
          </a:xfrm>
          <a:prstGeom prst="rect">
            <a:avLst/>
          </a:prstGeom>
          <a:noFill/>
          <a:ln/>
        </p:spPr>
        <p:txBody>
          <a:bodyPr wrap="square" lIns="0" tIns="0" rIns="0" bIns="0" rtlCol="0" anchor="ctr"/>
          <a:lstStyle/>
          <a:p>
            <a:pPr indent="0" marL="0">
              <a:buNone/>
            </a:pPr>
            <a:r>
              <a:rPr lang="en-US" sz="1200" dirty="0">
                <a:solidFill>
                  <a:srgbClr val="212121"/>
                </a:solidFill>
                <a:latin typeface="Times New Roman" pitchFamily="34" charset="0"/>
                <a:ea typeface="Times New Roman" pitchFamily="34" charset="-122"/>
                <a:cs typeface="Times New Roman" pitchFamily="34" charset="-120"/>
              </a:rPr>
              <a:t>Show model scores, scenarios, project search and data exports in a local web app.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6</a:t>
            </a:r>
            <a:endParaRPr lang="en-US" sz="1000" dirty="0"/>
          </a:p>
        </p:txBody>
      </p:sp>
      <p:sp>
        <p:nvSpPr>
          <p:cNvPr id="8" name="Text 5"/>
          <p:cNvSpPr txBox="1"/>
          <p:nvPr/>
        </p:nvSpPr>
        <p:spPr>
          <a:xfrm>
            <a:off x="457200" y="1261872"/>
            <a:ext cx="41148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4. Data &amp; Features</a:t>
            </a:r>
            <a:endParaRPr lang="en-US" sz="2400" dirty="0"/>
          </a:p>
        </p:txBody>
      </p:sp>
      <p:sp>
        <p:nvSpPr>
          <p:cNvPr id="9" name="Text 6"/>
          <p:cNvSpPr txBox="1"/>
          <p:nvPr/>
        </p:nvSpPr>
        <p:spPr>
          <a:xfrm>
            <a:off x="4206240" y="1261872"/>
            <a:ext cx="4480560" cy="384048"/>
          </a:xfrm>
          <a:prstGeom prst="rect">
            <a:avLst/>
          </a:prstGeom>
          <a:noFill/>
          <a:ln/>
        </p:spPr>
        <p:txBody>
          <a:bodyPr wrap="square" lIns="0" tIns="0" rIns="0" bIns="0" rtlCol="0" anchor="ctr"/>
          <a:lstStyle/>
          <a:p>
            <a:pPr algn="r" indent="0" marL="0">
              <a:buNone/>
            </a:pPr>
            <a:r>
              <a:rPr lang="en-US" sz="1200" b="1" dirty="0">
                <a:solidFill>
                  <a:srgbClr val="C00000"/>
                </a:solidFill>
                <a:latin typeface="Times New Roman" pitchFamily="34" charset="0"/>
                <a:ea typeface="Times New Roman" pitchFamily="34" charset="-122"/>
                <a:cs typeface="Times New Roman" pitchFamily="34" charset="-120"/>
              </a:rPr>
              <a:t>10 states  |  2009–2023  |  150 panel observations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6858000" cy="914400"/>
        </p:xfrm>
        <a:graphic>
          <a:graphicData uri="http://schemas.openxmlformats.org/drawingml/2006/table">
            <a:tbl>
              <a:tblPr/>
              <a:tblGrid>
                <a:gridCol w="1828800"/>
                <a:gridCol w="1600200"/>
                <a:gridCol w="3657600"/>
                <a:gridCol w="1143000"/>
              </a:tblGrid>
              <a:tr h="274320">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Dimension</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Source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Measurement</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Coverage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r>
              <a:tr h="329184">
                <a:tc>
                  <a:txBody>
                    <a:bodyPr/>
                    <a:lstStyle/>
                    <a:p>
                      <a:pPr indent="0" marL="0">
                        <a:buNone/>
                      </a:pPr>
                      <a:r>
                        <a:rPr lang="en-US" sz="1000" b="1" dirty="0">
                          <a:solidFill>
                            <a:srgbClr val="212121"/>
                          </a:solidFill>
                          <a:latin typeface="Times New Roman" pitchFamily="34" charset="0"/>
                          <a:ea typeface="Times New Roman" pitchFamily="34" charset="-122"/>
                          <a:cs typeface="Times New Roman" pitchFamily="34" charset="-120"/>
                        </a:rPr>
                        <a:t>Oceanic Niño Index (ONI)</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NOAA PSL</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Annual mean of monthly ONI values (°C)</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Annual input</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329184">
                <a:tc>
                  <a:txBody>
                    <a:bodyPr/>
                    <a:lstStyle/>
                    <a:p>
                      <a:pPr indent="0" marL="0">
                        <a:buNone/>
                      </a:pPr>
                      <a:r>
                        <a:rPr lang="en-US" sz="1000" b="1" dirty="0">
                          <a:solidFill>
                            <a:srgbClr val="212121"/>
                          </a:solidFill>
                          <a:latin typeface="Times New Roman" pitchFamily="34" charset="0"/>
                          <a:ea typeface="Times New Roman" pitchFamily="34" charset="-122"/>
                          <a:cs typeface="Times New Roman" pitchFamily="34" charset="-120"/>
                        </a:rPr>
                        <a:t>Annual rainfall</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Open-Meteo archive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Daily precipitation summed by year (mm)</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State centroid</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329184">
                <a:tc>
                  <a:txBody>
                    <a:bodyPr/>
                    <a:lstStyle/>
                    <a:p>
                      <a:pPr indent="0" marL="0">
                        <a:buNone/>
                      </a:pPr>
                      <a:r>
                        <a:rPr lang="en-US" sz="1000" b="1" dirty="0">
                          <a:solidFill>
                            <a:srgbClr val="212121"/>
                          </a:solidFill>
                          <a:latin typeface="Times New Roman" pitchFamily="34" charset="0"/>
                          <a:ea typeface="Times New Roman" pitchFamily="34" charset="-122"/>
                          <a:cs typeface="Times New Roman" pitchFamily="34" charset="-120"/>
                        </a:rPr>
                        <a:t>2-metre temperature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Open-Meteo archive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Mean annual 2-metre air temperature (°C)</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State centroid</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329184">
                <a:tc>
                  <a:txBody>
                    <a:bodyPr/>
                    <a:lstStyle/>
                    <a:p>
                      <a:pPr indent="0" marL="0">
                        <a:buNone/>
                      </a:pPr>
                      <a:r>
                        <a:rPr lang="en-US" sz="1000" b="1" dirty="0">
                          <a:solidFill>
                            <a:srgbClr val="212121"/>
                          </a:solidFill>
                          <a:latin typeface="Times New Roman" pitchFamily="34" charset="0"/>
                          <a:ea typeface="Times New Roman" pitchFamily="34" charset="-122"/>
                          <a:cs typeface="Times New Roman" pitchFamily="34" charset="-120"/>
                        </a:rPr>
                        <a:t>Economic target</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Bundled project CSV</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Sample values; source and units unverified</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Annual</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bl>
          </a:graphicData>
        </a:graphic>
      </p:graphicFrame>
      <p:sp>
        <p:nvSpPr>
          <p:cNvPr id="11" name="Text 7"/>
          <p:cNvSpPr txBox="1"/>
          <p:nvPr/>
        </p:nvSpPr>
        <p:spPr>
          <a:xfrm>
            <a:off x="457200" y="3474720"/>
            <a:ext cx="4572000" cy="256032"/>
          </a:xfrm>
          <a:prstGeom prst="rect">
            <a:avLst/>
          </a:prstGeom>
          <a:noFill/>
          <a:ln/>
        </p:spPr>
        <p:txBody>
          <a:bodyPr wrap="square" lIns="0" tIns="0" rIns="0" bIns="0" rtlCol="0" anchor="t"/>
          <a:lstStyle/>
          <a:p>
            <a:pPr indent="0" marL="0">
              <a:buNone/>
            </a:pPr>
            <a:r>
              <a:rPr lang="en-US" sz="1300" b="1" dirty="0">
                <a:solidFill>
                  <a:srgbClr val="C00000"/>
                </a:solidFill>
                <a:latin typeface="Times New Roman" pitchFamily="34" charset="0"/>
                <a:ea typeface="Times New Roman" pitchFamily="34" charset="-122"/>
                <a:cs typeface="Times New Roman" pitchFamily="34" charset="-120"/>
              </a:rPr>
              <a:t>Three inputs used to train the models</a:t>
            </a:r>
            <a:endParaRPr lang="en-US" sz="1300" dirty="0"/>
          </a:p>
        </p:txBody>
      </p:sp>
      <p:sp>
        <p:nvSpPr>
          <p:cNvPr id="12" name="Shape 8"/>
          <p:cNvSpPr/>
          <p:nvPr/>
        </p:nvSpPr>
        <p:spPr>
          <a:xfrm>
            <a:off x="457200" y="3767328"/>
            <a:ext cx="2651760" cy="914400"/>
          </a:xfrm>
          <a:prstGeom prst="roundRect">
            <a:avLst>
              <a:gd name="adj" fmla="val 6000"/>
            </a:avLst>
          </a:prstGeom>
          <a:solidFill>
            <a:srgbClr val="F1F3F8"/>
          </a:solidFill>
          <a:ln w="12700">
            <a:solidFill>
              <a:srgbClr val="F1F3F8"/>
            </a:solidFill>
            <a:prstDash val="solid"/>
          </a:ln>
        </p:spPr>
      </p:sp>
      <p:sp>
        <p:nvSpPr>
          <p:cNvPr id="13" name="Text 9"/>
          <p:cNvSpPr txBox="1"/>
          <p:nvPr/>
        </p:nvSpPr>
        <p:spPr>
          <a:xfrm>
            <a:off x="594360" y="3813048"/>
            <a:ext cx="2377440" cy="228600"/>
          </a:xfrm>
          <a:prstGeom prst="rect">
            <a:avLst/>
          </a:prstGeom>
          <a:noFill/>
          <a:ln/>
        </p:spPr>
        <p:txBody>
          <a:bodyPr wrap="square" lIns="0" tIns="0" rIns="0" bIns="0" rtlCol="0" anchor="t"/>
          <a:lstStyle/>
          <a:p>
            <a:pPr indent="0" marL="0">
              <a:buNone/>
            </a:pPr>
            <a:r>
              <a:rPr lang="en-US" sz="1150" b="1" dirty="0">
                <a:solidFill>
                  <a:srgbClr val="1F3864"/>
                </a:solidFill>
                <a:latin typeface="Times New Roman" pitchFamily="34" charset="0"/>
                <a:ea typeface="Times New Roman" pitchFamily="34" charset="-122"/>
                <a:cs typeface="Times New Roman" pitchFamily="34" charset="-120"/>
              </a:rPr>
              <a:t>Rainfall</a:t>
            </a:r>
            <a:endParaRPr lang="en-US" sz="1150" dirty="0"/>
          </a:p>
        </p:txBody>
      </p:sp>
      <p:sp>
        <p:nvSpPr>
          <p:cNvPr id="14" name="Text 10"/>
          <p:cNvSpPr txBox="1"/>
          <p:nvPr/>
        </p:nvSpPr>
        <p:spPr>
          <a:xfrm>
            <a:off x="594360" y="4041648"/>
            <a:ext cx="2377440" cy="256032"/>
          </a:xfrm>
          <a:prstGeom prst="rect">
            <a:avLst/>
          </a:prstGeom>
          <a:noFill/>
          <a:ln/>
        </p:spPr>
        <p:txBody>
          <a:bodyPr wrap="square" lIns="0" tIns="0" rIns="0" bIns="0" rtlCol="0" anchor="t"/>
          <a:lstStyle/>
          <a:p>
            <a:pPr indent="0" marL="0">
              <a:buNone/>
            </a:pPr>
            <a:r>
              <a:rPr lang="en-US" sz="1300" i="1" dirty="0">
                <a:solidFill>
                  <a:srgbClr val="C00000"/>
                </a:solidFill>
                <a:latin typeface="Times New Roman" pitchFamily="34" charset="0"/>
                <a:ea typeface="Times New Roman" pitchFamily="34" charset="-122"/>
                <a:cs typeface="Times New Roman" pitchFamily="34" charset="-120"/>
              </a:rPr>
              <a:t>rainfall_mm</a:t>
            </a:r>
            <a:endParaRPr lang="en-US" sz="1300" dirty="0"/>
          </a:p>
        </p:txBody>
      </p:sp>
      <p:sp>
        <p:nvSpPr>
          <p:cNvPr id="15" name="Text 11"/>
          <p:cNvSpPr txBox="1"/>
          <p:nvPr/>
        </p:nvSpPr>
        <p:spPr>
          <a:xfrm>
            <a:off x="594360" y="4315968"/>
            <a:ext cx="2377440" cy="320040"/>
          </a:xfrm>
          <a:prstGeom prst="rect">
            <a:avLst/>
          </a:prstGeom>
          <a:noFill/>
          <a:ln/>
        </p:spPr>
        <p:txBody>
          <a:bodyPr wrap="square" lIns="0" tIns="0" rIns="0" bIns="0" rtlCol="0" anchor="t"/>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Total annual rainfall at a state centroid.</a:t>
            </a:r>
            <a:endParaRPr lang="en-US" sz="1000" dirty="0"/>
          </a:p>
        </p:txBody>
      </p:sp>
      <p:sp>
        <p:nvSpPr>
          <p:cNvPr id="16" name="Shape 12"/>
          <p:cNvSpPr/>
          <p:nvPr/>
        </p:nvSpPr>
        <p:spPr>
          <a:xfrm>
            <a:off x="3246120" y="3767328"/>
            <a:ext cx="2651760" cy="914400"/>
          </a:xfrm>
          <a:prstGeom prst="roundRect">
            <a:avLst>
              <a:gd name="adj" fmla="val 6000"/>
            </a:avLst>
          </a:prstGeom>
          <a:solidFill>
            <a:srgbClr val="F1F3F8"/>
          </a:solidFill>
          <a:ln w="12700">
            <a:solidFill>
              <a:srgbClr val="F1F3F8"/>
            </a:solidFill>
            <a:prstDash val="solid"/>
          </a:ln>
        </p:spPr>
      </p:sp>
      <p:sp>
        <p:nvSpPr>
          <p:cNvPr id="17" name="Text 13"/>
          <p:cNvSpPr txBox="1"/>
          <p:nvPr/>
        </p:nvSpPr>
        <p:spPr>
          <a:xfrm>
            <a:off x="3383280" y="3813048"/>
            <a:ext cx="2377440" cy="228600"/>
          </a:xfrm>
          <a:prstGeom prst="rect">
            <a:avLst/>
          </a:prstGeom>
          <a:noFill/>
          <a:ln/>
        </p:spPr>
        <p:txBody>
          <a:bodyPr wrap="square" lIns="0" tIns="0" rIns="0" bIns="0" rtlCol="0" anchor="t"/>
          <a:lstStyle/>
          <a:p>
            <a:pPr indent="0" marL="0">
              <a:buNone/>
            </a:pPr>
            <a:r>
              <a:rPr lang="en-US" sz="1150" b="1" dirty="0">
                <a:solidFill>
                  <a:srgbClr val="1F3864"/>
                </a:solidFill>
                <a:latin typeface="Times New Roman" pitchFamily="34" charset="0"/>
                <a:ea typeface="Times New Roman" pitchFamily="34" charset="-122"/>
                <a:cs typeface="Times New Roman" pitchFamily="34" charset="-120"/>
              </a:rPr>
              <a:t>Temperature</a:t>
            </a:r>
            <a:endParaRPr lang="en-US" sz="1150" dirty="0"/>
          </a:p>
        </p:txBody>
      </p:sp>
      <p:sp>
        <p:nvSpPr>
          <p:cNvPr id="18" name="Text 14"/>
          <p:cNvSpPr txBox="1"/>
          <p:nvPr/>
        </p:nvSpPr>
        <p:spPr>
          <a:xfrm>
            <a:off x="3383280" y="4041648"/>
            <a:ext cx="2377440" cy="256032"/>
          </a:xfrm>
          <a:prstGeom prst="rect">
            <a:avLst/>
          </a:prstGeom>
          <a:noFill/>
          <a:ln/>
        </p:spPr>
        <p:txBody>
          <a:bodyPr wrap="square" lIns="0" tIns="0" rIns="0" bIns="0" rtlCol="0" anchor="t"/>
          <a:lstStyle/>
          <a:p>
            <a:pPr indent="0" marL="0">
              <a:buNone/>
            </a:pPr>
            <a:r>
              <a:rPr lang="en-US" sz="1300" i="1" dirty="0">
                <a:solidFill>
                  <a:srgbClr val="C00000"/>
                </a:solidFill>
                <a:latin typeface="Times New Roman" pitchFamily="34" charset="0"/>
                <a:ea typeface="Times New Roman" pitchFamily="34" charset="-122"/>
                <a:cs typeface="Times New Roman" pitchFamily="34" charset="-120"/>
              </a:rPr>
              <a:t>avg_temperature_c</a:t>
            </a:r>
            <a:endParaRPr lang="en-US" sz="1300" dirty="0"/>
          </a:p>
        </p:txBody>
      </p:sp>
      <p:sp>
        <p:nvSpPr>
          <p:cNvPr id="19" name="Text 15"/>
          <p:cNvSpPr txBox="1"/>
          <p:nvPr/>
        </p:nvSpPr>
        <p:spPr>
          <a:xfrm>
            <a:off x="3383280" y="4315968"/>
            <a:ext cx="2377440" cy="320040"/>
          </a:xfrm>
          <a:prstGeom prst="rect">
            <a:avLst/>
          </a:prstGeom>
          <a:noFill/>
          <a:ln/>
        </p:spPr>
        <p:txBody>
          <a:bodyPr wrap="square" lIns="0" tIns="0" rIns="0" bIns="0" rtlCol="0" anchor="t"/>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Average annual air temperature.</a:t>
            </a:r>
            <a:endParaRPr lang="en-US" sz="1000" dirty="0"/>
          </a:p>
        </p:txBody>
      </p:sp>
      <p:sp>
        <p:nvSpPr>
          <p:cNvPr id="20" name="Shape 16"/>
          <p:cNvSpPr/>
          <p:nvPr/>
        </p:nvSpPr>
        <p:spPr>
          <a:xfrm>
            <a:off x="6035040" y="3767328"/>
            <a:ext cx="2651760" cy="914400"/>
          </a:xfrm>
          <a:prstGeom prst="roundRect">
            <a:avLst>
              <a:gd name="adj" fmla="val 6000"/>
            </a:avLst>
          </a:prstGeom>
          <a:solidFill>
            <a:srgbClr val="F1F3F8"/>
          </a:solidFill>
          <a:ln w="12700">
            <a:solidFill>
              <a:srgbClr val="F1F3F8"/>
            </a:solidFill>
            <a:prstDash val="solid"/>
          </a:ln>
        </p:spPr>
      </p:sp>
      <p:sp>
        <p:nvSpPr>
          <p:cNvPr id="21" name="Text 17"/>
          <p:cNvSpPr txBox="1"/>
          <p:nvPr/>
        </p:nvSpPr>
        <p:spPr>
          <a:xfrm>
            <a:off x="6172200" y="3813048"/>
            <a:ext cx="2377440" cy="228600"/>
          </a:xfrm>
          <a:prstGeom prst="rect">
            <a:avLst/>
          </a:prstGeom>
          <a:noFill/>
          <a:ln/>
        </p:spPr>
        <p:txBody>
          <a:bodyPr wrap="square" lIns="0" tIns="0" rIns="0" bIns="0" rtlCol="0" anchor="t"/>
          <a:lstStyle/>
          <a:p>
            <a:pPr indent="0" marL="0">
              <a:buNone/>
            </a:pPr>
            <a:r>
              <a:rPr lang="en-US" sz="1150" b="1" dirty="0">
                <a:solidFill>
                  <a:srgbClr val="1F3864"/>
                </a:solidFill>
                <a:latin typeface="Times New Roman" pitchFamily="34" charset="0"/>
                <a:ea typeface="Times New Roman" pitchFamily="34" charset="-122"/>
                <a:cs typeface="Times New Roman" pitchFamily="34" charset="-120"/>
              </a:rPr>
              <a:t>El Niño index</a:t>
            </a:r>
            <a:endParaRPr lang="en-US" sz="1150" dirty="0"/>
          </a:p>
        </p:txBody>
      </p:sp>
      <p:sp>
        <p:nvSpPr>
          <p:cNvPr id="22" name="Text 18"/>
          <p:cNvSpPr txBox="1"/>
          <p:nvPr/>
        </p:nvSpPr>
        <p:spPr>
          <a:xfrm>
            <a:off x="6172200" y="4041648"/>
            <a:ext cx="2377440" cy="256032"/>
          </a:xfrm>
          <a:prstGeom prst="rect">
            <a:avLst/>
          </a:prstGeom>
          <a:noFill/>
          <a:ln/>
        </p:spPr>
        <p:txBody>
          <a:bodyPr wrap="square" lIns="0" tIns="0" rIns="0" bIns="0" rtlCol="0" anchor="t"/>
          <a:lstStyle/>
          <a:p>
            <a:pPr indent="0" marL="0">
              <a:buNone/>
            </a:pPr>
            <a:r>
              <a:rPr lang="en-US" sz="1300" i="1" dirty="0">
                <a:solidFill>
                  <a:srgbClr val="C00000"/>
                </a:solidFill>
                <a:latin typeface="Times New Roman" pitchFamily="34" charset="0"/>
                <a:ea typeface="Times New Roman" pitchFamily="34" charset="-122"/>
                <a:cs typeface="Times New Roman" pitchFamily="34" charset="-120"/>
              </a:rPr>
              <a:t>oni_index</a:t>
            </a:r>
            <a:endParaRPr lang="en-US" sz="1300" dirty="0"/>
          </a:p>
        </p:txBody>
      </p:sp>
      <p:sp>
        <p:nvSpPr>
          <p:cNvPr id="23" name="Text 19"/>
          <p:cNvSpPr txBox="1"/>
          <p:nvPr/>
        </p:nvSpPr>
        <p:spPr>
          <a:xfrm>
            <a:off x="6172200" y="4315968"/>
            <a:ext cx="2377440" cy="320040"/>
          </a:xfrm>
          <a:prstGeom prst="rect">
            <a:avLst/>
          </a:prstGeom>
          <a:noFill/>
          <a:ln/>
        </p:spPr>
        <p:txBody>
          <a:bodyPr wrap="square" lIns="0" tIns="0" rIns="0" bIns="0" rtlCol="0" anchor="t"/>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Annual mean of monthly NOAA ONI.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7</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5. Implementation</a:t>
            </a:r>
            <a:endParaRPr lang="en-US" sz="2400" dirty="0"/>
          </a:p>
        </p:txBody>
      </p:sp>
      <p:sp>
        <p:nvSpPr>
          <p:cNvPr id="9" name="Text 6"/>
          <p:cNvSpPr txBox="1"/>
          <p:nvPr/>
        </p:nvSpPr>
        <p:spPr>
          <a:xfrm>
            <a:off x="457200" y="1691640"/>
            <a:ext cx="5486400" cy="256032"/>
          </a:xfrm>
          <a:prstGeom prst="rect">
            <a:avLst/>
          </a:prstGeom>
          <a:noFill/>
          <a:ln/>
        </p:spPr>
        <p:txBody>
          <a:bodyPr wrap="square" lIns="0" tIns="0" rIns="0" bIns="0" rtlCol="0" anchor="t"/>
          <a:lstStyle/>
          <a:p>
            <a:pPr indent="0" marL="0">
              <a:buNone/>
            </a:pPr>
            <a:r>
              <a:rPr lang="en-US" sz="1300" b="1" dirty="0">
                <a:solidFill>
                  <a:srgbClr val="C00000"/>
                </a:solidFill>
                <a:latin typeface="Times New Roman" pitchFamily="34" charset="0"/>
                <a:ea typeface="Times New Roman" pitchFamily="34" charset="-122"/>
                <a:cs typeface="Times New Roman" pitchFamily="34" charset="-120"/>
              </a:rPr>
              <a:t>Reproducible pipeline (scripts/)</a:t>
            </a:r>
            <a:endParaRPr lang="en-US" sz="1300" dirty="0"/>
          </a:p>
        </p:txBody>
      </p:sp>
      <p:sp>
        <p:nvSpPr>
          <p:cNvPr id="10" name="Shape 7"/>
          <p:cNvSpPr/>
          <p:nvPr/>
        </p:nvSpPr>
        <p:spPr>
          <a:xfrm>
            <a:off x="457200" y="2011680"/>
            <a:ext cx="1234440" cy="548640"/>
          </a:xfrm>
          <a:prstGeom prst="roundRect">
            <a:avLst>
              <a:gd name="adj" fmla="val 10000"/>
            </a:avLst>
          </a:prstGeom>
          <a:solidFill>
            <a:srgbClr val="1F3864"/>
          </a:solidFill>
          <a:ln w="12700">
            <a:solidFill>
              <a:srgbClr val="1F3864"/>
            </a:solidFill>
            <a:prstDash val="solid"/>
          </a:ln>
        </p:spPr>
      </p:sp>
      <p:sp>
        <p:nvSpPr>
          <p:cNvPr id="11" name="Text 8"/>
          <p:cNvSpPr txBox="1"/>
          <p:nvPr/>
        </p:nvSpPr>
        <p:spPr>
          <a:xfrm>
            <a:off x="457200" y="2011680"/>
            <a:ext cx="12344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Download Data</a:t>
            </a:r>
            <a:endParaRPr lang="en-US" sz="1100" dirty="0"/>
          </a:p>
        </p:txBody>
      </p:sp>
      <p:sp>
        <p:nvSpPr>
          <p:cNvPr id="12" name="Text 9"/>
          <p:cNvSpPr txBox="1"/>
          <p:nvPr/>
        </p:nvSpPr>
        <p:spPr>
          <a:xfrm>
            <a:off x="411480" y="2615184"/>
            <a:ext cx="1325880" cy="182880"/>
          </a:xfrm>
          <a:prstGeom prst="rect">
            <a:avLst/>
          </a:prstGeom>
          <a:noFill/>
          <a:ln/>
        </p:spPr>
        <p:txBody>
          <a:bodyPr wrap="square" lIns="0" tIns="0" rIns="0" bIns="0" rtlCol="0" anchor="t"/>
          <a:lstStyle/>
          <a:p>
            <a:pPr algn="ctr" indent="0" marL="0">
              <a:buNone/>
            </a:pPr>
            <a:r>
              <a:rPr lang="en-US" sz="800" dirty="0">
                <a:solidFill>
                  <a:srgbClr val="555555"/>
                </a:solidFill>
                <a:latin typeface="Courier New" pitchFamily="34" charset="0"/>
                <a:ea typeface="Courier New" pitchFamily="34" charset="-122"/>
                <a:cs typeface="Courier New" pitchFamily="34" charset="-120"/>
              </a:rPr>
              <a:t>download_data.py</a:t>
            </a:r>
            <a:endParaRPr lang="en-US" sz="800" dirty="0"/>
          </a:p>
        </p:txBody>
      </p:sp>
      <p:sp>
        <p:nvSpPr>
          <p:cNvPr id="13" name="Shape 10"/>
          <p:cNvSpPr/>
          <p:nvPr/>
        </p:nvSpPr>
        <p:spPr>
          <a:xfrm>
            <a:off x="1709928" y="2212848"/>
            <a:ext cx="128016" cy="146304"/>
          </a:xfrm>
          <a:prstGeom prst="rightArrow">
            <a:avLst/>
          </a:prstGeom>
          <a:solidFill>
            <a:srgbClr val="C00000"/>
          </a:solidFill>
          <a:ln w="12700">
            <a:solidFill>
              <a:srgbClr val="C00000"/>
            </a:solidFill>
            <a:prstDash val="solid"/>
          </a:ln>
        </p:spPr>
      </p:sp>
      <p:sp>
        <p:nvSpPr>
          <p:cNvPr id="14" name="Shape 11"/>
          <p:cNvSpPr/>
          <p:nvPr/>
        </p:nvSpPr>
        <p:spPr>
          <a:xfrm>
            <a:off x="1856232" y="2011680"/>
            <a:ext cx="1234440" cy="548640"/>
          </a:xfrm>
          <a:prstGeom prst="roundRect">
            <a:avLst>
              <a:gd name="adj" fmla="val 10000"/>
            </a:avLst>
          </a:prstGeom>
          <a:solidFill>
            <a:srgbClr val="1F3864"/>
          </a:solidFill>
          <a:ln w="12700">
            <a:solidFill>
              <a:srgbClr val="1F3864"/>
            </a:solidFill>
            <a:prstDash val="solid"/>
          </a:ln>
        </p:spPr>
      </p:sp>
      <p:sp>
        <p:nvSpPr>
          <p:cNvPr id="15" name="Text 12"/>
          <p:cNvSpPr txBox="1"/>
          <p:nvPr/>
        </p:nvSpPr>
        <p:spPr>
          <a:xfrm>
            <a:off x="1856232" y="2011680"/>
            <a:ext cx="12344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Preprocess</a:t>
            </a:r>
            <a:endParaRPr lang="en-US" sz="1100" dirty="0"/>
          </a:p>
        </p:txBody>
      </p:sp>
      <p:sp>
        <p:nvSpPr>
          <p:cNvPr id="16" name="Text 13"/>
          <p:cNvSpPr txBox="1"/>
          <p:nvPr/>
        </p:nvSpPr>
        <p:spPr>
          <a:xfrm>
            <a:off x="1810512" y="2615184"/>
            <a:ext cx="1325880" cy="182880"/>
          </a:xfrm>
          <a:prstGeom prst="rect">
            <a:avLst/>
          </a:prstGeom>
          <a:noFill/>
          <a:ln/>
        </p:spPr>
        <p:txBody>
          <a:bodyPr wrap="square" lIns="0" tIns="0" rIns="0" bIns="0" rtlCol="0" anchor="t"/>
          <a:lstStyle/>
          <a:p>
            <a:pPr algn="ctr" indent="0" marL="0">
              <a:buNone/>
            </a:pPr>
            <a:r>
              <a:rPr lang="en-US" sz="800" dirty="0">
                <a:solidFill>
                  <a:srgbClr val="555555"/>
                </a:solidFill>
                <a:latin typeface="Courier New" pitchFamily="34" charset="0"/>
                <a:ea typeface="Courier New" pitchFamily="34" charset="-122"/>
                <a:cs typeface="Courier New" pitchFamily="34" charset="-120"/>
              </a:rPr>
              <a:t>preprocess_data.py</a:t>
            </a:r>
            <a:endParaRPr lang="en-US" sz="800" dirty="0"/>
          </a:p>
        </p:txBody>
      </p:sp>
      <p:sp>
        <p:nvSpPr>
          <p:cNvPr id="17" name="Shape 14"/>
          <p:cNvSpPr/>
          <p:nvPr/>
        </p:nvSpPr>
        <p:spPr>
          <a:xfrm>
            <a:off x="3108960" y="2212848"/>
            <a:ext cx="128016" cy="146304"/>
          </a:xfrm>
          <a:prstGeom prst="rightArrow">
            <a:avLst/>
          </a:prstGeom>
          <a:solidFill>
            <a:srgbClr val="C00000"/>
          </a:solidFill>
          <a:ln w="12700">
            <a:solidFill>
              <a:srgbClr val="C00000"/>
            </a:solidFill>
            <a:prstDash val="solid"/>
          </a:ln>
        </p:spPr>
      </p:sp>
      <p:sp>
        <p:nvSpPr>
          <p:cNvPr id="18" name="Shape 15"/>
          <p:cNvSpPr/>
          <p:nvPr/>
        </p:nvSpPr>
        <p:spPr>
          <a:xfrm>
            <a:off x="3255264" y="2011680"/>
            <a:ext cx="1234440" cy="548640"/>
          </a:xfrm>
          <a:prstGeom prst="roundRect">
            <a:avLst>
              <a:gd name="adj" fmla="val 10000"/>
            </a:avLst>
          </a:prstGeom>
          <a:solidFill>
            <a:srgbClr val="1F3864"/>
          </a:solidFill>
          <a:ln w="12700">
            <a:solidFill>
              <a:srgbClr val="1F3864"/>
            </a:solidFill>
            <a:prstDash val="solid"/>
          </a:ln>
        </p:spPr>
      </p:sp>
      <p:sp>
        <p:nvSpPr>
          <p:cNvPr id="19" name="Text 16"/>
          <p:cNvSpPr txBox="1"/>
          <p:nvPr/>
        </p:nvSpPr>
        <p:spPr>
          <a:xfrm>
            <a:off x="3255264" y="2011680"/>
            <a:ext cx="12344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Train 5 Models</a:t>
            </a:r>
            <a:endParaRPr lang="en-US" sz="1100" dirty="0"/>
          </a:p>
        </p:txBody>
      </p:sp>
      <p:sp>
        <p:nvSpPr>
          <p:cNvPr id="20" name="Text 17"/>
          <p:cNvSpPr txBox="1"/>
          <p:nvPr/>
        </p:nvSpPr>
        <p:spPr>
          <a:xfrm>
            <a:off x="3209544" y="2615184"/>
            <a:ext cx="1325880" cy="182880"/>
          </a:xfrm>
          <a:prstGeom prst="rect">
            <a:avLst/>
          </a:prstGeom>
          <a:noFill/>
          <a:ln/>
        </p:spPr>
        <p:txBody>
          <a:bodyPr wrap="square" lIns="0" tIns="0" rIns="0" bIns="0" rtlCol="0" anchor="t"/>
          <a:lstStyle/>
          <a:p>
            <a:pPr algn="ctr" indent="0" marL="0">
              <a:buNone/>
            </a:pPr>
            <a:r>
              <a:rPr lang="en-US" sz="800" dirty="0">
                <a:solidFill>
                  <a:srgbClr val="555555"/>
                </a:solidFill>
                <a:latin typeface="Courier New" pitchFamily="34" charset="0"/>
                <a:ea typeface="Courier New" pitchFamily="34" charset="-122"/>
                <a:cs typeface="Courier New" pitchFamily="34" charset="-120"/>
              </a:rPr>
              <a:t>train_models.py</a:t>
            </a:r>
            <a:endParaRPr lang="en-US" sz="800" dirty="0"/>
          </a:p>
        </p:txBody>
      </p:sp>
      <p:sp>
        <p:nvSpPr>
          <p:cNvPr id="21" name="Shape 18"/>
          <p:cNvSpPr/>
          <p:nvPr/>
        </p:nvSpPr>
        <p:spPr>
          <a:xfrm>
            <a:off x="4507992" y="2212848"/>
            <a:ext cx="128016" cy="146304"/>
          </a:xfrm>
          <a:prstGeom prst="rightArrow">
            <a:avLst/>
          </a:prstGeom>
          <a:solidFill>
            <a:srgbClr val="C00000"/>
          </a:solidFill>
          <a:ln w="12700">
            <a:solidFill>
              <a:srgbClr val="C00000"/>
            </a:solidFill>
            <a:prstDash val="solid"/>
          </a:ln>
        </p:spPr>
      </p:sp>
      <p:sp>
        <p:nvSpPr>
          <p:cNvPr id="22" name="Shape 19"/>
          <p:cNvSpPr/>
          <p:nvPr/>
        </p:nvSpPr>
        <p:spPr>
          <a:xfrm>
            <a:off x="4654296" y="2011680"/>
            <a:ext cx="1234440" cy="548640"/>
          </a:xfrm>
          <a:prstGeom prst="roundRect">
            <a:avLst>
              <a:gd name="adj" fmla="val 10000"/>
            </a:avLst>
          </a:prstGeom>
          <a:solidFill>
            <a:srgbClr val="1F3864"/>
          </a:solidFill>
          <a:ln w="12700">
            <a:solidFill>
              <a:srgbClr val="1F3864"/>
            </a:solidFill>
            <a:prstDash val="solid"/>
          </a:ln>
        </p:spPr>
      </p:sp>
      <p:sp>
        <p:nvSpPr>
          <p:cNvPr id="23" name="Text 20"/>
          <p:cNvSpPr txBox="1"/>
          <p:nvPr/>
        </p:nvSpPr>
        <p:spPr>
          <a:xfrm>
            <a:off x="4654296" y="2011680"/>
            <a:ext cx="12344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Evaluate</a:t>
            </a:r>
            <a:endParaRPr lang="en-US" sz="1100" dirty="0"/>
          </a:p>
        </p:txBody>
      </p:sp>
      <p:sp>
        <p:nvSpPr>
          <p:cNvPr id="24" name="Text 21"/>
          <p:cNvSpPr txBox="1"/>
          <p:nvPr/>
        </p:nvSpPr>
        <p:spPr>
          <a:xfrm>
            <a:off x="4608576" y="2615184"/>
            <a:ext cx="1325880" cy="182880"/>
          </a:xfrm>
          <a:prstGeom prst="rect">
            <a:avLst/>
          </a:prstGeom>
          <a:noFill/>
          <a:ln/>
        </p:spPr>
        <p:txBody>
          <a:bodyPr wrap="square" lIns="0" tIns="0" rIns="0" bIns="0" rtlCol="0" anchor="t"/>
          <a:lstStyle/>
          <a:p>
            <a:pPr algn="ctr" indent="0" marL="0">
              <a:buNone/>
            </a:pPr>
            <a:r>
              <a:rPr lang="en-US" sz="800" dirty="0">
                <a:solidFill>
                  <a:srgbClr val="555555"/>
                </a:solidFill>
                <a:latin typeface="Courier New" pitchFamily="34" charset="0"/>
                <a:ea typeface="Courier New" pitchFamily="34" charset="-122"/>
                <a:cs typeface="Courier New" pitchFamily="34" charset="-120"/>
              </a:rPr>
              <a:t>evaluate_models.py</a:t>
            </a:r>
            <a:endParaRPr lang="en-US" sz="800" dirty="0"/>
          </a:p>
        </p:txBody>
      </p:sp>
      <p:sp>
        <p:nvSpPr>
          <p:cNvPr id="25" name="Shape 22"/>
          <p:cNvSpPr/>
          <p:nvPr/>
        </p:nvSpPr>
        <p:spPr>
          <a:xfrm>
            <a:off x="5907024" y="2212848"/>
            <a:ext cx="128016" cy="146304"/>
          </a:xfrm>
          <a:prstGeom prst="rightArrow">
            <a:avLst/>
          </a:prstGeom>
          <a:solidFill>
            <a:srgbClr val="C00000"/>
          </a:solidFill>
          <a:ln w="12700">
            <a:solidFill>
              <a:srgbClr val="C00000"/>
            </a:solidFill>
            <a:prstDash val="solid"/>
          </a:ln>
        </p:spPr>
      </p:sp>
      <p:sp>
        <p:nvSpPr>
          <p:cNvPr id="26" name="Shape 23"/>
          <p:cNvSpPr/>
          <p:nvPr/>
        </p:nvSpPr>
        <p:spPr>
          <a:xfrm>
            <a:off x="6053328" y="2011680"/>
            <a:ext cx="1234440" cy="548640"/>
          </a:xfrm>
          <a:prstGeom prst="roundRect">
            <a:avLst>
              <a:gd name="adj" fmla="val 10000"/>
            </a:avLst>
          </a:prstGeom>
          <a:solidFill>
            <a:srgbClr val="1F3864"/>
          </a:solidFill>
          <a:ln w="12700">
            <a:solidFill>
              <a:srgbClr val="1F3864"/>
            </a:solidFill>
            <a:prstDash val="solid"/>
          </a:ln>
        </p:spPr>
      </p:sp>
      <p:sp>
        <p:nvSpPr>
          <p:cNvPr id="27" name="Text 24"/>
          <p:cNvSpPr txBox="1"/>
          <p:nvPr/>
        </p:nvSpPr>
        <p:spPr>
          <a:xfrm>
            <a:off x="6053328" y="2011680"/>
            <a:ext cx="12344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Predict</a:t>
            </a:r>
            <a:endParaRPr lang="en-US" sz="1100" dirty="0"/>
          </a:p>
        </p:txBody>
      </p:sp>
      <p:sp>
        <p:nvSpPr>
          <p:cNvPr id="28" name="Text 25"/>
          <p:cNvSpPr txBox="1"/>
          <p:nvPr/>
        </p:nvSpPr>
        <p:spPr>
          <a:xfrm>
            <a:off x="6007608" y="2615184"/>
            <a:ext cx="1325880" cy="182880"/>
          </a:xfrm>
          <a:prstGeom prst="rect">
            <a:avLst/>
          </a:prstGeom>
          <a:noFill/>
          <a:ln/>
        </p:spPr>
        <p:txBody>
          <a:bodyPr wrap="square" lIns="0" tIns="0" rIns="0" bIns="0" rtlCol="0" anchor="t"/>
          <a:lstStyle/>
          <a:p>
            <a:pPr algn="ctr" indent="0" marL="0">
              <a:buNone/>
            </a:pPr>
            <a:r>
              <a:rPr lang="en-US" sz="800" dirty="0">
                <a:solidFill>
                  <a:srgbClr val="555555"/>
                </a:solidFill>
                <a:latin typeface="Courier New" pitchFamily="34" charset="0"/>
                <a:ea typeface="Courier New" pitchFamily="34" charset="-122"/>
                <a:cs typeface="Courier New" pitchFamily="34" charset="-120"/>
              </a:rPr>
              <a:t>run_prediction.py</a:t>
            </a:r>
            <a:endParaRPr lang="en-US" sz="800" dirty="0"/>
          </a:p>
        </p:txBody>
      </p:sp>
      <p:sp>
        <p:nvSpPr>
          <p:cNvPr id="29" name="Shape 26"/>
          <p:cNvSpPr/>
          <p:nvPr/>
        </p:nvSpPr>
        <p:spPr>
          <a:xfrm>
            <a:off x="7306056" y="2212848"/>
            <a:ext cx="128016" cy="146304"/>
          </a:xfrm>
          <a:prstGeom prst="rightArrow">
            <a:avLst/>
          </a:prstGeom>
          <a:solidFill>
            <a:srgbClr val="C00000"/>
          </a:solidFill>
          <a:ln w="12700">
            <a:solidFill>
              <a:srgbClr val="C00000"/>
            </a:solidFill>
            <a:prstDash val="solid"/>
          </a:ln>
        </p:spPr>
      </p:sp>
      <p:sp>
        <p:nvSpPr>
          <p:cNvPr id="30" name="Shape 27"/>
          <p:cNvSpPr/>
          <p:nvPr/>
        </p:nvSpPr>
        <p:spPr>
          <a:xfrm>
            <a:off x="7452360" y="2011680"/>
            <a:ext cx="1234440" cy="548640"/>
          </a:xfrm>
          <a:prstGeom prst="roundRect">
            <a:avLst>
              <a:gd name="adj" fmla="val 10000"/>
            </a:avLst>
          </a:prstGeom>
          <a:solidFill>
            <a:srgbClr val="1F3864"/>
          </a:solidFill>
          <a:ln w="12700">
            <a:solidFill>
              <a:srgbClr val="1F3864"/>
            </a:solidFill>
            <a:prstDash val="solid"/>
          </a:ln>
        </p:spPr>
      </p:sp>
      <p:sp>
        <p:nvSpPr>
          <p:cNvPr id="31" name="Text 28"/>
          <p:cNvSpPr txBox="1"/>
          <p:nvPr/>
        </p:nvSpPr>
        <p:spPr>
          <a:xfrm>
            <a:off x="7452360" y="2011680"/>
            <a:ext cx="123444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System Test</a:t>
            </a:r>
            <a:endParaRPr lang="en-US" sz="1100" dirty="0"/>
          </a:p>
        </p:txBody>
      </p:sp>
      <p:sp>
        <p:nvSpPr>
          <p:cNvPr id="32" name="Text 29"/>
          <p:cNvSpPr txBox="1"/>
          <p:nvPr/>
        </p:nvSpPr>
        <p:spPr>
          <a:xfrm>
            <a:off x="7406640" y="2615184"/>
            <a:ext cx="1325880" cy="182880"/>
          </a:xfrm>
          <a:prstGeom prst="rect">
            <a:avLst/>
          </a:prstGeom>
          <a:noFill/>
          <a:ln/>
        </p:spPr>
        <p:txBody>
          <a:bodyPr wrap="square" lIns="0" tIns="0" rIns="0" bIns="0" rtlCol="0" anchor="t"/>
          <a:lstStyle/>
          <a:p>
            <a:pPr algn="ctr" indent="0" marL="0">
              <a:buNone/>
            </a:pPr>
            <a:r>
              <a:rPr lang="en-US" sz="800" dirty="0">
                <a:solidFill>
                  <a:srgbClr val="555555"/>
                </a:solidFill>
                <a:latin typeface="Courier New" pitchFamily="34" charset="0"/>
                <a:ea typeface="Courier New" pitchFamily="34" charset="-122"/>
                <a:cs typeface="Courier New" pitchFamily="34" charset="-120"/>
              </a:rPr>
              <a:t>test_system.py</a:t>
            </a:r>
            <a:endParaRPr lang="en-US" sz="800" dirty="0"/>
          </a:p>
        </p:txBody>
      </p:sp>
      <p:sp>
        <p:nvSpPr>
          <p:cNvPr id="33" name="Text 30"/>
          <p:cNvSpPr txBox="1"/>
          <p:nvPr/>
        </p:nvSpPr>
        <p:spPr>
          <a:xfrm>
            <a:off x="457200" y="3017520"/>
            <a:ext cx="4572000" cy="256032"/>
          </a:xfrm>
          <a:prstGeom prst="rect">
            <a:avLst/>
          </a:prstGeom>
          <a:noFill/>
          <a:ln/>
        </p:spPr>
        <p:txBody>
          <a:bodyPr wrap="square" lIns="0" tIns="0" rIns="0" bIns="0" rtlCol="0" anchor="t"/>
          <a:lstStyle/>
          <a:p>
            <a:pPr indent="0" marL="0">
              <a:buNone/>
            </a:pPr>
            <a:r>
              <a:rPr lang="en-US" sz="1300" b="1" dirty="0">
                <a:solidFill>
                  <a:srgbClr val="C00000"/>
                </a:solidFill>
                <a:latin typeface="Times New Roman" pitchFamily="34" charset="0"/>
                <a:ea typeface="Times New Roman" pitchFamily="34" charset="-122"/>
                <a:cs typeface="Times New Roman" pitchFamily="34" charset="-120"/>
              </a:rPr>
              <a:t>Tools &amp; Technologies</a:t>
            </a:r>
            <a:endParaRPr lang="en-US" sz="1300" dirty="0"/>
          </a:p>
        </p:txBody>
      </p:sp>
      <p:sp>
        <p:nvSpPr>
          <p:cNvPr id="34" name="Text 31"/>
          <p:cNvSpPr txBox="1"/>
          <p:nvPr/>
        </p:nvSpPr>
        <p:spPr>
          <a:xfrm>
            <a:off x="457200" y="3337560"/>
            <a:ext cx="4023360" cy="13716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12121"/>
                </a:solidFill>
                <a:latin typeface="Times New Roman" pitchFamily="34" charset="0"/>
                <a:ea typeface="Times New Roman" pitchFamily="34" charset="-122"/>
                <a:cs typeface="Times New Roman" pitchFamily="34" charset="-120"/>
              </a:rPr>
              <a:t>Language: Python 3.11+</a:t>
            </a:r>
            <a:endParaRPr lang="en-US" sz="1200" dirty="0"/>
          </a:p>
          <a:p>
            <a:pPr marL="177800" indent="-177800">
              <a:spcAft>
                <a:spcPts val="500"/>
              </a:spcAft>
              <a:buSzPct val="100000"/>
              <a:buChar char="•"/>
            </a:pPr>
            <a:r>
              <a:rPr lang="en-US" sz="1200" dirty="0">
                <a:solidFill>
                  <a:srgbClr val="212121"/>
                </a:solidFill>
                <a:latin typeface="Times New Roman" pitchFamily="34" charset="0"/>
                <a:ea typeface="Times New Roman" pitchFamily="34" charset="-122"/>
                <a:cs typeface="Times New Roman" pitchFamily="34" charset="-120"/>
              </a:rPr>
              <a:t>Data &amp; ML: Pandas, NumPy, scikit-learn, XGBoost</a:t>
            </a:r>
            <a:endParaRPr lang="en-US" sz="1200" dirty="0"/>
          </a:p>
          <a:p>
            <a:pPr marL="177800" indent="-177800">
              <a:spcAft>
                <a:spcPts val="500"/>
              </a:spcAft>
              <a:buSzPct val="100000"/>
              <a:buChar char="•"/>
            </a:pPr>
            <a:r>
              <a:rPr lang="en-US" sz="1200" dirty="0">
                <a:solidFill>
                  <a:srgbClr val="212121"/>
                </a:solidFill>
                <a:latin typeface="Times New Roman" pitchFamily="34" charset="0"/>
                <a:ea typeface="Times New Roman" pitchFamily="34" charset="-122"/>
                <a:cs typeface="Times New Roman" pitchFamily="34" charset="-120"/>
              </a:rPr>
              <a:t>Backend: FastAPI, Pydantic v2</a:t>
            </a:r>
            <a:endParaRPr lang="en-US" sz="1200" dirty="0"/>
          </a:p>
          <a:p>
            <a:pPr marL="177800" indent="-177800">
              <a:spcAft>
                <a:spcPts val="500"/>
              </a:spcAft>
              <a:buSzPct val="100000"/>
              <a:buChar char="•"/>
            </a:pPr>
            <a:r>
              <a:rPr lang="en-US" sz="1200" dirty="0">
                <a:solidFill>
                  <a:srgbClr val="212121"/>
                </a:solidFill>
                <a:latin typeface="Times New Roman" pitchFamily="34" charset="0"/>
                <a:ea typeface="Times New Roman" pitchFamily="34" charset="-122"/>
                <a:cs typeface="Times New Roman" pitchFamily="34" charset="-120"/>
              </a:rPr>
              <a:t>Model artifacts: joblib (versioned)</a:t>
            </a:r>
            <a:endParaRPr lang="en-US" sz="1200" dirty="0"/>
          </a:p>
        </p:txBody>
      </p:sp>
      <p:sp>
        <p:nvSpPr>
          <p:cNvPr id="35" name="Text 32"/>
          <p:cNvSpPr txBox="1"/>
          <p:nvPr/>
        </p:nvSpPr>
        <p:spPr>
          <a:xfrm>
            <a:off x="4663440" y="3337560"/>
            <a:ext cx="4023360" cy="13716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12121"/>
                </a:solidFill>
                <a:latin typeface="Times New Roman" pitchFamily="34" charset="0"/>
                <a:ea typeface="Times New Roman" pitchFamily="34" charset="-122"/>
                <a:cs typeface="Times New Roman" pitchFamily="34" charset="-120"/>
              </a:rPr>
              <a:t>Frontend: Next.js 14 (App Router), React, Recharts</a:t>
            </a:r>
            <a:endParaRPr lang="en-US" sz="1200" dirty="0"/>
          </a:p>
          <a:p>
            <a:pPr marL="177800" indent="-177800">
              <a:spcAft>
                <a:spcPts val="500"/>
              </a:spcAft>
              <a:buSzPct val="100000"/>
              <a:buChar char="•"/>
            </a:pPr>
            <a:r>
              <a:rPr lang="en-US" sz="1200" dirty="0">
                <a:solidFill>
                  <a:srgbClr val="212121"/>
                </a:solidFill>
                <a:latin typeface="Times New Roman" pitchFamily="34" charset="0"/>
                <a:ea typeface="Times New Roman" pitchFamily="34" charset="-122"/>
                <a:cs typeface="Times New Roman" pitchFamily="34" charset="-120"/>
              </a:rPr>
              <a:t>Storage: SQLite (local) or Firebase Firestore + Storage</a:t>
            </a:r>
            <a:endParaRPr lang="en-US" sz="1200" dirty="0"/>
          </a:p>
          <a:p>
            <a:pPr marL="177800" indent="-177800">
              <a:spcAft>
                <a:spcPts val="500"/>
              </a:spcAft>
              <a:buSzPct val="100000"/>
              <a:buChar char="•"/>
            </a:pPr>
            <a:r>
              <a:rPr lang="en-US" sz="1200" dirty="0">
                <a:solidFill>
                  <a:srgbClr val="212121"/>
                </a:solidFill>
                <a:latin typeface="Times New Roman" pitchFamily="34" charset="0"/>
                <a:ea typeface="Times New Roman" pitchFamily="34" charset="-122"/>
                <a:cs typeface="Times New Roman" pitchFamily="34" charset="-120"/>
              </a:rPr>
              <a:t>Demo: run locally</a:t>
            </a:r>
            <a:endParaRPr lang="en-US" sz="1200" dirty="0"/>
          </a:p>
          <a:p>
            <a:pPr marL="177800" indent="-177800">
              <a:spcAft>
                <a:spcPts val="500"/>
              </a:spcAft>
              <a:buSzPct val="100000"/>
              <a:buChar char="•"/>
            </a:pPr>
            <a:r>
              <a:rPr lang="en-US" sz="1200" dirty="0">
                <a:solidFill>
                  <a:srgbClr val="212121"/>
                </a:solidFill>
                <a:latin typeface="Times New Roman" pitchFamily="34" charset="0"/>
                <a:ea typeface="Times New Roman" pitchFamily="34" charset="-122"/>
                <a:cs typeface="Times New Roman" pitchFamily="34" charset="-120"/>
              </a:rPr>
              <a:t>Tools: VS Code, Git / GitHub</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8</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6. System Architecture</a:t>
            </a:r>
            <a:endParaRPr lang="en-US" sz="2400" dirty="0"/>
          </a:p>
        </p:txBody>
      </p:sp>
      <p:sp>
        <p:nvSpPr>
          <p:cNvPr id="9" name="Shape 6"/>
          <p:cNvSpPr/>
          <p:nvPr/>
        </p:nvSpPr>
        <p:spPr>
          <a:xfrm>
            <a:off x="457200" y="1719072"/>
            <a:ext cx="8229600" cy="896112"/>
          </a:xfrm>
          <a:prstGeom prst="roundRect">
            <a:avLst>
              <a:gd name="adj" fmla="val 6122"/>
            </a:avLst>
          </a:prstGeom>
          <a:solidFill>
            <a:srgbClr val="F1F3F8"/>
          </a:solidFill>
          <a:ln w="12700">
            <a:solidFill>
              <a:srgbClr val="F1F3F8"/>
            </a:solidFill>
            <a:prstDash val="solid"/>
          </a:ln>
        </p:spPr>
      </p:sp>
      <p:sp>
        <p:nvSpPr>
          <p:cNvPr id="10" name="Text 7"/>
          <p:cNvSpPr txBox="1"/>
          <p:nvPr/>
        </p:nvSpPr>
        <p:spPr>
          <a:xfrm>
            <a:off x="594360" y="1764792"/>
            <a:ext cx="7315200" cy="256032"/>
          </a:xfrm>
          <a:prstGeom prst="rect">
            <a:avLst/>
          </a:prstGeom>
          <a:noFill/>
          <a:ln/>
        </p:spPr>
        <p:txBody>
          <a:bodyPr wrap="square" lIns="0" tIns="0" rIns="0" bIns="0" rtlCol="0" anchor="t"/>
          <a:lstStyle/>
          <a:p>
            <a:pPr indent="0" marL="0">
              <a:buNone/>
            </a:pPr>
            <a:r>
              <a:rPr lang="en-US" sz="1250" b="1" dirty="0">
                <a:solidFill>
                  <a:srgbClr val="C00000"/>
                </a:solidFill>
                <a:latin typeface="Times New Roman" pitchFamily="34" charset="0"/>
                <a:ea typeface="Times New Roman" pitchFamily="34" charset="-122"/>
                <a:cs typeface="Times New Roman" pitchFamily="34" charset="-120"/>
              </a:rPr>
              <a:t>Presentation layer: Next.js 14 App Router (React)</a:t>
            </a:r>
            <a:endParaRPr lang="en-US" sz="1250" dirty="0"/>
          </a:p>
        </p:txBody>
      </p:sp>
      <p:sp>
        <p:nvSpPr>
          <p:cNvPr id="11" name="Shape 8"/>
          <p:cNvSpPr/>
          <p:nvPr/>
        </p:nvSpPr>
        <p:spPr>
          <a:xfrm>
            <a:off x="594360" y="2148840"/>
            <a:ext cx="1225296" cy="292608"/>
          </a:xfrm>
          <a:prstGeom prst="roundRect">
            <a:avLst>
              <a:gd name="adj" fmla="val 15625"/>
            </a:avLst>
          </a:prstGeom>
          <a:solidFill>
            <a:srgbClr val="FFFFFF"/>
          </a:solidFill>
          <a:ln w="9525">
            <a:solidFill>
              <a:srgbClr val="1F3864"/>
            </a:solidFill>
            <a:prstDash val="solid"/>
          </a:ln>
        </p:spPr>
      </p:sp>
      <p:sp>
        <p:nvSpPr>
          <p:cNvPr id="12" name="Text 9"/>
          <p:cNvSpPr txBox="1"/>
          <p:nvPr/>
        </p:nvSpPr>
        <p:spPr>
          <a:xfrm>
            <a:off x="594360" y="2148840"/>
            <a:ext cx="1225296"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Dashboard</a:t>
            </a:r>
            <a:endParaRPr lang="en-US" sz="1000" dirty="0"/>
          </a:p>
        </p:txBody>
      </p:sp>
      <p:sp>
        <p:nvSpPr>
          <p:cNvPr id="13" name="Shape 10"/>
          <p:cNvSpPr/>
          <p:nvPr/>
        </p:nvSpPr>
        <p:spPr>
          <a:xfrm>
            <a:off x="1911096" y="2148840"/>
            <a:ext cx="1225296" cy="292608"/>
          </a:xfrm>
          <a:prstGeom prst="roundRect">
            <a:avLst>
              <a:gd name="adj" fmla="val 15625"/>
            </a:avLst>
          </a:prstGeom>
          <a:solidFill>
            <a:srgbClr val="FFFFFF"/>
          </a:solidFill>
          <a:ln w="9525">
            <a:solidFill>
              <a:srgbClr val="1F3864"/>
            </a:solidFill>
            <a:prstDash val="solid"/>
          </a:ln>
        </p:spPr>
      </p:sp>
      <p:sp>
        <p:nvSpPr>
          <p:cNvPr id="14" name="Text 11"/>
          <p:cNvSpPr txBox="1"/>
          <p:nvPr/>
        </p:nvSpPr>
        <p:spPr>
          <a:xfrm>
            <a:off x="1911096" y="2148840"/>
            <a:ext cx="1225296"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Scenario Lab</a:t>
            </a:r>
            <a:endParaRPr lang="en-US" sz="1000" dirty="0"/>
          </a:p>
        </p:txBody>
      </p:sp>
      <p:sp>
        <p:nvSpPr>
          <p:cNvPr id="15" name="Shape 12"/>
          <p:cNvSpPr/>
          <p:nvPr/>
        </p:nvSpPr>
        <p:spPr>
          <a:xfrm>
            <a:off x="3227832" y="2148840"/>
            <a:ext cx="1225296" cy="292608"/>
          </a:xfrm>
          <a:prstGeom prst="roundRect">
            <a:avLst>
              <a:gd name="adj" fmla="val 15625"/>
            </a:avLst>
          </a:prstGeom>
          <a:solidFill>
            <a:srgbClr val="FFFFFF"/>
          </a:solidFill>
          <a:ln w="9525">
            <a:solidFill>
              <a:srgbClr val="1F3864"/>
            </a:solidFill>
            <a:prstDash val="solid"/>
          </a:ln>
        </p:spPr>
      </p:sp>
      <p:sp>
        <p:nvSpPr>
          <p:cNvPr id="16" name="Text 13"/>
          <p:cNvSpPr txBox="1"/>
          <p:nvPr/>
        </p:nvSpPr>
        <p:spPr>
          <a:xfrm>
            <a:off x="3227832" y="2148840"/>
            <a:ext cx="1225296"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Model Benchmark</a:t>
            </a:r>
            <a:endParaRPr lang="en-US" sz="1000" dirty="0"/>
          </a:p>
        </p:txBody>
      </p:sp>
      <p:sp>
        <p:nvSpPr>
          <p:cNvPr id="17" name="Shape 14"/>
          <p:cNvSpPr/>
          <p:nvPr/>
        </p:nvSpPr>
        <p:spPr>
          <a:xfrm>
            <a:off x="4544568" y="2148840"/>
            <a:ext cx="1225296" cy="292608"/>
          </a:xfrm>
          <a:prstGeom prst="roundRect">
            <a:avLst>
              <a:gd name="adj" fmla="val 15625"/>
            </a:avLst>
          </a:prstGeom>
          <a:solidFill>
            <a:srgbClr val="FFFFFF"/>
          </a:solidFill>
          <a:ln w="9525">
            <a:solidFill>
              <a:srgbClr val="1F3864"/>
            </a:solidFill>
            <a:prstDash val="solid"/>
          </a:ln>
        </p:spPr>
      </p:sp>
      <p:sp>
        <p:nvSpPr>
          <p:cNvPr id="18" name="Text 15"/>
          <p:cNvSpPr txBox="1"/>
          <p:nvPr/>
        </p:nvSpPr>
        <p:spPr>
          <a:xfrm>
            <a:off x="4544568" y="2148840"/>
            <a:ext cx="1225296"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Project Search</a:t>
            </a:r>
            <a:endParaRPr lang="en-US" sz="1000" dirty="0"/>
          </a:p>
        </p:txBody>
      </p:sp>
      <p:sp>
        <p:nvSpPr>
          <p:cNvPr id="19" name="Shape 16"/>
          <p:cNvSpPr/>
          <p:nvPr/>
        </p:nvSpPr>
        <p:spPr>
          <a:xfrm>
            <a:off x="5861304" y="2148840"/>
            <a:ext cx="1225296" cy="292608"/>
          </a:xfrm>
          <a:prstGeom prst="roundRect">
            <a:avLst>
              <a:gd name="adj" fmla="val 15625"/>
            </a:avLst>
          </a:prstGeom>
          <a:solidFill>
            <a:srgbClr val="FFFFFF"/>
          </a:solidFill>
          <a:ln w="9525">
            <a:solidFill>
              <a:srgbClr val="1F3864"/>
            </a:solidFill>
            <a:prstDash val="solid"/>
          </a:ln>
        </p:spPr>
      </p:sp>
      <p:sp>
        <p:nvSpPr>
          <p:cNvPr id="20" name="Text 17"/>
          <p:cNvSpPr txBox="1"/>
          <p:nvPr/>
        </p:nvSpPr>
        <p:spPr>
          <a:xfrm>
            <a:off x="5861304" y="2148840"/>
            <a:ext cx="1225296"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State Profiles</a:t>
            </a:r>
            <a:endParaRPr lang="en-US" sz="1000" dirty="0"/>
          </a:p>
        </p:txBody>
      </p:sp>
      <p:sp>
        <p:nvSpPr>
          <p:cNvPr id="21" name="Shape 18"/>
          <p:cNvSpPr/>
          <p:nvPr/>
        </p:nvSpPr>
        <p:spPr>
          <a:xfrm>
            <a:off x="7178040" y="2148840"/>
            <a:ext cx="1225296" cy="292608"/>
          </a:xfrm>
          <a:prstGeom prst="roundRect">
            <a:avLst>
              <a:gd name="adj" fmla="val 15625"/>
            </a:avLst>
          </a:prstGeom>
          <a:solidFill>
            <a:srgbClr val="FFFFFF"/>
          </a:solidFill>
          <a:ln w="9525">
            <a:solidFill>
              <a:srgbClr val="1F3864"/>
            </a:solidFill>
            <a:prstDash val="solid"/>
          </a:ln>
        </p:spPr>
      </p:sp>
      <p:sp>
        <p:nvSpPr>
          <p:cNvPr id="22" name="Text 19"/>
          <p:cNvSpPr txBox="1"/>
          <p:nvPr/>
        </p:nvSpPr>
        <p:spPr>
          <a:xfrm>
            <a:off x="7178040" y="2148840"/>
            <a:ext cx="1225296"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Data &amp; Export</a:t>
            </a:r>
            <a:endParaRPr lang="en-US" sz="1000" dirty="0"/>
          </a:p>
        </p:txBody>
      </p:sp>
      <p:sp>
        <p:nvSpPr>
          <p:cNvPr id="23" name="Shape 20"/>
          <p:cNvSpPr/>
          <p:nvPr/>
        </p:nvSpPr>
        <p:spPr>
          <a:xfrm>
            <a:off x="4480560" y="2651760"/>
            <a:ext cx="182880" cy="201168"/>
          </a:xfrm>
          <a:prstGeom prst="downArrow">
            <a:avLst/>
          </a:prstGeom>
          <a:solidFill>
            <a:srgbClr val="C00000"/>
          </a:solidFill>
          <a:ln w="12700">
            <a:solidFill>
              <a:srgbClr val="C00000"/>
            </a:solidFill>
            <a:prstDash val="solid"/>
          </a:ln>
        </p:spPr>
      </p:sp>
      <p:sp>
        <p:nvSpPr>
          <p:cNvPr id="24" name="Text 21"/>
          <p:cNvSpPr txBox="1"/>
          <p:nvPr/>
        </p:nvSpPr>
        <p:spPr>
          <a:xfrm>
            <a:off x="4754880" y="2651760"/>
            <a:ext cx="1828800" cy="201168"/>
          </a:xfrm>
          <a:prstGeom prst="rect">
            <a:avLst/>
          </a:prstGeom>
          <a:noFill/>
          <a:ln/>
        </p:spPr>
        <p:txBody>
          <a:bodyPr wrap="square" lIns="0" tIns="0" rIns="0" bIns="0" rtlCol="0" anchor="ctr"/>
          <a:lstStyle/>
          <a:p>
            <a:pPr indent="0" marL="0">
              <a:buNone/>
            </a:pPr>
            <a:r>
              <a:rPr lang="en-US" sz="900" i="1" dirty="0">
                <a:solidFill>
                  <a:srgbClr val="555555"/>
                </a:solidFill>
                <a:latin typeface="Times New Roman" pitchFamily="34" charset="0"/>
                <a:ea typeface="Times New Roman" pitchFamily="34" charset="-122"/>
                <a:cs typeface="Times New Roman" pitchFamily="34" charset="-120"/>
              </a:rPr>
              <a:t>JSON REST API</a:t>
            </a:r>
            <a:endParaRPr lang="en-US" sz="900" dirty="0"/>
          </a:p>
        </p:txBody>
      </p:sp>
      <p:sp>
        <p:nvSpPr>
          <p:cNvPr id="25" name="Shape 22"/>
          <p:cNvSpPr/>
          <p:nvPr/>
        </p:nvSpPr>
        <p:spPr>
          <a:xfrm>
            <a:off x="457200" y="2889504"/>
            <a:ext cx="8229600" cy="896112"/>
          </a:xfrm>
          <a:prstGeom prst="roundRect">
            <a:avLst>
              <a:gd name="adj" fmla="val 6122"/>
            </a:avLst>
          </a:prstGeom>
          <a:solidFill>
            <a:srgbClr val="F1F3F8"/>
          </a:solidFill>
          <a:ln w="12700">
            <a:solidFill>
              <a:srgbClr val="F1F3F8"/>
            </a:solidFill>
            <a:prstDash val="solid"/>
          </a:ln>
        </p:spPr>
      </p:sp>
      <p:sp>
        <p:nvSpPr>
          <p:cNvPr id="26" name="Text 23"/>
          <p:cNvSpPr txBox="1"/>
          <p:nvPr/>
        </p:nvSpPr>
        <p:spPr>
          <a:xfrm>
            <a:off x="594360" y="2935224"/>
            <a:ext cx="7315200" cy="256032"/>
          </a:xfrm>
          <a:prstGeom prst="rect">
            <a:avLst/>
          </a:prstGeom>
          <a:noFill/>
          <a:ln/>
        </p:spPr>
        <p:txBody>
          <a:bodyPr wrap="square" lIns="0" tIns="0" rIns="0" bIns="0" rtlCol="0" anchor="t"/>
          <a:lstStyle/>
          <a:p>
            <a:pPr indent="0" marL="0">
              <a:buNone/>
            </a:pPr>
            <a:r>
              <a:rPr lang="en-US" sz="1250" b="1" dirty="0">
                <a:solidFill>
                  <a:srgbClr val="C00000"/>
                </a:solidFill>
                <a:latin typeface="Times New Roman" pitchFamily="34" charset="0"/>
                <a:ea typeface="Times New Roman" pitchFamily="34" charset="-122"/>
                <a:cs typeface="Times New Roman" pitchFamily="34" charset="-120"/>
              </a:rPr>
              <a:t>Application layer: FastAPI Python backend</a:t>
            </a:r>
            <a:endParaRPr lang="en-US" sz="1250" dirty="0"/>
          </a:p>
        </p:txBody>
      </p:sp>
      <p:sp>
        <p:nvSpPr>
          <p:cNvPr id="27" name="Shape 24"/>
          <p:cNvSpPr/>
          <p:nvPr/>
        </p:nvSpPr>
        <p:spPr>
          <a:xfrm>
            <a:off x="594360" y="3319272"/>
            <a:ext cx="1901952" cy="292608"/>
          </a:xfrm>
          <a:prstGeom prst="roundRect">
            <a:avLst>
              <a:gd name="adj" fmla="val 15625"/>
            </a:avLst>
          </a:prstGeom>
          <a:solidFill>
            <a:srgbClr val="FFFFFF"/>
          </a:solidFill>
          <a:ln w="9525">
            <a:solidFill>
              <a:srgbClr val="1F3864"/>
            </a:solidFill>
            <a:prstDash val="solid"/>
          </a:ln>
        </p:spPr>
      </p:sp>
      <p:sp>
        <p:nvSpPr>
          <p:cNvPr id="28" name="Text 25"/>
          <p:cNvSpPr txBox="1"/>
          <p:nvPr/>
        </p:nvSpPr>
        <p:spPr>
          <a:xfrm>
            <a:off x="594360" y="3319272"/>
            <a:ext cx="1901952"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Model training &amp; evaluation</a:t>
            </a:r>
            <a:endParaRPr lang="en-US" sz="1000" dirty="0"/>
          </a:p>
        </p:txBody>
      </p:sp>
      <p:sp>
        <p:nvSpPr>
          <p:cNvPr id="29" name="Shape 26"/>
          <p:cNvSpPr/>
          <p:nvPr/>
        </p:nvSpPr>
        <p:spPr>
          <a:xfrm>
            <a:off x="2587752" y="3319272"/>
            <a:ext cx="1901952" cy="292608"/>
          </a:xfrm>
          <a:prstGeom prst="roundRect">
            <a:avLst>
              <a:gd name="adj" fmla="val 15625"/>
            </a:avLst>
          </a:prstGeom>
          <a:solidFill>
            <a:srgbClr val="FFFFFF"/>
          </a:solidFill>
          <a:ln w="9525">
            <a:solidFill>
              <a:srgbClr val="1F3864"/>
            </a:solidFill>
            <a:prstDash val="solid"/>
          </a:ln>
        </p:spPr>
      </p:sp>
      <p:sp>
        <p:nvSpPr>
          <p:cNvPr id="30" name="Text 27"/>
          <p:cNvSpPr txBox="1"/>
          <p:nvPr/>
        </p:nvSpPr>
        <p:spPr>
          <a:xfrm>
            <a:off x="2587752" y="3319272"/>
            <a:ext cx="1901952"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Scenario simulation engine</a:t>
            </a:r>
            <a:endParaRPr lang="en-US" sz="1000" dirty="0"/>
          </a:p>
        </p:txBody>
      </p:sp>
      <p:sp>
        <p:nvSpPr>
          <p:cNvPr id="31" name="Shape 28"/>
          <p:cNvSpPr/>
          <p:nvPr/>
        </p:nvSpPr>
        <p:spPr>
          <a:xfrm>
            <a:off x="4581144" y="3319272"/>
            <a:ext cx="1901952" cy="292608"/>
          </a:xfrm>
          <a:prstGeom prst="roundRect">
            <a:avLst>
              <a:gd name="adj" fmla="val 15625"/>
            </a:avLst>
          </a:prstGeom>
          <a:solidFill>
            <a:srgbClr val="FFFFFF"/>
          </a:solidFill>
          <a:ln w="9525">
            <a:solidFill>
              <a:srgbClr val="1F3864"/>
            </a:solidFill>
            <a:prstDash val="solid"/>
          </a:ln>
        </p:spPr>
      </p:sp>
      <p:sp>
        <p:nvSpPr>
          <p:cNvPr id="32" name="Text 29"/>
          <p:cNvSpPr txBox="1"/>
          <p:nvPr/>
        </p:nvSpPr>
        <p:spPr>
          <a:xfrm>
            <a:off x="4581144" y="3319272"/>
            <a:ext cx="1901952"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Keyword search service</a:t>
            </a:r>
            <a:endParaRPr lang="en-US" sz="1000" dirty="0"/>
          </a:p>
        </p:txBody>
      </p:sp>
      <p:sp>
        <p:nvSpPr>
          <p:cNvPr id="33" name="Shape 30"/>
          <p:cNvSpPr/>
          <p:nvPr/>
        </p:nvSpPr>
        <p:spPr>
          <a:xfrm>
            <a:off x="6574536" y="3319272"/>
            <a:ext cx="1901952" cy="292608"/>
          </a:xfrm>
          <a:prstGeom prst="roundRect">
            <a:avLst>
              <a:gd name="adj" fmla="val 15625"/>
            </a:avLst>
          </a:prstGeom>
          <a:solidFill>
            <a:srgbClr val="FFFFFF"/>
          </a:solidFill>
          <a:ln w="9525">
            <a:solidFill>
              <a:srgbClr val="1F3864"/>
            </a:solidFill>
            <a:prstDash val="solid"/>
          </a:ln>
        </p:spPr>
      </p:sp>
      <p:sp>
        <p:nvSpPr>
          <p:cNvPr id="34" name="Text 31"/>
          <p:cNvSpPr txBox="1"/>
          <p:nvPr/>
        </p:nvSpPr>
        <p:spPr>
          <a:xfrm>
            <a:off x="6574536" y="3319272"/>
            <a:ext cx="1901952" cy="292608"/>
          </a:xfrm>
          <a:prstGeom prst="rect">
            <a:avLst/>
          </a:prstGeom>
          <a:noFill/>
          <a:ln/>
        </p:spPr>
        <p:txBody>
          <a:bodyPr wrap="square" lIns="0" tIns="0" rIns="0" bIns="0" rtlCol="0" anchor="ctr"/>
          <a:lstStyle/>
          <a:p>
            <a:pPr algn="ctr" indent="0" marL="0">
              <a:buNone/>
            </a:pPr>
            <a:r>
              <a:rPr lang="en-US" sz="1000" b="1" dirty="0">
                <a:solidFill>
                  <a:srgbClr val="1F3864"/>
                </a:solidFill>
                <a:latin typeface="Times New Roman" pitchFamily="34" charset="0"/>
                <a:ea typeface="Times New Roman" pitchFamily="34" charset="-122"/>
                <a:cs typeface="Times New Roman" pitchFamily="34" charset="-120"/>
              </a:rPr>
              <a:t>CSV / JSON exporters</a:t>
            </a:r>
            <a:endParaRPr lang="en-US" sz="1000" dirty="0"/>
          </a:p>
        </p:txBody>
      </p:sp>
      <p:sp>
        <p:nvSpPr>
          <p:cNvPr id="35" name="Shape 32"/>
          <p:cNvSpPr/>
          <p:nvPr/>
        </p:nvSpPr>
        <p:spPr>
          <a:xfrm>
            <a:off x="4480560" y="3822192"/>
            <a:ext cx="182880" cy="182880"/>
          </a:xfrm>
          <a:prstGeom prst="downArrow">
            <a:avLst/>
          </a:prstGeom>
          <a:solidFill>
            <a:srgbClr val="C00000"/>
          </a:solidFill>
          <a:ln w="12700">
            <a:solidFill>
              <a:srgbClr val="C00000"/>
            </a:solidFill>
            <a:prstDash val="solid"/>
          </a:ln>
        </p:spPr>
      </p:sp>
      <p:sp>
        <p:nvSpPr>
          <p:cNvPr id="36" name="Shape 33"/>
          <p:cNvSpPr/>
          <p:nvPr/>
        </p:nvSpPr>
        <p:spPr>
          <a:xfrm>
            <a:off x="457200" y="4041648"/>
            <a:ext cx="3840480" cy="658368"/>
          </a:xfrm>
          <a:prstGeom prst="roundRect">
            <a:avLst>
              <a:gd name="adj" fmla="val 8333"/>
            </a:avLst>
          </a:prstGeom>
          <a:solidFill>
            <a:srgbClr val="1F3864"/>
          </a:solidFill>
          <a:ln w="12700">
            <a:solidFill>
              <a:srgbClr val="1F3864"/>
            </a:solidFill>
            <a:prstDash val="solid"/>
          </a:ln>
        </p:spPr>
      </p:sp>
      <p:sp>
        <p:nvSpPr>
          <p:cNvPr id="37" name="Text 34"/>
          <p:cNvSpPr txBox="1"/>
          <p:nvPr/>
        </p:nvSpPr>
        <p:spPr>
          <a:xfrm>
            <a:off x="457200" y="4041648"/>
            <a:ext cx="3840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SQLite (local)</a:t>
            </a:r>
            <a:endParaRPr lang="en-US" sz="1200" dirty="0"/>
          </a:p>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Zero-config storage for local runs</a:t>
            </a:r>
            <a:endParaRPr lang="en-US" sz="1200" dirty="0"/>
          </a:p>
        </p:txBody>
      </p:sp>
      <p:sp>
        <p:nvSpPr>
          <p:cNvPr id="38" name="Text 35"/>
          <p:cNvSpPr txBox="1"/>
          <p:nvPr/>
        </p:nvSpPr>
        <p:spPr>
          <a:xfrm>
            <a:off x="4297680" y="4041648"/>
            <a:ext cx="548640" cy="658368"/>
          </a:xfrm>
          <a:prstGeom prst="rect">
            <a:avLst/>
          </a:prstGeom>
          <a:noFill/>
          <a:ln/>
        </p:spPr>
        <p:txBody>
          <a:bodyPr wrap="square" lIns="0" tIns="0" rIns="0" bIns="0" rtlCol="0" anchor="ctr"/>
          <a:lstStyle/>
          <a:p>
            <a:pPr algn="ctr" indent="0" marL="0">
              <a:buNone/>
            </a:pPr>
            <a:r>
              <a:rPr lang="en-US" sz="1200" b="1" dirty="0">
                <a:solidFill>
                  <a:srgbClr val="C00000"/>
                </a:solidFill>
                <a:latin typeface="Times New Roman" pitchFamily="34" charset="0"/>
                <a:ea typeface="Times New Roman" pitchFamily="34" charset="-122"/>
                <a:cs typeface="Times New Roman" pitchFamily="34" charset="-120"/>
              </a:rPr>
              <a:t>OR</a:t>
            </a:r>
            <a:endParaRPr lang="en-US" sz="1200" dirty="0"/>
          </a:p>
        </p:txBody>
      </p:sp>
      <p:sp>
        <p:nvSpPr>
          <p:cNvPr id="39" name="Shape 36"/>
          <p:cNvSpPr/>
          <p:nvPr/>
        </p:nvSpPr>
        <p:spPr>
          <a:xfrm>
            <a:off x="4846320" y="4041648"/>
            <a:ext cx="3840480" cy="658368"/>
          </a:xfrm>
          <a:prstGeom prst="roundRect">
            <a:avLst>
              <a:gd name="adj" fmla="val 8333"/>
            </a:avLst>
          </a:prstGeom>
          <a:solidFill>
            <a:srgbClr val="1F3864"/>
          </a:solidFill>
          <a:ln w="12700">
            <a:solidFill>
              <a:srgbClr val="1F3864"/>
            </a:solidFill>
            <a:prstDash val="solid"/>
          </a:ln>
        </p:spPr>
      </p:sp>
      <p:sp>
        <p:nvSpPr>
          <p:cNvPr id="40" name="Text 37"/>
          <p:cNvSpPr txBox="1"/>
          <p:nvPr/>
        </p:nvSpPr>
        <p:spPr>
          <a:xfrm>
            <a:off x="4846320" y="4041648"/>
            <a:ext cx="3840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Firebase Firestore + Storage</a:t>
            </a:r>
            <a:endParaRPr lang="en-US" sz="1200" dirty="0"/>
          </a:p>
          <a:p>
            <a:pPr algn="ctr" indent="0" marL="0">
              <a:buNone/>
            </a:pPr>
            <a:r>
              <a:rPr lang="en-US" sz="1000" dirty="0">
                <a:solidFill>
                  <a:srgbClr val="FFFFFF"/>
                </a:solidFill>
                <a:latin typeface="Times New Roman" pitchFamily="34" charset="0"/>
                <a:ea typeface="Times New Roman" pitchFamily="34" charset="-122"/>
                <a:cs typeface="Times New Roman" pitchFamily="34" charset="-120"/>
              </a:rPr>
              <a:t>Cloud storage, active when keys are provided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9</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7. Modelling &amp; Validation</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19072"/>
          <a:ext cx="6858000" cy="914400"/>
        </p:xfrm>
        <a:graphic>
          <a:graphicData uri="http://schemas.openxmlformats.org/drawingml/2006/table">
            <a:tbl>
              <a:tblPr/>
              <a:tblGrid>
                <a:gridCol w="2103120"/>
                <a:gridCol w="2103120"/>
                <a:gridCol w="4023360"/>
              </a:tblGrid>
              <a:tr h="274320">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Model</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Category</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Role in the benchmark</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r>
              <a:tr h="292608">
                <a:tc>
                  <a:txBody>
                    <a:bodyPr/>
                    <a:lstStyle/>
                    <a:p>
                      <a:pPr indent="0" marL="0">
                        <a:buNone/>
                      </a:pPr>
                      <a:r>
                        <a:rPr lang="en-US" sz="1000" b="1" dirty="0">
                          <a:solidFill>
                            <a:srgbClr val="212121"/>
                          </a:solidFill>
                          <a:latin typeface="Times New Roman" pitchFamily="34" charset="0"/>
                          <a:ea typeface="Times New Roman" pitchFamily="34" charset="-122"/>
                          <a:cs typeface="Times New Roman" pitchFamily="34" charset="-120"/>
                        </a:rPr>
                        <a:t>Linear Regression (OLS)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Simple baseline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Tests whether a straight-line pattern is enough</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292608">
                <a:tc>
                  <a:txBody>
                    <a:bodyPr/>
                    <a:lstStyle/>
                    <a:p>
                      <a:pPr indent="0" marL="0">
                        <a:buNone/>
                      </a:pPr>
                      <a:r>
                        <a:rPr lang="en-US" sz="1000" b="1" dirty="0">
                          <a:solidFill>
                            <a:srgbClr val="212121"/>
                          </a:solidFill>
                          <a:latin typeface="Times New Roman" pitchFamily="34" charset="0"/>
                          <a:ea typeface="Times New Roman" pitchFamily="34" charset="-122"/>
                          <a:cs typeface="Times New Roman" pitchFamily="34" charset="-120"/>
                        </a:rPr>
                        <a:t>Random Forest</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Many decision trees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Can learn non-linear patterns in the three inputs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292608">
                <a:tc>
                  <a:txBody>
                    <a:bodyPr/>
                    <a:lstStyle/>
                    <a:p>
                      <a:pPr indent="0" marL="0">
                        <a:buNone/>
                      </a:pPr>
                      <a:r>
                        <a:rPr lang="en-US" sz="1000" b="1" dirty="0">
                          <a:solidFill>
                            <a:srgbClr val="212121"/>
                          </a:solidFill>
                          <a:latin typeface="Times New Roman" pitchFamily="34" charset="0"/>
                          <a:ea typeface="Times New Roman" pitchFamily="34" charset="-122"/>
                          <a:cs typeface="Times New Roman" pitchFamily="34" charset="-120"/>
                        </a:rPr>
                        <a:t>Gradient Boosting</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Boosted trees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Each new tree tries to correct earlier errors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292608">
                <a:tc>
                  <a:txBody>
                    <a:bodyPr/>
                    <a:lstStyle/>
                    <a:p>
                      <a:pPr indent="0" marL="0">
                        <a:buNone/>
                      </a:pPr>
                      <a:r>
                        <a:rPr lang="en-US" sz="1000" b="1" dirty="0">
                          <a:solidFill>
                            <a:srgbClr val="212121"/>
                          </a:solidFill>
                          <a:latin typeface="Times New Roman" pitchFamily="34" charset="0"/>
                          <a:ea typeface="Times New Roman" pitchFamily="34" charset="-122"/>
                          <a:cs typeface="Times New Roman" pitchFamily="34" charset="-120"/>
                        </a:rPr>
                        <a:t>XGBoost</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Boosted trees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Compares another widely used boosting method</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r h="292608">
                <a:tc>
                  <a:txBody>
                    <a:bodyPr/>
                    <a:lstStyle/>
                    <a:p>
                      <a:pPr indent="0" marL="0">
                        <a:buNone/>
                      </a:pPr>
                      <a:r>
                        <a:rPr lang="en-US" sz="1000" b="1" dirty="0">
                          <a:solidFill>
                            <a:srgbClr val="212121"/>
                          </a:solidFill>
                          <a:latin typeface="Times New Roman" pitchFamily="34" charset="0"/>
                          <a:ea typeface="Times New Roman" pitchFamily="34" charset="-122"/>
                          <a:cs typeface="Times New Roman" pitchFamily="34" charset="-120"/>
                        </a:rPr>
                        <a:t>Extra Trees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Randomised trees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c>
                  <a:txBody>
                    <a:bodyPr/>
                    <a:lstStyle/>
                    <a:p>
                      <a:pPr indent="0" marL="0">
                        <a:buNone/>
                      </a:pPr>
                      <a:r>
                        <a:rPr lang="en-US" sz="1000" dirty="0">
                          <a:solidFill>
                            <a:srgbClr val="212121"/>
                          </a:solidFill>
                          <a:latin typeface="Times New Roman" pitchFamily="34" charset="0"/>
                          <a:ea typeface="Times New Roman" pitchFamily="34" charset="-122"/>
                          <a:cs typeface="Times New Roman" pitchFamily="34" charset="-120"/>
                        </a:rPr>
                        <a:t>Uses random splits; best RMSE in this comparison</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tcPr>
                </a:tc>
              </a:tr>
            </a:tbl>
          </a:graphicData>
        </a:graphic>
      </p:graphicFrame>
      <p:sp>
        <p:nvSpPr>
          <p:cNvPr id="10" name="Text 6"/>
          <p:cNvSpPr txBox="1"/>
          <p:nvPr/>
        </p:nvSpPr>
        <p:spPr>
          <a:xfrm>
            <a:off x="457200" y="3639312"/>
            <a:ext cx="5486400" cy="256032"/>
          </a:xfrm>
          <a:prstGeom prst="rect">
            <a:avLst/>
          </a:prstGeom>
          <a:noFill/>
          <a:ln/>
        </p:spPr>
        <p:txBody>
          <a:bodyPr wrap="square" lIns="0" tIns="0" rIns="0" bIns="0" rtlCol="0" anchor="t"/>
          <a:lstStyle/>
          <a:p>
            <a:pPr indent="0" marL="0">
              <a:buNone/>
            </a:pPr>
            <a:r>
              <a:rPr lang="en-US" sz="1300" b="1" dirty="0">
                <a:solidFill>
                  <a:srgbClr val="C00000"/>
                </a:solidFill>
                <a:latin typeface="Times New Roman" pitchFamily="34" charset="0"/>
                <a:ea typeface="Times New Roman" pitchFamily="34" charset="-122"/>
                <a:cs typeface="Times New Roman" pitchFamily="34" charset="-120"/>
              </a:rPr>
              <a:t>Chronological out-of-sample validation</a:t>
            </a:r>
            <a:endParaRPr lang="en-US" sz="1300" dirty="0"/>
          </a:p>
        </p:txBody>
      </p:sp>
      <p:sp>
        <p:nvSpPr>
          <p:cNvPr id="11" name="Shape 7"/>
          <p:cNvSpPr/>
          <p:nvPr/>
        </p:nvSpPr>
        <p:spPr>
          <a:xfrm>
            <a:off x="457200" y="3931920"/>
            <a:ext cx="6035040" cy="384048"/>
          </a:xfrm>
          <a:prstGeom prst="rect">
            <a:avLst/>
          </a:prstGeom>
          <a:solidFill>
            <a:srgbClr val="1F3864"/>
          </a:solidFill>
          <a:ln w="12700">
            <a:solidFill>
              <a:srgbClr val="1F3864"/>
            </a:solidFill>
            <a:prstDash val="solid"/>
          </a:ln>
        </p:spPr>
      </p:sp>
      <p:sp>
        <p:nvSpPr>
          <p:cNvPr id="12" name="Text 8"/>
          <p:cNvSpPr txBox="1"/>
          <p:nvPr/>
        </p:nvSpPr>
        <p:spPr>
          <a:xfrm>
            <a:off x="457200" y="3931920"/>
            <a:ext cx="60350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Train: 2009–2019 (11 years)</a:t>
            </a:r>
            <a:endParaRPr lang="en-US" sz="1200" dirty="0"/>
          </a:p>
        </p:txBody>
      </p:sp>
      <p:sp>
        <p:nvSpPr>
          <p:cNvPr id="13" name="Shape 9"/>
          <p:cNvSpPr/>
          <p:nvPr/>
        </p:nvSpPr>
        <p:spPr>
          <a:xfrm>
            <a:off x="6492240" y="3931920"/>
            <a:ext cx="2194560" cy="384048"/>
          </a:xfrm>
          <a:prstGeom prst="rect">
            <a:avLst/>
          </a:prstGeom>
          <a:solidFill>
            <a:srgbClr val="C00000"/>
          </a:solidFill>
          <a:ln w="12700">
            <a:solidFill>
              <a:srgbClr val="C00000"/>
            </a:solidFill>
            <a:prstDash val="solid"/>
          </a:ln>
        </p:spPr>
      </p:sp>
      <p:sp>
        <p:nvSpPr>
          <p:cNvPr id="14" name="Text 10"/>
          <p:cNvSpPr txBox="1"/>
          <p:nvPr/>
        </p:nvSpPr>
        <p:spPr>
          <a:xfrm>
            <a:off x="6492240" y="3931920"/>
            <a:ext cx="21945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Test: 2020–2023 (4 years)</a:t>
            </a:r>
            <a:endParaRPr lang="en-US" sz="1200" dirty="0"/>
          </a:p>
        </p:txBody>
      </p:sp>
      <p:sp>
        <p:nvSpPr>
          <p:cNvPr id="15" name="Text 11"/>
          <p:cNvSpPr txBox="1"/>
          <p:nvPr/>
        </p:nvSpPr>
        <p:spPr>
          <a:xfrm>
            <a:off x="457200" y="4370832"/>
            <a:ext cx="8229600" cy="365760"/>
          </a:xfrm>
          <a:prstGeom prst="rect">
            <a:avLst/>
          </a:prstGeom>
          <a:noFill/>
          <a:ln/>
        </p:spPr>
        <p:txBody>
          <a:bodyPr wrap="square" lIns="0" tIns="0" rIns="0" bIns="0" rtlCol="0" anchor="t"/>
          <a:lstStyle/>
          <a:p>
            <a:pPr indent="0" marL="0">
              <a:buNone/>
            </a:pPr>
            <a:r>
              <a:rPr lang="en-US" sz="1050" i="1" dirty="0">
                <a:solidFill>
                  <a:srgbClr val="212121"/>
                </a:solidFill>
                <a:latin typeface="Times New Roman" pitchFamily="34" charset="0"/>
                <a:ea typeface="Times New Roman" pitchFamily="34" charset="-122"/>
                <a:cs typeface="Times New Roman" pitchFamily="34" charset="-120"/>
              </a:rPr>
              <a:t>We use rainfall, temperature and ONI. We selected by test RMSE; a separate final test is future work.</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10</a:t>
            </a:r>
            <a:endParaRPr lang="en-US" sz="1000" dirty="0"/>
          </a:p>
        </p:txBody>
      </p:sp>
      <p:sp>
        <p:nvSpPr>
          <p:cNvPr id="8" name="Text 5"/>
          <p:cNvSpPr txBox="1"/>
          <p:nvPr/>
        </p:nvSpPr>
        <p:spPr>
          <a:xfrm>
            <a:off x="457200" y="1261872"/>
            <a:ext cx="530352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8. Results: Model Evaluation</a:t>
            </a:r>
            <a:endParaRPr lang="en-US" sz="2400" dirty="0"/>
          </a:p>
        </p:txBody>
      </p:sp>
      <p:sp>
        <p:nvSpPr>
          <p:cNvPr id="9" name="Text 6"/>
          <p:cNvSpPr txBox="1"/>
          <p:nvPr/>
        </p:nvSpPr>
        <p:spPr>
          <a:xfrm>
            <a:off x="5760720" y="1261872"/>
            <a:ext cx="2926080" cy="384048"/>
          </a:xfrm>
          <a:prstGeom prst="rect">
            <a:avLst/>
          </a:prstGeom>
          <a:noFill/>
          <a:ln/>
        </p:spPr>
        <p:txBody>
          <a:bodyPr wrap="square" lIns="0" tIns="0" rIns="0" bIns="0" rtlCol="0" anchor="ctr"/>
          <a:lstStyle/>
          <a:p>
            <a:pPr algn="r" indent="0" marL="0">
              <a:buNone/>
            </a:pPr>
            <a:r>
              <a:rPr lang="en-US" sz="1200" b="1" dirty="0">
                <a:solidFill>
                  <a:srgbClr val="C00000"/>
                </a:solidFill>
                <a:latin typeface="Times New Roman" pitchFamily="34" charset="0"/>
                <a:ea typeface="Times New Roman" pitchFamily="34" charset="-122"/>
                <a:cs typeface="Times New Roman" pitchFamily="34" charset="-120"/>
              </a:rPr>
              <a:t>Held-out test set, 2020–2023</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6858000" cy="914400"/>
        </p:xfrm>
        <a:graphic>
          <a:graphicData uri="http://schemas.openxmlformats.org/drawingml/2006/table">
            <a:tbl>
              <a:tblPr/>
              <a:tblGrid>
                <a:gridCol w="2377440"/>
                <a:gridCol w="1051560"/>
                <a:gridCol w="1143000"/>
                <a:gridCol w="1005840"/>
                <a:gridCol w="914400"/>
                <a:gridCol w="1737360"/>
              </a:tblGrid>
              <a:tr h="292608">
                <a:tc>
                  <a:txBody>
                    <a:bodyPr/>
                    <a:lstStyle/>
                    <a:p>
                      <a:pPr algn="l" indent="0" marL="0">
                        <a:buNone/>
                      </a:pPr>
                      <a:r>
                        <a:rPr lang="en-US" sz="1000" b="1" dirty="0">
                          <a:solidFill>
                            <a:srgbClr val="FFFFFF"/>
                          </a:solidFill>
                          <a:latin typeface="Times New Roman" pitchFamily="34" charset="0"/>
                          <a:ea typeface="Times New Roman" pitchFamily="34" charset="-122"/>
                          <a:cs typeface="Times New Roman" pitchFamily="34" charset="-120"/>
                        </a:rPr>
                        <a:t>Model</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MAE (units)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RMSE (units)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R²</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MAPE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c>
                  <a:txBody>
                    <a:bodyPr/>
                    <a:lstStyle/>
                    <a:p>
                      <a:pPr algn="ctr" indent="0" marL="0">
                        <a:buNone/>
                      </a:pPr>
                      <a:r>
                        <a:rPr lang="en-US" sz="1000" b="1" dirty="0">
                          <a:solidFill>
                            <a:srgbClr val="FFFFFF"/>
                          </a:solidFill>
                          <a:latin typeface="Times New Roman" pitchFamily="34" charset="0"/>
                          <a:ea typeface="Times New Roman" pitchFamily="34" charset="-122"/>
                          <a:cs typeface="Times New Roman" pitchFamily="34" charset="-120"/>
                        </a:rPr>
                        <a:t>Role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1F3864"/>
                    </a:solidFill>
                  </a:tcPr>
                </a:tc>
              </a:tr>
              <a:tr h="310896">
                <a:tc>
                  <a:txBody>
                    <a:bodyPr/>
                    <a:lstStyle/>
                    <a:p>
                      <a:pPr algn="l" indent="0" marL="0">
                        <a:buNone/>
                      </a:pPr>
                      <a:r>
                        <a:rPr lang="en-US" sz="1000" b="1" dirty="0">
                          <a:solidFill>
                            <a:srgbClr val="212121"/>
                          </a:solidFill>
                          <a:latin typeface="Times New Roman" pitchFamily="34" charset="0"/>
                          <a:ea typeface="Times New Roman" pitchFamily="34" charset="-122"/>
                          <a:cs typeface="Times New Roman" pitchFamily="34" charset="-120"/>
                        </a:rPr>
                        <a:t>Linear Regression (OLS)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15.16</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17.49</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0.4058</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14.0%</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Baseline</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12121"/>
                          </a:solidFill>
                          <a:latin typeface="Times New Roman" pitchFamily="34" charset="0"/>
                          <a:ea typeface="Times New Roman" pitchFamily="34" charset="-122"/>
                          <a:cs typeface="Times New Roman" pitchFamily="34" charset="-120"/>
                        </a:rPr>
                        <a:t>Random Forest</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13.37</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17.62</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0.3969</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12.6%</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Non-linear</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12121"/>
                          </a:solidFill>
                          <a:latin typeface="Times New Roman" pitchFamily="34" charset="0"/>
                          <a:ea typeface="Times New Roman" pitchFamily="34" charset="-122"/>
                          <a:cs typeface="Times New Roman" pitchFamily="34" charset="-120"/>
                        </a:rPr>
                        <a:t>Gradient Boosting</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13.74</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18.33</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0.3468</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13.1%</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Sequential</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12121"/>
                          </a:solidFill>
                          <a:latin typeface="Times New Roman" pitchFamily="34" charset="0"/>
                          <a:ea typeface="Times New Roman" pitchFamily="34" charset="-122"/>
                          <a:cs typeface="Times New Roman" pitchFamily="34" charset="-120"/>
                        </a:rPr>
                        <a:t>XGBoost</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14.00</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19.09</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0.2917</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12.8%</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12121"/>
                          </a:solidFill>
                          <a:latin typeface="Times New Roman" pitchFamily="34" charset="0"/>
                          <a:ea typeface="Times New Roman" pitchFamily="34" charset="-122"/>
                          <a:cs typeface="Times New Roman" pitchFamily="34" charset="-120"/>
                        </a:rPr>
                        <a:t>Regularised</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FFFFF"/>
                    </a:solidFill>
                  </a:tcPr>
                </a:tc>
              </a:tr>
              <a:tr h="310896">
                <a:tc>
                  <a:txBody>
                    <a:bodyPr/>
                    <a:lstStyle/>
                    <a:p>
                      <a:pPr algn="l" indent="0" marL="0">
                        <a:buNone/>
                      </a:pPr>
                      <a:r>
                        <a:rPr lang="en-US" sz="1000" b="1" dirty="0">
                          <a:solidFill>
                            <a:srgbClr val="212121"/>
                          </a:solidFill>
                          <a:latin typeface="Times New Roman" pitchFamily="34" charset="0"/>
                          <a:ea typeface="Times New Roman" pitchFamily="34" charset="-122"/>
                          <a:cs typeface="Times New Roman" pitchFamily="34" charset="-120"/>
                        </a:rPr>
                        <a:t>Extra Trees</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BE9E9"/>
                    </a:solidFill>
                  </a:tcPr>
                </a:tc>
                <a:tc>
                  <a:txBody>
                    <a:bodyPr/>
                    <a:lstStyle/>
                    <a:p>
                      <a:pPr algn="ctr" indent="0" marL="0">
                        <a:buNone/>
                      </a:pPr>
                      <a:r>
                        <a:rPr lang="en-US" sz="1000" b="1" dirty="0">
                          <a:solidFill>
                            <a:srgbClr val="C00000"/>
                          </a:solidFill>
                          <a:latin typeface="Times New Roman" pitchFamily="34" charset="0"/>
                          <a:ea typeface="Times New Roman" pitchFamily="34" charset="-122"/>
                          <a:cs typeface="Times New Roman" pitchFamily="34" charset="-120"/>
                        </a:rPr>
                        <a:t>12.19</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BE9E9"/>
                    </a:solidFill>
                  </a:tcPr>
                </a:tc>
                <a:tc>
                  <a:txBody>
                    <a:bodyPr/>
                    <a:lstStyle/>
                    <a:p>
                      <a:pPr algn="ctr" indent="0" marL="0">
                        <a:buNone/>
                      </a:pPr>
                      <a:r>
                        <a:rPr lang="en-US" sz="1000" b="1" dirty="0">
                          <a:solidFill>
                            <a:srgbClr val="C00000"/>
                          </a:solidFill>
                          <a:latin typeface="Times New Roman" pitchFamily="34" charset="0"/>
                          <a:ea typeface="Times New Roman" pitchFamily="34" charset="-122"/>
                          <a:cs typeface="Times New Roman" pitchFamily="34" charset="-120"/>
                        </a:rPr>
                        <a:t>15.68</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BE9E9"/>
                    </a:solidFill>
                  </a:tcPr>
                </a:tc>
                <a:tc>
                  <a:txBody>
                    <a:bodyPr/>
                    <a:lstStyle/>
                    <a:p>
                      <a:pPr algn="ctr" indent="0" marL="0">
                        <a:buNone/>
                      </a:pPr>
                      <a:r>
                        <a:rPr lang="en-US" sz="1000" b="1" dirty="0">
                          <a:solidFill>
                            <a:srgbClr val="C00000"/>
                          </a:solidFill>
                          <a:latin typeface="Times New Roman" pitchFamily="34" charset="0"/>
                          <a:ea typeface="Times New Roman" pitchFamily="34" charset="-122"/>
                          <a:cs typeface="Times New Roman" pitchFamily="34" charset="-120"/>
                        </a:rPr>
                        <a:t>0.5224</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BE9E9"/>
                    </a:solidFill>
                  </a:tcPr>
                </a:tc>
                <a:tc>
                  <a:txBody>
                    <a:bodyPr/>
                    <a:lstStyle/>
                    <a:p>
                      <a:pPr algn="ctr" indent="0" marL="0">
                        <a:buNone/>
                      </a:pPr>
                      <a:r>
                        <a:rPr lang="en-US" sz="1000" b="1" dirty="0">
                          <a:solidFill>
                            <a:srgbClr val="C00000"/>
                          </a:solidFill>
                          <a:latin typeface="Times New Roman" pitchFamily="34" charset="0"/>
                          <a:ea typeface="Times New Roman" pitchFamily="34" charset="-122"/>
                          <a:cs typeface="Times New Roman" pitchFamily="34" charset="-120"/>
                        </a:rPr>
                        <a:t>11.2%</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BE9E9"/>
                    </a:solidFill>
                  </a:tcPr>
                </a:tc>
                <a:tc>
                  <a:txBody>
                    <a:bodyPr/>
                    <a:lstStyle/>
                    <a:p>
                      <a:pPr algn="ctr" indent="0" marL="0">
                        <a:buNone/>
                      </a:pPr>
                      <a:r>
                        <a:rPr lang="en-US" sz="1000" b="1" dirty="0">
                          <a:solidFill>
                            <a:srgbClr val="C00000"/>
                          </a:solidFill>
                          <a:latin typeface="Times New Roman" pitchFamily="34" charset="0"/>
                          <a:ea typeface="Times New Roman" pitchFamily="34" charset="-122"/>
                          <a:cs typeface="Times New Roman" pitchFamily="34" charset="-120"/>
                        </a:rPr>
                        <a:t>Best performer</a:t>
                      </a:r>
                      <a:endParaRPr lang="en-US" sz="1000" dirty="0">
                        <a:latin typeface="Times New Roman" charset="0"/>
                        <a:ea typeface="Times New Roman" charset="0"/>
                        <a:cs typeface="Times New Roman" charset="0"/>
                      </a:endParaRPr>
                    </a:p>
                  </a:txBody>
                  <a:tcPr marL="73152" marR="73152" marT="27432" marB="27432" anchor="ctr">
                    <a:lnL w="6350" cap="flat" cmpd="sng" algn="ctr">
                      <a:solidFill>
                        <a:srgbClr val="BFC5D2"/>
                      </a:solidFill>
                      <a:prstDash val="solid"/>
                      <a:round/>
                      <a:headEnd type="none" w="med" len="med"/>
                      <a:tailEnd type="none" w="med" len="med"/>
                    </a:lnL>
                    <a:lnR w="6350" cap="flat" cmpd="sng" algn="ctr">
                      <a:solidFill>
                        <a:srgbClr val="BFC5D2"/>
                      </a:solidFill>
                      <a:prstDash val="solid"/>
                      <a:round/>
                      <a:headEnd type="none" w="med" len="med"/>
                      <a:tailEnd type="none" w="med" len="med"/>
                    </a:lnR>
                    <a:lnT w="6350" cap="flat" cmpd="sng" algn="ctr">
                      <a:solidFill>
                        <a:srgbClr val="BFC5D2"/>
                      </a:solidFill>
                      <a:prstDash val="solid"/>
                      <a:round/>
                      <a:headEnd type="none" w="med" len="med"/>
                      <a:tailEnd type="none" w="med" len="med"/>
                    </a:lnT>
                    <a:lnB w="6350" cap="flat" cmpd="sng" algn="ctr">
                      <a:solidFill>
                        <a:srgbClr val="BFC5D2"/>
                      </a:solidFill>
                      <a:prstDash val="solid"/>
                      <a:round/>
                      <a:headEnd type="none" w="med" len="med"/>
                      <a:tailEnd type="none" w="med" len="med"/>
                    </a:lnB>
                    <a:solidFill>
                      <a:srgbClr val="FBE9E9"/>
                    </a:solidFill>
                  </a:tcPr>
                </a:tc>
              </a:tr>
            </a:tbl>
          </a:graphicData>
        </a:graphic>
      </p:graphicFrame>
      <p:sp>
        <p:nvSpPr>
          <p:cNvPr id="11" name="Shape 7"/>
          <p:cNvSpPr/>
          <p:nvPr/>
        </p:nvSpPr>
        <p:spPr>
          <a:xfrm>
            <a:off x="457200" y="3749040"/>
            <a:ext cx="2651760" cy="960120"/>
          </a:xfrm>
          <a:prstGeom prst="roundRect">
            <a:avLst>
              <a:gd name="adj" fmla="val 5714"/>
            </a:avLst>
          </a:prstGeom>
          <a:solidFill>
            <a:srgbClr val="F1F3F8"/>
          </a:solidFill>
          <a:ln w="12700">
            <a:solidFill>
              <a:srgbClr val="F1F3F8"/>
            </a:solidFill>
            <a:prstDash val="solid"/>
          </a:ln>
        </p:spPr>
      </p:sp>
      <p:sp>
        <p:nvSpPr>
          <p:cNvPr id="12" name="Text 8"/>
          <p:cNvSpPr txBox="1"/>
          <p:nvPr/>
        </p:nvSpPr>
        <p:spPr>
          <a:xfrm>
            <a:off x="594360" y="3776472"/>
            <a:ext cx="2377440" cy="548640"/>
          </a:xfrm>
          <a:prstGeom prst="rect">
            <a:avLst/>
          </a:prstGeom>
          <a:noFill/>
          <a:ln/>
        </p:spPr>
        <p:txBody>
          <a:bodyPr wrap="square" lIns="0" tIns="0" rIns="0" bIns="0" rtlCol="0" anchor="ctr"/>
          <a:lstStyle/>
          <a:p>
            <a:pPr indent="0" marL="0">
              <a:buNone/>
            </a:pPr>
            <a:r>
              <a:rPr lang="en-US" sz="3200" b="1" dirty="0">
                <a:solidFill>
                  <a:srgbClr val="C00000"/>
                </a:solidFill>
                <a:latin typeface="Times New Roman" pitchFamily="34" charset="0"/>
                <a:ea typeface="Times New Roman" pitchFamily="34" charset="-122"/>
                <a:cs typeface="Times New Roman" pitchFamily="34" charset="-120"/>
              </a:rPr>
              <a:t>15.68</a:t>
            </a:r>
            <a:endParaRPr lang="en-US" sz="3200" dirty="0"/>
          </a:p>
        </p:txBody>
      </p:sp>
      <p:sp>
        <p:nvSpPr>
          <p:cNvPr id="13" name="Text 9"/>
          <p:cNvSpPr txBox="1"/>
          <p:nvPr/>
        </p:nvSpPr>
        <p:spPr>
          <a:xfrm>
            <a:off x="594360" y="4315968"/>
            <a:ext cx="2423160" cy="320040"/>
          </a:xfrm>
          <a:prstGeom prst="rect">
            <a:avLst/>
          </a:prstGeom>
          <a:noFill/>
          <a:ln/>
        </p:spPr>
        <p:txBody>
          <a:bodyPr wrap="square" lIns="0" tIns="0" rIns="0" bIns="0" rtlCol="0" anchor="t"/>
          <a:lstStyle/>
          <a:p>
            <a:pPr indent="0" marL="0">
              <a:buNone/>
            </a:pPr>
            <a:r>
              <a:rPr lang="en-US" sz="1050" dirty="0">
                <a:solidFill>
                  <a:srgbClr val="212121"/>
                </a:solidFill>
                <a:latin typeface="Times New Roman" pitchFamily="34" charset="0"/>
                <a:ea typeface="Times New Roman" pitchFamily="34" charset="-122"/>
                <a:cs typeface="Times New Roman" pitchFamily="34" charset="-120"/>
              </a:rPr>
              <a:t>Sample-unit RMSE, lowest of five</a:t>
            </a:r>
            <a:endParaRPr lang="en-US" sz="1050" dirty="0"/>
          </a:p>
        </p:txBody>
      </p:sp>
      <p:sp>
        <p:nvSpPr>
          <p:cNvPr id="14" name="Shape 10"/>
          <p:cNvSpPr/>
          <p:nvPr/>
        </p:nvSpPr>
        <p:spPr>
          <a:xfrm>
            <a:off x="3246120" y="3749040"/>
            <a:ext cx="2651760" cy="960120"/>
          </a:xfrm>
          <a:prstGeom prst="roundRect">
            <a:avLst>
              <a:gd name="adj" fmla="val 5714"/>
            </a:avLst>
          </a:prstGeom>
          <a:solidFill>
            <a:srgbClr val="F1F3F8"/>
          </a:solidFill>
          <a:ln w="12700">
            <a:solidFill>
              <a:srgbClr val="F1F3F8"/>
            </a:solidFill>
            <a:prstDash val="solid"/>
          </a:ln>
        </p:spPr>
      </p:sp>
      <p:sp>
        <p:nvSpPr>
          <p:cNvPr id="15" name="Text 11"/>
          <p:cNvSpPr txBox="1"/>
          <p:nvPr/>
        </p:nvSpPr>
        <p:spPr>
          <a:xfrm>
            <a:off x="3383280" y="3776472"/>
            <a:ext cx="2377440" cy="548640"/>
          </a:xfrm>
          <a:prstGeom prst="rect">
            <a:avLst/>
          </a:prstGeom>
          <a:noFill/>
          <a:ln/>
        </p:spPr>
        <p:txBody>
          <a:bodyPr wrap="square" lIns="0" tIns="0" rIns="0" bIns="0" rtlCol="0" anchor="ctr"/>
          <a:lstStyle/>
          <a:p>
            <a:pPr indent="0" marL="0">
              <a:buNone/>
            </a:pPr>
            <a:r>
              <a:rPr lang="en-US" sz="3200" b="1" dirty="0">
                <a:solidFill>
                  <a:srgbClr val="C00000"/>
                </a:solidFill>
                <a:latin typeface="Times New Roman" pitchFamily="34" charset="0"/>
                <a:ea typeface="Times New Roman" pitchFamily="34" charset="-122"/>
                <a:cs typeface="Times New Roman" pitchFamily="34" charset="-120"/>
              </a:rPr>
              <a:t>0.5224</a:t>
            </a:r>
            <a:endParaRPr lang="en-US" sz="3200" dirty="0"/>
          </a:p>
        </p:txBody>
      </p:sp>
      <p:sp>
        <p:nvSpPr>
          <p:cNvPr id="16" name="Text 12"/>
          <p:cNvSpPr txBox="1"/>
          <p:nvPr/>
        </p:nvSpPr>
        <p:spPr>
          <a:xfrm>
            <a:off x="3383280" y="4315968"/>
            <a:ext cx="2423160" cy="320040"/>
          </a:xfrm>
          <a:prstGeom prst="rect">
            <a:avLst/>
          </a:prstGeom>
          <a:noFill/>
          <a:ln/>
        </p:spPr>
        <p:txBody>
          <a:bodyPr wrap="square" lIns="0" tIns="0" rIns="0" bIns="0" rtlCol="0" anchor="t"/>
          <a:lstStyle/>
          <a:p>
            <a:pPr indent="0" marL="0">
              <a:buNone/>
            </a:pPr>
            <a:r>
              <a:rPr lang="en-US" sz="1050" dirty="0">
                <a:solidFill>
                  <a:srgbClr val="212121"/>
                </a:solidFill>
                <a:latin typeface="Times New Roman" pitchFamily="34" charset="0"/>
                <a:ea typeface="Times New Roman" pitchFamily="34" charset="-122"/>
                <a:cs typeface="Times New Roman" pitchFamily="34" charset="-120"/>
              </a:rPr>
              <a:t>R² on 2020–2023 test years</a:t>
            </a:r>
            <a:endParaRPr lang="en-US" sz="1050" dirty="0"/>
          </a:p>
        </p:txBody>
      </p:sp>
      <p:sp>
        <p:nvSpPr>
          <p:cNvPr id="17" name="Shape 13"/>
          <p:cNvSpPr/>
          <p:nvPr/>
        </p:nvSpPr>
        <p:spPr>
          <a:xfrm>
            <a:off x="6035040" y="3749040"/>
            <a:ext cx="2651760" cy="960120"/>
          </a:xfrm>
          <a:prstGeom prst="roundRect">
            <a:avLst>
              <a:gd name="adj" fmla="val 5714"/>
            </a:avLst>
          </a:prstGeom>
          <a:solidFill>
            <a:srgbClr val="F1F3F8"/>
          </a:solidFill>
          <a:ln w="12700">
            <a:solidFill>
              <a:srgbClr val="F1F3F8"/>
            </a:solidFill>
            <a:prstDash val="solid"/>
          </a:ln>
        </p:spPr>
      </p:sp>
      <p:sp>
        <p:nvSpPr>
          <p:cNvPr id="18" name="Text 14"/>
          <p:cNvSpPr txBox="1"/>
          <p:nvPr/>
        </p:nvSpPr>
        <p:spPr>
          <a:xfrm>
            <a:off x="6172200" y="3776472"/>
            <a:ext cx="2377440" cy="548640"/>
          </a:xfrm>
          <a:prstGeom prst="rect">
            <a:avLst/>
          </a:prstGeom>
          <a:noFill/>
          <a:ln/>
        </p:spPr>
        <p:txBody>
          <a:bodyPr wrap="square" lIns="0" tIns="0" rIns="0" bIns="0" rtlCol="0" anchor="ctr"/>
          <a:lstStyle/>
          <a:p>
            <a:pPr indent="0" marL="0">
              <a:buNone/>
            </a:pPr>
            <a:r>
              <a:rPr lang="en-US" sz="3200" b="1" dirty="0">
                <a:solidFill>
                  <a:srgbClr val="C00000"/>
                </a:solidFill>
                <a:latin typeface="Times New Roman" pitchFamily="34" charset="0"/>
                <a:ea typeface="Times New Roman" pitchFamily="34" charset="-122"/>
                <a:cs typeface="Times New Roman" pitchFamily="34" charset="-120"/>
              </a:rPr>
              <a:t>11.2%</a:t>
            </a:r>
            <a:endParaRPr lang="en-US" sz="3200" dirty="0"/>
          </a:p>
        </p:txBody>
      </p:sp>
      <p:sp>
        <p:nvSpPr>
          <p:cNvPr id="19" name="Text 15"/>
          <p:cNvSpPr txBox="1"/>
          <p:nvPr/>
        </p:nvSpPr>
        <p:spPr>
          <a:xfrm>
            <a:off x="6172200" y="4315968"/>
            <a:ext cx="2423160" cy="320040"/>
          </a:xfrm>
          <a:prstGeom prst="rect">
            <a:avLst/>
          </a:prstGeom>
          <a:noFill/>
          <a:ln/>
        </p:spPr>
        <p:txBody>
          <a:bodyPr wrap="square" lIns="0" tIns="0" rIns="0" bIns="0" rtlCol="0" anchor="t"/>
          <a:lstStyle/>
          <a:p>
            <a:pPr indent="0" marL="0">
              <a:buNone/>
            </a:pPr>
            <a:r>
              <a:rPr lang="en-US" sz="1050" dirty="0">
                <a:solidFill>
                  <a:srgbClr val="212121"/>
                </a:solidFill>
                <a:latin typeface="Times New Roman" pitchFamily="34" charset="0"/>
                <a:ea typeface="Times New Roman" pitchFamily="34" charset="-122"/>
                <a:cs typeface="Times New Roman" pitchFamily="34" charset="-120"/>
              </a:rPr>
              <a:t>MAPE, lowest of five models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11</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8. Results: Key Findings</a:t>
            </a:r>
            <a:endParaRPr lang="en-US" sz="2400" dirty="0"/>
          </a:p>
        </p:txBody>
      </p:sp>
      <p:graphicFrame>
        <p:nvGraphicFramePr>
          <p:cNvPr id="9" name="Chart 0" descr=""/>
          <p:cNvGraphicFramePr/>
          <p:nvPr/>
        </p:nvGraphicFramePr>
        <p:xfrm>
          <a:off x="365760" y="1691640"/>
          <a:ext cx="5029200" cy="306324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5577840" y="1719072"/>
            <a:ext cx="3108960" cy="274320"/>
          </a:xfrm>
          <a:prstGeom prst="rect">
            <a:avLst/>
          </a:prstGeom>
          <a:noFill/>
          <a:ln/>
        </p:spPr>
        <p:txBody>
          <a:bodyPr wrap="square" lIns="0" tIns="0" rIns="0" bIns="0" rtlCol="0" anchor="t"/>
          <a:lstStyle/>
          <a:p>
            <a:pPr indent="0" marL="0">
              <a:buNone/>
            </a:pPr>
            <a:r>
              <a:rPr lang="en-US" sz="1400" b="1" dirty="0">
                <a:solidFill>
                  <a:srgbClr val="C00000"/>
                </a:solidFill>
                <a:latin typeface="Times New Roman" pitchFamily="34" charset="0"/>
                <a:ea typeface="Times New Roman" pitchFamily="34" charset="-122"/>
                <a:cs typeface="Times New Roman" pitchFamily="34" charset="-120"/>
              </a:rPr>
              <a:t>Key findings</a:t>
            </a:r>
            <a:endParaRPr lang="en-US" sz="1400" dirty="0"/>
          </a:p>
        </p:txBody>
      </p:sp>
      <p:sp>
        <p:nvSpPr>
          <p:cNvPr id="11" name="Text 7"/>
          <p:cNvSpPr txBox="1"/>
          <p:nvPr/>
        </p:nvSpPr>
        <p:spPr>
          <a:xfrm>
            <a:off x="5577840" y="2057400"/>
            <a:ext cx="3108960" cy="265176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12121"/>
                </a:solidFill>
                <a:latin typeface="Times New Roman" pitchFamily="34" charset="0"/>
                <a:ea typeface="Times New Roman" pitchFamily="34" charset="-122"/>
                <a:cs typeface="Times New Roman" pitchFamily="34" charset="-120"/>
              </a:rPr>
              <a:t>Extra Trees has the lowest RMSE (15.68) and highest R² (0.5224).</a:t>
            </a:r>
            <a:endParaRPr lang="en-US" sz="1050" dirty="0"/>
          </a:p>
          <a:p>
            <a:pPr marL="177800" indent="-177800">
              <a:spcAft>
                <a:spcPts val="500"/>
              </a:spcAft>
              <a:buSzPct val="100000"/>
              <a:buChar char="•"/>
            </a:pPr>
            <a:r>
              <a:rPr lang="en-US" sz="1050" dirty="0">
                <a:solidFill>
                  <a:srgbClr val="212121"/>
                </a:solidFill>
                <a:latin typeface="Times New Roman" pitchFamily="34" charset="0"/>
                <a:ea typeface="Times New Roman" pitchFamily="34" charset="-122"/>
                <a:cs typeface="Times New Roman" pitchFamily="34" charset="-120"/>
              </a:rPr>
              <a:t>The simple linear baseline also performs reasonably (R² 0.4058).</a:t>
            </a:r>
            <a:endParaRPr lang="en-US" sz="1050" dirty="0"/>
          </a:p>
          <a:p>
            <a:pPr marL="177800" indent="-177800">
              <a:spcAft>
                <a:spcPts val="500"/>
              </a:spcAft>
              <a:buSzPct val="100000"/>
              <a:buChar char="•"/>
            </a:pPr>
            <a:r>
              <a:rPr lang="en-US" sz="1050" dirty="0">
                <a:solidFill>
                  <a:srgbClr val="212121"/>
                </a:solidFill>
                <a:latin typeface="Times New Roman" pitchFamily="34" charset="0"/>
                <a:ea typeface="Times New Roman" pitchFamily="34" charset="-122"/>
                <a:cs typeface="Times New Roman" pitchFamily="34" charset="-120"/>
              </a:rPr>
              <a:t>The panel has only 150 rows, so scores may change with more data.</a:t>
            </a:r>
            <a:endParaRPr lang="en-US" sz="1050" dirty="0"/>
          </a:p>
          <a:p>
            <a:pPr marL="177800" indent="-177800">
              <a:spcAft>
                <a:spcPts val="500"/>
              </a:spcAft>
              <a:buSzPct val="100000"/>
              <a:buChar char="•"/>
            </a:pPr>
            <a:r>
              <a:rPr lang="en-US" sz="1050" dirty="0">
                <a:solidFill>
                  <a:srgbClr val="212121"/>
                </a:solidFill>
                <a:latin typeface="Times New Roman" pitchFamily="34" charset="0"/>
                <a:ea typeface="Times New Roman" pitchFamily="34" charset="-122"/>
                <a:cs typeface="Times New Roman" pitchFamily="34" charset="-120"/>
              </a:rPr>
              <a:t>R² 0.5224 means the model explains about 52% of variation in these test rows.</a:t>
            </a:r>
            <a:endParaRPr lang="en-US" sz="1050" dirty="0"/>
          </a:p>
          <a:p>
            <a:pPr marL="177800" indent="-177800">
              <a:spcAft>
                <a:spcPts val="500"/>
              </a:spcAft>
              <a:buSzPct val="100000"/>
              <a:buChar char="•"/>
            </a:pPr>
            <a:r>
              <a:rPr lang="en-US" sz="1050" dirty="0">
                <a:solidFill>
                  <a:srgbClr val="212121"/>
                </a:solidFill>
                <a:latin typeface="Times New Roman" pitchFamily="34" charset="0"/>
                <a:ea typeface="Times New Roman" pitchFamily="34" charset="-122"/>
                <a:cs typeface="Times New Roman" pitchFamily="34" charset="-120"/>
              </a:rPr>
              <a:t>The economic target source and units need verification before real use.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12</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9. Platform Features</a:t>
            </a:r>
            <a:endParaRPr lang="en-US" sz="2400" dirty="0"/>
          </a:p>
        </p:txBody>
      </p:sp>
      <p:sp>
        <p:nvSpPr>
          <p:cNvPr id="9" name="Shape 6"/>
          <p:cNvSpPr/>
          <p:nvPr/>
        </p:nvSpPr>
        <p:spPr>
          <a:xfrm>
            <a:off x="457200" y="1737360"/>
            <a:ext cx="4023360" cy="1389888"/>
          </a:xfrm>
          <a:prstGeom prst="roundRect">
            <a:avLst>
              <a:gd name="adj" fmla="val 3947"/>
            </a:avLst>
          </a:prstGeom>
          <a:solidFill>
            <a:srgbClr val="F1F3F8"/>
          </a:solidFill>
          <a:ln w="12700">
            <a:solidFill>
              <a:srgbClr val="F1F3F8"/>
            </a:solidFill>
            <a:prstDash val="solid"/>
          </a:ln>
        </p:spPr>
      </p:sp>
      <p:sp>
        <p:nvSpPr>
          <p:cNvPr id="10" name="Shape 7"/>
          <p:cNvSpPr/>
          <p:nvPr/>
        </p:nvSpPr>
        <p:spPr>
          <a:xfrm>
            <a:off x="621792" y="1901952"/>
            <a:ext cx="457200" cy="457200"/>
          </a:xfrm>
          <a:prstGeom prst="ellipse">
            <a:avLst/>
          </a:prstGeom>
          <a:solidFill>
            <a:srgbClr val="C00000"/>
          </a:solidFill>
          <a:ln w="12700">
            <a:solidFill>
              <a:srgbClr val="C00000"/>
            </a:solidFill>
            <a:prstDash val="solid"/>
          </a:ln>
        </p:spPr>
      </p:sp>
      <p:pic>
        <p:nvPicPr>
          <p:cNvPr id="11" name="Image 1" descr="preencoded.png">    </p:cNvPr>
          <p:cNvPicPr>
            <a:picLocks noChangeAspect="1"/>
          </p:cNvPicPr>
          <p:nvPr/>
        </p:nvPicPr>
        <p:blipFill>
          <a:blip r:embed="rId2"/>
          <a:stretch>
            <a:fillRect/>
          </a:stretch>
        </p:blipFill>
        <p:spPr>
          <a:xfrm>
            <a:off x="740664" y="2020824"/>
            <a:ext cx="219456" cy="219456"/>
          </a:xfrm>
          <a:prstGeom prst="rect">
            <a:avLst/>
          </a:prstGeom>
        </p:spPr>
      </p:pic>
      <p:sp>
        <p:nvSpPr>
          <p:cNvPr id="12" name="Text 8"/>
          <p:cNvSpPr txBox="1"/>
          <p:nvPr/>
        </p:nvSpPr>
        <p:spPr>
          <a:xfrm>
            <a:off x="1234440" y="1920240"/>
            <a:ext cx="3108960" cy="292608"/>
          </a:xfrm>
          <a:prstGeom prst="rect">
            <a:avLst/>
          </a:prstGeom>
          <a:noFill/>
          <a:ln/>
        </p:spPr>
        <p:txBody>
          <a:bodyPr wrap="square" lIns="0" tIns="0" rIns="0" bIns="0" rtlCol="0" anchor="ctr"/>
          <a:lstStyle/>
          <a:p>
            <a:pPr indent="0" marL="0">
              <a:buNone/>
            </a:pPr>
            <a:r>
              <a:rPr lang="en-US" sz="1400" b="1" dirty="0">
                <a:solidFill>
                  <a:srgbClr val="1F3864"/>
                </a:solidFill>
                <a:latin typeface="Times New Roman" pitchFamily="34" charset="0"/>
                <a:ea typeface="Times New Roman" pitchFamily="34" charset="-122"/>
                <a:cs typeface="Times New Roman" pitchFamily="34" charset="-120"/>
              </a:rPr>
              <a:t>El Niño Scenario Lab</a:t>
            </a:r>
            <a:endParaRPr lang="en-US" sz="1400" dirty="0"/>
          </a:p>
        </p:txBody>
      </p:sp>
      <p:sp>
        <p:nvSpPr>
          <p:cNvPr id="13" name="Text 9"/>
          <p:cNvSpPr txBox="1"/>
          <p:nvPr/>
        </p:nvSpPr>
        <p:spPr>
          <a:xfrm>
            <a:off x="1234440" y="2267712"/>
            <a:ext cx="3108960" cy="804672"/>
          </a:xfrm>
          <a:prstGeom prst="rect">
            <a:avLst/>
          </a:prstGeom>
          <a:noFill/>
          <a:ln/>
        </p:spPr>
        <p:txBody>
          <a:bodyPr wrap="square" lIns="0" tIns="0" rIns="0" bIns="0" rtlCol="0" anchor="t"/>
          <a:lstStyle/>
          <a:p>
            <a:pPr indent="0" marL="0">
              <a:buNone/>
            </a:pPr>
            <a:r>
              <a:rPr lang="en-US" sz="1150" dirty="0">
                <a:solidFill>
                  <a:srgbClr val="212121"/>
                </a:solidFill>
                <a:latin typeface="Times New Roman" pitchFamily="34" charset="0"/>
                <a:ea typeface="Times New Roman" pitchFamily="34" charset="-122"/>
                <a:cs typeface="Times New Roman" pitchFamily="34" charset="-120"/>
              </a:rPr>
              <a:t>Five presets change rainfall, temperature and ONI together. The results are what-if estimates.</a:t>
            </a:r>
            <a:endParaRPr lang="en-US" sz="1150" dirty="0"/>
          </a:p>
        </p:txBody>
      </p:sp>
      <p:sp>
        <p:nvSpPr>
          <p:cNvPr id="14" name="Shape 10"/>
          <p:cNvSpPr/>
          <p:nvPr/>
        </p:nvSpPr>
        <p:spPr>
          <a:xfrm>
            <a:off x="4663440" y="1737360"/>
            <a:ext cx="4023360" cy="1389888"/>
          </a:xfrm>
          <a:prstGeom prst="roundRect">
            <a:avLst>
              <a:gd name="adj" fmla="val 3947"/>
            </a:avLst>
          </a:prstGeom>
          <a:solidFill>
            <a:srgbClr val="F1F3F8"/>
          </a:solidFill>
          <a:ln w="12700">
            <a:solidFill>
              <a:srgbClr val="F1F3F8"/>
            </a:solidFill>
            <a:prstDash val="solid"/>
          </a:ln>
        </p:spPr>
      </p:sp>
      <p:sp>
        <p:nvSpPr>
          <p:cNvPr id="15" name="Shape 11"/>
          <p:cNvSpPr/>
          <p:nvPr/>
        </p:nvSpPr>
        <p:spPr>
          <a:xfrm>
            <a:off x="4828032" y="1901952"/>
            <a:ext cx="457200" cy="457200"/>
          </a:xfrm>
          <a:prstGeom prst="ellipse">
            <a:avLst/>
          </a:prstGeom>
          <a:solidFill>
            <a:srgbClr val="C00000"/>
          </a:solidFill>
          <a:ln w="12700">
            <a:solidFill>
              <a:srgbClr val="C00000"/>
            </a:solidFill>
            <a:prstDash val="solid"/>
          </a:ln>
        </p:spPr>
      </p:sp>
      <p:pic>
        <p:nvPicPr>
          <p:cNvPr id="16" name="Image 2" descr="preencoded.png">    </p:cNvPr>
          <p:cNvPicPr>
            <a:picLocks noChangeAspect="1"/>
          </p:cNvPicPr>
          <p:nvPr/>
        </p:nvPicPr>
        <p:blipFill>
          <a:blip r:embed="rId3"/>
          <a:stretch>
            <a:fillRect/>
          </a:stretch>
        </p:blipFill>
        <p:spPr>
          <a:xfrm>
            <a:off x="4946904" y="2020824"/>
            <a:ext cx="219456" cy="219456"/>
          </a:xfrm>
          <a:prstGeom prst="rect">
            <a:avLst/>
          </a:prstGeom>
        </p:spPr>
      </p:pic>
      <p:sp>
        <p:nvSpPr>
          <p:cNvPr id="17" name="Text 12"/>
          <p:cNvSpPr txBox="1"/>
          <p:nvPr/>
        </p:nvSpPr>
        <p:spPr>
          <a:xfrm>
            <a:off x="5440680" y="1920240"/>
            <a:ext cx="3108960" cy="292608"/>
          </a:xfrm>
          <a:prstGeom prst="rect">
            <a:avLst/>
          </a:prstGeom>
          <a:noFill/>
          <a:ln/>
        </p:spPr>
        <p:txBody>
          <a:bodyPr wrap="square" lIns="0" tIns="0" rIns="0" bIns="0" rtlCol="0" anchor="ctr"/>
          <a:lstStyle/>
          <a:p>
            <a:pPr indent="0" marL="0">
              <a:buNone/>
            </a:pPr>
            <a:r>
              <a:rPr lang="en-US" sz="1400" b="1" dirty="0">
                <a:solidFill>
                  <a:srgbClr val="1F3864"/>
                </a:solidFill>
                <a:latin typeface="Times New Roman" pitchFamily="34" charset="0"/>
                <a:ea typeface="Times New Roman" pitchFamily="34" charset="-122"/>
                <a:cs typeface="Times New Roman" pitchFamily="34" charset="-120"/>
              </a:rPr>
              <a:t>Project Search</a:t>
            </a:r>
            <a:endParaRPr lang="en-US" sz="1400" dirty="0"/>
          </a:p>
        </p:txBody>
      </p:sp>
      <p:sp>
        <p:nvSpPr>
          <p:cNvPr id="18" name="Text 13"/>
          <p:cNvSpPr txBox="1"/>
          <p:nvPr/>
        </p:nvSpPr>
        <p:spPr>
          <a:xfrm>
            <a:off x="5440680" y="2267712"/>
            <a:ext cx="3108960" cy="804672"/>
          </a:xfrm>
          <a:prstGeom prst="rect">
            <a:avLst/>
          </a:prstGeom>
          <a:noFill/>
          <a:ln/>
        </p:spPr>
        <p:txBody>
          <a:bodyPr wrap="square" lIns="0" tIns="0" rIns="0" bIns="0" rtlCol="0" anchor="t"/>
          <a:lstStyle/>
          <a:p>
            <a:pPr indent="0" marL="0">
              <a:buNone/>
            </a:pPr>
            <a:r>
              <a:rPr lang="en-US" sz="1150" dirty="0">
                <a:solidFill>
                  <a:srgbClr val="212121"/>
                </a:solidFill>
                <a:latin typeface="Times New Roman" pitchFamily="34" charset="0"/>
                <a:ea typeface="Times New Roman" pitchFamily="34" charset="-122"/>
                <a:cs typeface="Times New Roman" pitchFamily="34" charset="-120"/>
              </a:rPr>
              <a:t>Routes keyword questions to project facts, data and saved metrics. Check source claims independently.</a:t>
            </a:r>
            <a:endParaRPr lang="en-US" sz="1150" dirty="0"/>
          </a:p>
        </p:txBody>
      </p:sp>
      <p:sp>
        <p:nvSpPr>
          <p:cNvPr id="19" name="Shape 14"/>
          <p:cNvSpPr/>
          <p:nvPr/>
        </p:nvSpPr>
        <p:spPr>
          <a:xfrm>
            <a:off x="457200" y="3273552"/>
            <a:ext cx="4023360" cy="1389888"/>
          </a:xfrm>
          <a:prstGeom prst="roundRect">
            <a:avLst>
              <a:gd name="adj" fmla="val 3947"/>
            </a:avLst>
          </a:prstGeom>
          <a:solidFill>
            <a:srgbClr val="F1F3F8"/>
          </a:solidFill>
          <a:ln w="12700">
            <a:solidFill>
              <a:srgbClr val="F1F3F8"/>
            </a:solidFill>
            <a:prstDash val="solid"/>
          </a:ln>
        </p:spPr>
      </p:sp>
      <p:sp>
        <p:nvSpPr>
          <p:cNvPr id="20" name="Shape 15"/>
          <p:cNvSpPr/>
          <p:nvPr/>
        </p:nvSpPr>
        <p:spPr>
          <a:xfrm>
            <a:off x="621792" y="3438144"/>
            <a:ext cx="457200" cy="457200"/>
          </a:xfrm>
          <a:prstGeom prst="ellipse">
            <a:avLst/>
          </a:prstGeom>
          <a:solidFill>
            <a:srgbClr val="C00000"/>
          </a:solidFill>
          <a:ln w="12700">
            <a:solidFill>
              <a:srgbClr val="C00000"/>
            </a:solidFill>
            <a:prstDash val="solid"/>
          </a:ln>
        </p:spPr>
      </p:sp>
      <p:pic>
        <p:nvPicPr>
          <p:cNvPr id="21" name="Image 3" descr="preencoded.png">    </p:cNvPr>
          <p:cNvPicPr>
            <a:picLocks noChangeAspect="1"/>
          </p:cNvPicPr>
          <p:nvPr/>
        </p:nvPicPr>
        <p:blipFill>
          <a:blip r:embed="rId4"/>
          <a:stretch>
            <a:fillRect/>
          </a:stretch>
        </p:blipFill>
        <p:spPr>
          <a:xfrm>
            <a:off x="740664" y="3557016"/>
            <a:ext cx="219456" cy="219456"/>
          </a:xfrm>
          <a:prstGeom prst="rect">
            <a:avLst/>
          </a:prstGeom>
        </p:spPr>
      </p:pic>
      <p:sp>
        <p:nvSpPr>
          <p:cNvPr id="22" name="Text 16"/>
          <p:cNvSpPr txBox="1"/>
          <p:nvPr/>
        </p:nvSpPr>
        <p:spPr>
          <a:xfrm>
            <a:off x="1234440" y="3456432"/>
            <a:ext cx="3108960" cy="292608"/>
          </a:xfrm>
          <a:prstGeom prst="rect">
            <a:avLst/>
          </a:prstGeom>
          <a:noFill/>
          <a:ln/>
        </p:spPr>
        <p:txBody>
          <a:bodyPr wrap="square" lIns="0" tIns="0" rIns="0" bIns="0" rtlCol="0" anchor="ctr"/>
          <a:lstStyle/>
          <a:p>
            <a:pPr indent="0" marL="0">
              <a:buNone/>
            </a:pPr>
            <a:r>
              <a:rPr lang="en-US" sz="1400" b="1" dirty="0">
                <a:solidFill>
                  <a:srgbClr val="1F3864"/>
                </a:solidFill>
                <a:latin typeface="Times New Roman" pitchFamily="34" charset="0"/>
                <a:ea typeface="Times New Roman" pitchFamily="34" charset="-122"/>
                <a:cs typeface="Times New Roman" pitchFamily="34" charset="-120"/>
              </a:rPr>
              <a:t>State Deep-Dive Profiles</a:t>
            </a:r>
            <a:endParaRPr lang="en-US" sz="1400" dirty="0"/>
          </a:p>
        </p:txBody>
      </p:sp>
      <p:sp>
        <p:nvSpPr>
          <p:cNvPr id="23" name="Text 17"/>
          <p:cNvSpPr txBox="1"/>
          <p:nvPr/>
        </p:nvSpPr>
        <p:spPr>
          <a:xfrm>
            <a:off x="1234440" y="3803904"/>
            <a:ext cx="3108960" cy="804672"/>
          </a:xfrm>
          <a:prstGeom prst="rect">
            <a:avLst/>
          </a:prstGeom>
          <a:noFill/>
          <a:ln/>
        </p:spPr>
        <p:txBody>
          <a:bodyPr wrap="square" lIns="0" tIns="0" rIns="0" bIns="0" rtlCol="0" anchor="t"/>
          <a:lstStyle/>
          <a:p>
            <a:pPr indent="0" marL="0">
              <a:buNone/>
            </a:pPr>
            <a:r>
              <a:rPr lang="en-US" sz="1150" dirty="0">
                <a:solidFill>
                  <a:srgbClr val="212121"/>
                </a:solidFill>
                <a:latin typeface="Times New Roman" pitchFamily="34" charset="0"/>
                <a:ea typeface="Times New Roman" pitchFamily="34" charset="-122"/>
                <a:cs typeface="Times New Roman" pitchFamily="34" charset="-120"/>
              </a:rPr>
              <a:t>Shows historical climate and economic sample views for selected states.</a:t>
            </a:r>
            <a:endParaRPr lang="en-US" sz="1150" dirty="0"/>
          </a:p>
        </p:txBody>
      </p:sp>
      <p:sp>
        <p:nvSpPr>
          <p:cNvPr id="24" name="Shape 18"/>
          <p:cNvSpPr/>
          <p:nvPr/>
        </p:nvSpPr>
        <p:spPr>
          <a:xfrm>
            <a:off x="4663440" y="3273552"/>
            <a:ext cx="4023360" cy="1389888"/>
          </a:xfrm>
          <a:prstGeom prst="roundRect">
            <a:avLst>
              <a:gd name="adj" fmla="val 3947"/>
            </a:avLst>
          </a:prstGeom>
          <a:solidFill>
            <a:srgbClr val="F1F3F8"/>
          </a:solidFill>
          <a:ln w="12700">
            <a:solidFill>
              <a:srgbClr val="F1F3F8"/>
            </a:solidFill>
            <a:prstDash val="solid"/>
          </a:ln>
        </p:spPr>
      </p:sp>
      <p:sp>
        <p:nvSpPr>
          <p:cNvPr id="25" name="Shape 19"/>
          <p:cNvSpPr/>
          <p:nvPr/>
        </p:nvSpPr>
        <p:spPr>
          <a:xfrm>
            <a:off x="4828032" y="3438144"/>
            <a:ext cx="457200" cy="457200"/>
          </a:xfrm>
          <a:prstGeom prst="ellipse">
            <a:avLst/>
          </a:prstGeom>
          <a:solidFill>
            <a:srgbClr val="C00000"/>
          </a:solidFill>
          <a:ln w="12700">
            <a:solidFill>
              <a:srgbClr val="C00000"/>
            </a:solidFill>
            <a:prstDash val="solid"/>
          </a:ln>
        </p:spPr>
      </p:sp>
      <p:pic>
        <p:nvPicPr>
          <p:cNvPr id="26" name="Image 4" descr="preencoded.png">    </p:cNvPr>
          <p:cNvPicPr>
            <a:picLocks noChangeAspect="1"/>
          </p:cNvPicPr>
          <p:nvPr/>
        </p:nvPicPr>
        <p:blipFill>
          <a:blip r:embed="rId5"/>
          <a:stretch>
            <a:fillRect/>
          </a:stretch>
        </p:blipFill>
        <p:spPr>
          <a:xfrm>
            <a:off x="4946904" y="3557016"/>
            <a:ext cx="219456" cy="219456"/>
          </a:xfrm>
          <a:prstGeom prst="rect">
            <a:avLst/>
          </a:prstGeom>
        </p:spPr>
      </p:pic>
      <p:sp>
        <p:nvSpPr>
          <p:cNvPr id="27" name="Text 20"/>
          <p:cNvSpPr txBox="1"/>
          <p:nvPr/>
        </p:nvSpPr>
        <p:spPr>
          <a:xfrm>
            <a:off x="5440680" y="3456432"/>
            <a:ext cx="3108960" cy="292608"/>
          </a:xfrm>
          <a:prstGeom prst="rect">
            <a:avLst/>
          </a:prstGeom>
          <a:noFill/>
          <a:ln/>
        </p:spPr>
        <p:txBody>
          <a:bodyPr wrap="square" lIns="0" tIns="0" rIns="0" bIns="0" rtlCol="0" anchor="ctr"/>
          <a:lstStyle/>
          <a:p>
            <a:pPr indent="0" marL="0">
              <a:buNone/>
            </a:pPr>
            <a:r>
              <a:rPr lang="en-US" sz="1400" b="1" dirty="0">
                <a:solidFill>
                  <a:srgbClr val="1F3864"/>
                </a:solidFill>
                <a:latin typeface="Times New Roman" pitchFamily="34" charset="0"/>
                <a:ea typeface="Times New Roman" pitchFamily="34" charset="-122"/>
                <a:cs typeface="Times New Roman" pitchFamily="34" charset="-120"/>
              </a:rPr>
              <a:t>Data &amp; Metric Exports</a:t>
            </a:r>
            <a:endParaRPr lang="en-US" sz="1400" dirty="0"/>
          </a:p>
        </p:txBody>
      </p:sp>
      <p:sp>
        <p:nvSpPr>
          <p:cNvPr id="28" name="Text 21"/>
          <p:cNvSpPr txBox="1"/>
          <p:nvPr/>
        </p:nvSpPr>
        <p:spPr>
          <a:xfrm>
            <a:off x="5440680" y="3803904"/>
            <a:ext cx="3108960" cy="804672"/>
          </a:xfrm>
          <a:prstGeom prst="rect">
            <a:avLst/>
          </a:prstGeom>
          <a:noFill/>
          <a:ln/>
        </p:spPr>
        <p:txBody>
          <a:bodyPr wrap="square" lIns="0" tIns="0" rIns="0" bIns="0" rtlCol="0" anchor="t"/>
          <a:lstStyle/>
          <a:p>
            <a:pPr indent="0" marL="0">
              <a:buNone/>
            </a:pPr>
            <a:r>
              <a:rPr lang="en-US" sz="1150" dirty="0">
                <a:solidFill>
                  <a:srgbClr val="212121"/>
                </a:solidFill>
                <a:latin typeface="Times New Roman" pitchFamily="34" charset="0"/>
                <a:ea typeface="Times New Roman" pitchFamily="34" charset="-122"/>
                <a:cs typeface="Times New Roman" pitchFamily="34" charset="-120"/>
              </a:rPr>
              <a:t>Downloads panel data and model scores as CSV or JSON.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13</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10. Applications</a:t>
            </a:r>
            <a:endParaRPr lang="en-US" sz="2400" dirty="0"/>
          </a:p>
        </p:txBody>
      </p:sp>
      <p:sp>
        <p:nvSpPr>
          <p:cNvPr id="9" name="Shape 6"/>
          <p:cNvSpPr/>
          <p:nvPr/>
        </p:nvSpPr>
        <p:spPr>
          <a:xfrm>
            <a:off x="457200" y="1874520"/>
            <a:ext cx="128016" cy="128016"/>
          </a:xfrm>
          <a:prstGeom prst="ellipse">
            <a:avLst/>
          </a:prstGeom>
          <a:solidFill>
            <a:srgbClr val="C00000"/>
          </a:solidFill>
          <a:ln w="12700">
            <a:solidFill>
              <a:srgbClr val="C00000"/>
            </a:solidFill>
            <a:prstDash val="solid"/>
          </a:ln>
        </p:spPr>
      </p:sp>
      <p:sp>
        <p:nvSpPr>
          <p:cNvPr id="10" name="Text 7"/>
          <p:cNvSpPr txBox="1"/>
          <p:nvPr/>
        </p:nvSpPr>
        <p:spPr>
          <a:xfrm>
            <a:off x="731520" y="1755648"/>
            <a:ext cx="4846320" cy="384048"/>
          </a:xfrm>
          <a:prstGeom prst="rect">
            <a:avLst/>
          </a:prstGeom>
          <a:noFill/>
          <a:ln/>
        </p:spPr>
        <p:txBody>
          <a:bodyPr wrap="square" lIns="0" tIns="0" rIns="0" bIns="0" rtlCol="0" anchor="ctr"/>
          <a:lstStyle/>
          <a:p>
            <a:pPr indent="0" marL="0">
              <a:buNone/>
            </a:pPr>
            <a:r>
              <a:rPr lang="en-US" sz="1200" b="1" dirty="0">
                <a:solidFill>
                  <a:srgbClr val="1F3864"/>
                </a:solidFill>
                <a:latin typeface="Times New Roman" pitchFamily="34" charset="0"/>
                <a:ea typeface="Times New Roman" pitchFamily="34" charset="-122"/>
                <a:cs typeface="Times New Roman" pitchFamily="34" charset="-120"/>
              </a:rPr>
              <a:t>Policy planning: </a:t>
            </a:r>
            <a:pPr indent="0" marL="0">
              <a:buNone/>
            </a:pPr>
            <a:r>
              <a:rPr lang="en-US" sz="1200" dirty="0">
                <a:solidFill>
                  <a:srgbClr val="212121"/>
                </a:solidFill>
                <a:latin typeface="Times New Roman" pitchFamily="34" charset="0"/>
                <a:ea typeface="Times New Roman" pitchFamily="34" charset="-122"/>
                <a:cs typeface="Times New Roman" pitchFamily="34" charset="-120"/>
              </a:rPr>
              <a:t>Discuss possible climate risks in a classroom setting.</a:t>
            </a:r>
            <a:endParaRPr lang="en-US" sz="1200" dirty="0"/>
          </a:p>
        </p:txBody>
      </p:sp>
      <p:sp>
        <p:nvSpPr>
          <p:cNvPr id="11" name="Shape 8"/>
          <p:cNvSpPr/>
          <p:nvPr/>
        </p:nvSpPr>
        <p:spPr>
          <a:xfrm>
            <a:off x="457200" y="2368296"/>
            <a:ext cx="128016" cy="128016"/>
          </a:xfrm>
          <a:prstGeom prst="ellipse">
            <a:avLst/>
          </a:prstGeom>
          <a:solidFill>
            <a:srgbClr val="C00000"/>
          </a:solidFill>
          <a:ln w="12700">
            <a:solidFill>
              <a:srgbClr val="C00000"/>
            </a:solidFill>
            <a:prstDash val="solid"/>
          </a:ln>
        </p:spPr>
      </p:sp>
      <p:sp>
        <p:nvSpPr>
          <p:cNvPr id="12" name="Text 9"/>
          <p:cNvSpPr txBox="1"/>
          <p:nvPr/>
        </p:nvSpPr>
        <p:spPr>
          <a:xfrm>
            <a:off x="731520" y="2249424"/>
            <a:ext cx="4846320" cy="384048"/>
          </a:xfrm>
          <a:prstGeom prst="rect">
            <a:avLst/>
          </a:prstGeom>
          <a:noFill/>
          <a:ln/>
        </p:spPr>
        <p:txBody>
          <a:bodyPr wrap="square" lIns="0" tIns="0" rIns="0" bIns="0" rtlCol="0" anchor="ctr"/>
          <a:lstStyle/>
          <a:p>
            <a:pPr indent="0" marL="0">
              <a:buNone/>
            </a:pPr>
            <a:r>
              <a:rPr lang="en-US" sz="1200" b="1" dirty="0">
                <a:solidFill>
                  <a:srgbClr val="1F3864"/>
                </a:solidFill>
                <a:latin typeface="Times New Roman" pitchFamily="34" charset="0"/>
                <a:ea typeface="Times New Roman" pitchFamily="34" charset="-122"/>
                <a:cs typeface="Times New Roman" pitchFamily="34" charset="-120"/>
              </a:rPr>
              <a:t>Subsidy &amp; irrigation: </a:t>
            </a:r>
            <a:pPr indent="0" marL="0">
              <a:buNone/>
            </a:pPr>
            <a:r>
              <a:rPr lang="en-US" sz="1200" dirty="0">
                <a:solidFill>
                  <a:srgbClr val="212121"/>
                </a:solidFill>
                <a:latin typeface="Times New Roman" pitchFamily="34" charset="0"/>
                <a:ea typeface="Times New Roman" pitchFamily="34" charset="-122"/>
                <a:cs typeface="Times New Roman" pitchFamily="34" charset="-120"/>
              </a:rPr>
              <a:t>Explore how changed rainfall alters model estimates.</a:t>
            </a:r>
            <a:endParaRPr lang="en-US" sz="1200" dirty="0"/>
          </a:p>
        </p:txBody>
      </p:sp>
      <p:sp>
        <p:nvSpPr>
          <p:cNvPr id="13" name="Shape 10"/>
          <p:cNvSpPr/>
          <p:nvPr/>
        </p:nvSpPr>
        <p:spPr>
          <a:xfrm>
            <a:off x="457200" y="2862072"/>
            <a:ext cx="128016" cy="128016"/>
          </a:xfrm>
          <a:prstGeom prst="ellipse">
            <a:avLst/>
          </a:prstGeom>
          <a:solidFill>
            <a:srgbClr val="C00000"/>
          </a:solidFill>
          <a:ln w="12700">
            <a:solidFill>
              <a:srgbClr val="C00000"/>
            </a:solidFill>
            <a:prstDash val="solid"/>
          </a:ln>
        </p:spPr>
      </p:sp>
      <p:sp>
        <p:nvSpPr>
          <p:cNvPr id="14" name="Text 11"/>
          <p:cNvSpPr txBox="1"/>
          <p:nvPr/>
        </p:nvSpPr>
        <p:spPr>
          <a:xfrm>
            <a:off x="731520" y="2743200"/>
            <a:ext cx="4846320" cy="384048"/>
          </a:xfrm>
          <a:prstGeom prst="rect">
            <a:avLst/>
          </a:prstGeom>
          <a:noFill/>
          <a:ln/>
        </p:spPr>
        <p:txBody>
          <a:bodyPr wrap="square" lIns="0" tIns="0" rIns="0" bIns="0" rtlCol="0" anchor="ctr"/>
          <a:lstStyle/>
          <a:p>
            <a:pPr indent="0" marL="0">
              <a:buNone/>
            </a:pPr>
            <a:r>
              <a:rPr lang="en-US" sz="1200" b="1" dirty="0">
                <a:solidFill>
                  <a:srgbClr val="1F3864"/>
                </a:solidFill>
                <a:latin typeface="Times New Roman" pitchFamily="34" charset="0"/>
                <a:ea typeface="Times New Roman" pitchFamily="34" charset="-122"/>
                <a:cs typeface="Times New Roman" pitchFamily="34" charset="-120"/>
              </a:rPr>
              <a:t>Food reserves: </a:t>
            </a:r>
            <a:pPr indent="0" marL="0">
              <a:buNone/>
            </a:pPr>
            <a:r>
              <a:rPr lang="en-US" sz="1200" dirty="0">
                <a:solidFill>
                  <a:srgbClr val="212121"/>
                </a:solidFill>
                <a:latin typeface="Times New Roman" pitchFamily="34" charset="0"/>
                <a:ea typeface="Times New Roman" pitchFamily="34" charset="-122"/>
                <a:cs typeface="Times New Roman" pitchFamily="34" charset="-120"/>
              </a:rPr>
              <a:t>Try weak-monsoon examples for discussion.</a:t>
            </a:r>
            <a:endParaRPr lang="en-US" sz="1200" dirty="0"/>
          </a:p>
        </p:txBody>
      </p:sp>
      <p:sp>
        <p:nvSpPr>
          <p:cNvPr id="15" name="Shape 12"/>
          <p:cNvSpPr/>
          <p:nvPr/>
        </p:nvSpPr>
        <p:spPr>
          <a:xfrm>
            <a:off x="457200" y="3355848"/>
            <a:ext cx="128016" cy="128016"/>
          </a:xfrm>
          <a:prstGeom prst="ellipse">
            <a:avLst/>
          </a:prstGeom>
          <a:solidFill>
            <a:srgbClr val="C00000"/>
          </a:solidFill>
          <a:ln w="12700">
            <a:solidFill>
              <a:srgbClr val="C00000"/>
            </a:solidFill>
            <a:prstDash val="solid"/>
          </a:ln>
        </p:spPr>
      </p:sp>
      <p:sp>
        <p:nvSpPr>
          <p:cNvPr id="16" name="Text 13"/>
          <p:cNvSpPr txBox="1"/>
          <p:nvPr/>
        </p:nvSpPr>
        <p:spPr>
          <a:xfrm>
            <a:off x="731520" y="3236976"/>
            <a:ext cx="4846320" cy="384048"/>
          </a:xfrm>
          <a:prstGeom prst="rect">
            <a:avLst/>
          </a:prstGeom>
          <a:noFill/>
          <a:ln/>
        </p:spPr>
        <p:txBody>
          <a:bodyPr wrap="square" lIns="0" tIns="0" rIns="0" bIns="0" rtlCol="0" anchor="ctr"/>
          <a:lstStyle/>
          <a:p>
            <a:pPr indent="0" marL="0">
              <a:buNone/>
            </a:pPr>
            <a:r>
              <a:rPr lang="en-US" sz="1200" b="1" dirty="0">
                <a:solidFill>
                  <a:srgbClr val="1F3864"/>
                </a:solidFill>
                <a:latin typeface="Times New Roman" pitchFamily="34" charset="0"/>
                <a:ea typeface="Times New Roman" pitchFamily="34" charset="-122"/>
                <a:cs typeface="Times New Roman" pitchFamily="34" charset="-120"/>
              </a:rPr>
              <a:t>Farmer support: </a:t>
            </a:r>
            <a:pPr indent="0" marL="0">
              <a:buNone/>
            </a:pPr>
            <a:r>
              <a:rPr lang="en-US" sz="1200" dirty="0">
                <a:solidFill>
                  <a:srgbClr val="212121"/>
                </a:solidFill>
                <a:latin typeface="Times New Roman" pitchFamily="34" charset="0"/>
                <a:ea typeface="Times New Roman" pitchFamily="34" charset="-122"/>
                <a:cs typeface="Times New Roman" pitchFamily="34" charset="-120"/>
              </a:rPr>
              <a:t>Compare illustrative scenarios across state profiles.</a:t>
            </a:r>
            <a:endParaRPr lang="en-US" sz="1200" dirty="0"/>
          </a:p>
        </p:txBody>
      </p:sp>
      <p:sp>
        <p:nvSpPr>
          <p:cNvPr id="17" name="Shape 14"/>
          <p:cNvSpPr/>
          <p:nvPr/>
        </p:nvSpPr>
        <p:spPr>
          <a:xfrm>
            <a:off x="457200" y="3849624"/>
            <a:ext cx="128016" cy="128016"/>
          </a:xfrm>
          <a:prstGeom prst="ellipse">
            <a:avLst/>
          </a:prstGeom>
          <a:solidFill>
            <a:srgbClr val="C00000"/>
          </a:solidFill>
          <a:ln w="12700">
            <a:solidFill>
              <a:srgbClr val="C00000"/>
            </a:solidFill>
            <a:prstDash val="solid"/>
          </a:ln>
        </p:spPr>
      </p:sp>
      <p:sp>
        <p:nvSpPr>
          <p:cNvPr id="18" name="Text 15"/>
          <p:cNvSpPr txBox="1"/>
          <p:nvPr/>
        </p:nvSpPr>
        <p:spPr>
          <a:xfrm>
            <a:off x="731520" y="3730752"/>
            <a:ext cx="4846320" cy="384048"/>
          </a:xfrm>
          <a:prstGeom prst="rect">
            <a:avLst/>
          </a:prstGeom>
          <a:noFill/>
          <a:ln/>
        </p:spPr>
        <p:txBody>
          <a:bodyPr wrap="square" lIns="0" tIns="0" rIns="0" bIns="0" rtlCol="0" anchor="ctr"/>
          <a:lstStyle/>
          <a:p>
            <a:pPr indent="0" marL="0">
              <a:buNone/>
            </a:pPr>
            <a:r>
              <a:rPr lang="en-US" sz="1200" b="1" dirty="0">
                <a:solidFill>
                  <a:srgbClr val="1F3864"/>
                </a:solidFill>
                <a:latin typeface="Times New Roman" pitchFamily="34" charset="0"/>
                <a:ea typeface="Times New Roman" pitchFamily="34" charset="-122"/>
                <a:cs typeface="Times New Roman" pitchFamily="34" charset="-120"/>
              </a:rPr>
              <a:t>What-if analysis: </a:t>
            </a:r>
            <a:pPr indent="0" marL="0">
              <a:buNone/>
            </a:pPr>
            <a:r>
              <a:rPr lang="en-US" sz="1200" dirty="0">
                <a:solidFill>
                  <a:srgbClr val="212121"/>
                </a:solidFill>
                <a:latin typeface="Times New Roman" pitchFamily="34" charset="0"/>
                <a:ea typeface="Times New Roman" pitchFamily="34" charset="-122"/>
                <a:cs typeface="Times New Roman" pitchFamily="34" charset="-120"/>
              </a:rPr>
              <a:t>Change climate inputs and inspect model output.</a:t>
            </a:r>
            <a:endParaRPr lang="en-US" sz="1200" dirty="0"/>
          </a:p>
        </p:txBody>
      </p:sp>
      <p:sp>
        <p:nvSpPr>
          <p:cNvPr id="19" name="Shape 16"/>
          <p:cNvSpPr/>
          <p:nvPr/>
        </p:nvSpPr>
        <p:spPr>
          <a:xfrm>
            <a:off x="457200" y="4343400"/>
            <a:ext cx="128016" cy="128016"/>
          </a:xfrm>
          <a:prstGeom prst="ellipse">
            <a:avLst/>
          </a:prstGeom>
          <a:solidFill>
            <a:srgbClr val="C00000"/>
          </a:solidFill>
          <a:ln w="12700">
            <a:solidFill>
              <a:srgbClr val="C00000"/>
            </a:solidFill>
            <a:prstDash val="solid"/>
          </a:ln>
        </p:spPr>
      </p:sp>
      <p:sp>
        <p:nvSpPr>
          <p:cNvPr id="20" name="Text 17"/>
          <p:cNvSpPr txBox="1"/>
          <p:nvPr/>
        </p:nvSpPr>
        <p:spPr>
          <a:xfrm>
            <a:off x="731520" y="4224528"/>
            <a:ext cx="4846320" cy="384048"/>
          </a:xfrm>
          <a:prstGeom prst="rect">
            <a:avLst/>
          </a:prstGeom>
          <a:noFill/>
          <a:ln/>
        </p:spPr>
        <p:txBody>
          <a:bodyPr wrap="square" lIns="0" tIns="0" rIns="0" bIns="0" rtlCol="0" anchor="ctr"/>
          <a:lstStyle/>
          <a:p>
            <a:pPr indent="0" marL="0">
              <a:buNone/>
            </a:pPr>
            <a:r>
              <a:rPr lang="en-US" sz="1200" b="1" dirty="0">
                <a:solidFill>
                  <a:srgbClr val="1F3864"/>
                </a:solidFill>
                <a:latin typeface="Times New Roman" pitchFamily="34" charset="0"/>
                <a:ea typeface="Times New Roman" pitchFamily="34" charset="-122"/>
                <a:cs typeface="Times New Roman" pitchFamily="34" charset="-120"/>
              </a:rPr>
              <a:t>Economic research: </a:t>
            </a:r>
            <a:pPr indent="0" marL="0">
              <a:buNone/>
            </a:pPr>
            <a:r>
              <a:rPr lang="en-US" sz="1200" dirty="0">
                <a:solidFill>
                  <a:srgbClr val="212121"/>
                </a:solidFill>
                <a:latin typeface="Times New Roman" pitchFamily="34" charset="0"/>
                <a:ea typeface="Times New Roman" pitchFamily="34" charset="-122"/>
                <a:cs typeface="Times New Roman" pitchFamily="34" charset="-120"/>
              </a:rPr>
              <a:t>A starting point for work with verified GSVA data.</a:t>
            </a:r>
            <a:endParaRPr lang="en-US" sz="1200" dirty="0"/>
          </a:p>
        </p:txBody>
      </p:sp>
      <p:sp>
        <p:nvSpPr>
          <p:cNvPr id="21" name="Shape 18"/>
          <p:cNvSpPr/>
          <p:nvPr/>
        </p:nvSpPr>
        <p:spPr>
          <a:xfrm>
            <a:off x="5852160" y="1755648"/>
            <a:ext cx="2834640" cy="2926080"/>
          </a:xfrm>
          <a:prstGeom prst="roundRect">
            <a:avLst>
              <a:gd name="adj" fmla="val 1935"/>
            </a:avLst>
          </a:prstGeom>
          <a:solidFill>
            <a:srgbClr val="1F3864"/>
          </a:solidFill>
          <a:ln w="12700">
            <a:solidFill>
              <a:srgbClr val="1F3864"/>
            </a:solidFill>
            <a:prstDash val="solid"/>
          </a:ln>
        </p:spPr>
      </p:sp>
      <p:sp>
        <p:nvSpPr>
          <p:cNvPr id="22" name="Text 19"/>
          <p:cNvSpPr txBox="1"/>
          <p:nvPr/>
        </p:nvSpPr>
        <p:spPr>
          <a:xfrm>
            <a:off x="6035040" y="1874520"/>
            <a:ext cx="2468880" cy="320040"/>
          </a:xfrm>
          <a:prstGeom prst="rect">
            <a:avLst/>
          </a:prstGeom>
          <a:noFill/>
          <a:ln/>
        </p:spPr>
        <p:txBody>
          <a:bodyPr wrap="square" lIns="0" tIns="0" rIns="0" bIns="0" rtlCol="0" anchor="t"/>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Boundary of use</a:t>
            </a:r>
            <a:endParaRPr lang="en-US" sz="1500" dirty="0"/>
          </a:p>
        </p:txBody>
      </p:sp>
      <p:sp>
        <p:nvSpPr>
          <p:cNvPr id="23" name="Text 20"/>
          <p:cNvSpPr txBox="1"/>
          <p:nvPr/>
        </p:nvSpPr>
        <p:spPr>
          <a:xfrm>
            <a:off x="6035040" y="2286000"/>
            <a:ext cx="2468880" cy="914400"/>
          </a:xfrm>
          <a:prstGeom prst="rect">
            <a:avLst/>
          </a:prstGeom>
          <a:noFill/>
          <a:ln/>
        </p:spPr>
        <p:txBody>
          <a:bodyPr wrap="square" lIns="0" tIns="0" rIns="0" bIns="0" rtlCol="0" anchor="t"/>
          <a:lstStyle/>
          <a:p>
            <a:pPr indent="0" marL="0">
              <a:buNone/>
            </a:pPr>
            <a:r>
              <a:rPr lang="en-US" sz="1150" dirty="0">
                <a:solidFill>
                  <a:srgbClr val="FFFFFF"/>
                </a:solidFill>
                <a:latin typeface="Times New Roman" pitchFamily="34" charset="0"/>
                <a:ea typeface="Times New Roman" pitchFamily="34" charset="-122"/>
                <a:cs typeface="Times New Roman" pitchFamily="34" charset="-120"/>
              </a:rPr>
              <a:t>This is an educational prototype with an unverified economic sample.</a:t>
            </a:r>
            <a:endParaRPr lang="en-US" sz="1150" dirty="0"/>
          </a:p>
        </p:txBody>
      </p:sp>
      <p:sp>
        <p:nvSpPr>
          <p:cNvPr id="24" name="Text 21"/>
          <p:cNvSpPr txBox="1"/>
          <p:nvPr/>
        </p:nvSpPr>
        <p:spPr>
          <a:xfrm>
            <a:off x="6035040" y="3291840"/>
            <a:ext cx="2468880" cy="1280160"/>
          </a:xfrm>
          <a:prstGeom prst="rect">
            <a:avLst/>
          </a:prstGeom>
          <a:noFill/>
          <a:ln/>
        </p:spPr>
        <p:txBody>
          <a:bodyPr wrap="square" lIns="0" tIns="0" rIns="0" bIns="0" rtlCol="0" anchor="t"/>
          <a:lstStyle/>
          <a:p>
            <a:pPr indent="0" marL="0">
              <a:buNone/>
            </a:pPr>
            <a:r>
              <a:rPr lang="en-US" sz="1150" dirty="0">
                <a:solidFill>
                  <a:srgbClr val="FFFFFF"/>
                </a:solidFill>
                <a:latin typeface="Times New Roman" pitchFamily="34" charset="0"/>
                <a:ea typeface="Times New Roman" pitchFamily="34" charset="-122"/>
                <a:cs typeface="Times New Roman" pitchFamily="34" charset="-120"/>
              </a:rPr>
              <a:t>Its results are model estimates, not official forecasts or causal effects.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14</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11. Future Scope</a:t>
            </a:r>
            <a:endParaRPr lang="en-US" sz="2400" dirty="0"/>
          </a:p>
        </p:txBody>
      </p:sp>
      <p:sp>
        <p:nvSpPr>
          <p:cNvPr id="9" name="Shape 6"/>
          <p:cNvSpPr/>
          <p:nvPr/>
        </p:nvSpPr>
        <p:spPr>
          <a:xfrm>
            <a:off x="457200" y="1737360"/>
            <a:ext cx="2651760" cy="1371600"/>
          </a:xfrm>
          <a:prstGeom prst="roundRect">
            <a:avLst>
              <a:gd name="adj" fmla="val 4000"/>
            </a:avLst>
          </a:prstGeom>
          <a:solidFill>
            <a:srgbClr val="F1F3F8"/>
          </a:solidFill>
          <a:ln w="12700">
            <a:solidFill>
              <a:srgbClr val="F1F3F8"/>
            </a:solidFill>
            <a:prstDash val="solid"/>
          </a:ln>
        </p:spPr>
      </p:sp>
      <p:sp>
        <p:nvSpPr>
          <p:cNvPr id="10" name="Text 7"/>
          <p:cNvSpPr txBox="1"/>
          <p:nvPr/>
        </p:nvSpPr>
        <p:spPr>
          <a:xfrm>
            <a:off x="594360" y="1828800"/>
            <a:ext cx="731520" cy="365760"/>
          </a:xfrm>
          <a:prstGeom prst="rect">
            <a:avLst/>
          </a:prstGeom>
          <a:noFill/>
          <a:ln/>
        </p:spPr>
        <p:txBody>
          <a:bodyPr wrap="square" lIns="0" tIns="0" rIns="0" bIns="0" rtlCol="0" anchor="t"/>
          <a:lstStyle/>
          <a:p>
            <a:pPr indent="0" marL="0">
              <a:buNone/>
            </a:pPr>
            <a:r>
              <a:rPr lang="en-US" sz="2200" b="1" dirty="0">
                <a:solidFill>
                  <a:srgbClr val="C00000"/>
                </a:solidFill>
                <a:latin typeface="Times New Roman" pitchFamily="34" charset="0"/>
                <a:ea typeface="Times New Roman" pitchFamily="34" charset="-122"/>
                <a:cs typeface="Times New Roman" pitchFamily="34" charset="-120"/>
              </a:rPr>
              <a:t>01</a:t>
            </a:r>
            <a:endParaRPr lang="en-US" sz="2200" dirty="0"/>
          </a:p>
        </p:txBody>
      </p:sp>
      <p:sp>
        <p:nvSpPr>
          <p:cNvPr id="11" name="Text 8"/>
          <p:cNvSpPr txBox="1"/>
          <p:nvPr/>
        </p:nvSpPr>
        <p:spPr>
          <a:xfrm>
            <a:off x="594360" y="2212848"/>
            <a:ext cx="2377440" cy="274320"/>
          </a:xfrm>
          <a:prstGeom prst="rect">
            <a:avLst/>
          </a:prstGeom>
          <a:noFill/>
          <a:ln/>
        </p:spPr>
        <p:txBody>
          <a:bodyPr wrap="square" lIns="0" tIns="0" rIns="0" bIns="0" rtlCol="0" anchor="t"/>
          <a:lstStyle/>
          <a:p>
            <a:pPr indent="0" marL="0">
              <a:buNone/>
            </a:pPr>
            <a:r>
              <a:rPr lang="en-US" sz="1300" b="1" dirty="0">
                <a:solidFill>
                  <a:srgbClr val="1F3864"/>
                </a:solidFill>
                <a:latin typeface="Times New Roman" pitchFamily="34" charset="0"/>
                <a:ea typeface="Times New Roman" pitchFamily="34" charset="-122"/>
                <a:cs typeface="Times New Roman" pitchFamily="34" charset="-120"/>
              </a:rPr>
              <a:t>Verify economic data</a:t>
            </a:r>
            <a:endParaRPr lang="en-US" sz="1300" dirty="0"/>
          </a:p>
        </p:txBody>
      </p:sp>
      <p:sp>
        <p:nvSpPr>
          <p:cNvPr id="12" name="Text 9"/>
          <p:cNvSpPr txBox="1"/>
          <p:nvPr/>
        </p:nvSpPr>
        <p:spPr>
          <a:xfrm>
            <a:off x="594360" y="2514600"/>
            <a:ext cx="2377440" cy="548640"/>
          </a:xfrm>
          <a:prstGeom prst="rect">
            <a:avLst/>
          </a:prstGeom>
          <a:noFill/>
          <a:ln/>
        </p:spPr>
        <p:txBody>
          <a:bodyPr wrap="square" lIns="0" tIns="0" rIns="0" bIns="0" rtlCol="0" anchor="t"/>
          <a:lstStyle/>
          <a:p>
            <a:pPr indent="0" marL="0">
              <a:buNone/>
            </a:pPr>
            <a:r>
              <a:rPr lang="en-US" sz="1050" dirty="0">
                <a:solidFill>
                  <a:srgbClr val="212121"/>
                </a:solidFill>
                <a:latin typeface="Times New Roman" pitchFamily="34" charset="0"/>
                <a:ea typeface="Times New Roman" pitchFamily="34" charset="-122"/>
                <a:cs typeface="Times New Roman" pitchFamily="34" charset="-120"/>
              </a:rPr>
              <a:t>Replace the sample target with traceable state GSVA and clear units.</a:t>
            </a:r>
            <a:endParaRPr lang="en-US" sz="1050" dirty="0"/>
          </a:p>
        </p:txBody>
      </p:sp>
      <p:sp>
        <p:nvSpPr>
          <p:cNvPr id="13" name="Shape 10"/>
          <p:cNvSpPr/>
          <p:nvPr/>
        </p:nvSpPr>
        <p:spPr>
          <a:xfrm>
            <a:off x="3246120" y="1737360"/>
            <a:ext cx="2651760" cy="1371600"/>
          </a:xfrm>
          <a:prstGeom prst="roundRect">
            <a:avLst>
              <a:gd name="adj" fmla="val 4000"/>
            </a:avLst>
          </a:prstGeom>
          <a:solidFill>
            <a:srgbClr val="F1F3F8"/>
          </a:solidFill>
          <a:ln w="12700">
            <a:solidFill>
              <a:srgbClr val="F1F3F8"/>
            </a:solidFill>
            <a:prstDash val="solid"/>
          </a:ln>
        </p:spPr>
      </p:sp>
      <p:sp>
        <p:nvSpPr>
          <p:cNvPr id="14" name="Text 11"/>
          <p:cNvSpPr txBox="1"/>
          <p:nvPr/>
        </p:nvSpPr>
        <p:spPr>
          <a:xfrm>
            <a:off x="3383280" y="1828800"/>
            <a:ext cx="731520" cy="365760"/>
          </a:xfrm>
          <a:prstGeom prst="rect">
            <a:avLst/>
          </a:prstGeom>
          <a:noFill/>
          <a:ln/>
        </p:spPr>
        <p:txBody>
          <a:bodyPr wrap="square" lIns="0" tIns="0" rIns="0" bIns="0" rtlCol="0" anchor="t"/>
          <a:lstStyle/>
          <a:p>
            <a:pPr indent="0" marL="0">
              <a:buNone/>
            </a:pPr>
            <a:r>
              <a:rPr lang="en-US" sz="2200" b="1" dirty="0">
                <a:solidFill>
                  <a:srgbClr val="C00000"/>
                </a:solidFill>
                <a:latin typeface="Times New Roman" pitchFamily="34" charset="0"/>
                <a:ea typeface="Times New Roman" pitchFamily="34" charset="-122"/>
                <a:cs typeface="Times New Roman" pitchFamily="34" charset="-120"/>
              </a:rPr>
              <a:t>02</a:t>
            </a:r>
            <a:endParaRPr lang="en-US" sz="2200" dirty="0"/>
          </a:p>
        </p:txBody>
      </p:sp>
      <p:sp>
        <p:nvSpPr>
          <p:cNvPr id="15" name="Text 12"/>
          <p:cNvSpPr txBox="1"/>
          <p:nvPr/>
        </p:nvSpPr>
        <p:spPr>
          <a:xfrm>
            <a:off x="3383280" y="2212848"/>
            <a:ext cx="2377440" cy="274320"/>
          </a:xfrm>
          <a:prstGeom prst="rect">
            <a:avLst/>
          </a:prstGeom>
          <a:noFill/>
          <a:ln/>
        </p:spPr>
        <p:txBody>
          <a:bodyPr wrap="square" lIns="0" tIns="0" rIns="0" bIns="0" rtlCol="0" anchor="t"/>
          <a:lstStyle/>
          <a:p>
            <a:pPr indent="0" marL="0">
              <a:buNone/>
            </a:pPr>
            <a:r>
              <a:rPr lang="en-US" sz="1300" b="1" dirty="0">
                <a:solidFill>
                  <a:srgbClr val="1F3864"/>
                </a:solidFill>
                <a:latin typeface="Times New Roman" pitchFamily="34" charset="0"/>
                <a:ea typeface="Times New Roman" pitchFamily="34" charset="-122"/>
                <a:cs typeface="Times New Roman" pitchFamily="34" charset="-120"/>
              </a:rPr>
              <a:t>All states and UTs</a:t>
            </a:r>
            <a:endParaRPr lang="en-US" sz="1300" dirty="0"/>
          </a:p>
        </p:txBody>
      </p:sp>
      <p:sp>
        <p:nvSpPr>
          <p:cNvPr id="16" name="Text 13"/>
          <p:cNvSpPr txBox="1"/>
          <p:nvPr/>
        </p:nvSpPr>
        <p:spPr>
          <a:xfrm>
            <a:off x="3383280" y="2514600"/>
            <a:ext cx="2377440" cy="548640"/>
          </a:xfrm>
          <a:prstGeom prst="rect">
            <a:avLst/>
          </a:prstGeom>
          <a:noFill/>
          <a:ln/>
        </p:spPr>
        <p:txBody>
          <a:bodyPr wrap="square" lIns="0" tIns="0" rIns="0" bIns="0" rtlCol="0" anchor="t"/>
          <a:lstStyle/>
          <a:p>
            <a:pPr indent="0" marL="0">
              <a:buNone/>
            </a:pPr>
            <a:r>
              <a:rPr lang="en-US" sz="1050" dirty="0">
                <a:solidFill>
                  <a:srgbClr val="212121"/>
                </a:solidFill>
                <a:latin typeface="Times New Roman" pitchFamily="34" charset="0"/>
                <a:ea typeface="Times New Roman" pitchFamily="34" charset="-122"/>
                <a:cs typeface="Times New Roman" pitchFamily="34" charset="-120"/>
              </a:rPr>
              <a:t>Expand beyond 10 states after validating the target.</a:t>
            </a:r>
            <a:endParaRPr lang="en-US" sz="1050" dirty="0"/>
          </a:p>
        </p:txBody>
      </p:sp>
      <p:sp>
        <p:nvSpPr>
          <p:cNvPr id="17" name="Shape 14"/>
          <p:cNvSpPr/>
          <p:nvPr/>
        </p:nvSpPr>
        <p:spPr>
          <a:xfrm>
            <a:off x="6035040" y="1737360"/>
            <a:ext cx="2651760" cy="1371600"/>
          </a:xfrm>
          <a:prstGeom prst="roundRect">
            <a:avLst>
              <a:gd name="adj" fmla="val 4000"/>
            </a:avLst>
          </a:prstGeom>
          <a:solidFill>
            <a:srgbClr val="F1F3F8"/>
          </a:solidFill>
          <a:ln w="12700">
            <a:solidFill>
              <a:srgbClr val="F1F3F8"/>
            </a:solidFill>
            <a:prstDash val="solid"/>
          </a:ln>
        </p:spPr>
      </p:sp>
      <p:sp>
        <p:nvSpPr>
          <p:cNvPr id="18" name="Text 15"/>
          <p:cNvSpPr txBox="1"/>
          <p:nvPr/>
        </p:nvSpPr>
        <p:spPr>
          <a:xfrm>
            <a:off x="6172200" y="1828800"/>
            <a:ext cx="731520" cy="365760"/>
          </a:xfrm>
          <a:prstGeom prst="rect">
            <a:avLst/>
          </a:prstGeom>
          <a:noFill/>
          <a:ln/>
        </p:spPr>
        <p:txBody>
          <a:bodyPr wrap="square" lIns="0" tIns="0" rIns="0" bIns="0" rtlCol="0" anchor="t"/>
          <a:lstStyle/>
          <a:p>
            <a:pPr indent="0" marL="0">
              <a:buNone/>
            </a:pPr>
            <a:r>
              <a:rPr lang="en-US" sz="2200" b="1" dirty="0">
                <a:solidFill>
                  <a:srgbClr val="C00000"/>
                </a:solidFill>
                <a:latin typeface="Times New Roman" pitchFamily="34" charset="0"/>
                <a:ea typeface="Times New Roman" pitchFamily="34" charset="-122"/>
                <a:cs typeface="Times New Roman" pitchFamily="34" charset="-120"/>
              </a:rPr>
              <a:t>03</a:t>
            </a:r>
            <a:endParaRPr lang="en-US" sz="2200" dirty="0"/>
          </a:p>
        </p:txBody>
      </p:sp>
      <p:sp>
        <p:nvSpPr>
          <p:cNvPr id="19" name="Text 16"/>
          <p:cNvSpPr txBox="1"/>
          <p:nvPr/>
        </p:nvSpPr>
        <p:spPr>
          <a:xfrm>
            <a:off x="6172200" y="2212848"/>
            <a:ext cx="2377440" cy="274320"/>
          </a:xfrm>
          <a:prstGeom prst="rect">
            <a:avLst/>
          </a:prstGeom>
          <a:noFill/>
          <a:ln/>
        </p:spPr>
        <p:txBody>
          <a:bodyPr wrap="square" lIns="0" tIns="0" rIns="0" bIns="0" rtlCol="0" anchor="t"/>
          <a:lstStyle/>
          <a:p>
            <a:pPr indent="0" marL="0">
              <a:buNone/>
            </a:pPr>
            <a:r>
              <a:rPr lang="en-US" sz="1300" b="1" dirty="0">
                <a:solidFill>
                  <a:srgbClr val="1F3864"/>
                </a:solidFill>
                <a:latin typeface="Times New Roman" pitchFamily="34" charset="0"/>
                <a:ea typeface="Times New Roman" pitchFamily="34" charset="-122"/>
                <a:cs typeface="Times New Roman" pitchFamily="34" charset="-120"/>
              </a:rPr>
              <a:t>Crop-level models</a:t>
            </a:r>
            <a:endParaRPr lang="en-US" sz="1300" dirty="0"/>
          </a:p>
        </p:txBody>
      </p:sp>
      <p:sp>
        <p:nvSpPr>
          <p:cNvPr id="20" name="Text 17"/>
          <p:cNvSpPr txBox="1"/>
          <p:nvPr/>
        </p:nvSpPr>
        <p:spPr>
          <a:xfrm>
            <a:off x="6172200" y="2514600"/>
            <a:ext cx="2377440" cy="548640"/>
          </a:xfrm>
          <a:prstGeom prst="rect">
            <a:avLst/>
          </a:prstGeom>
          <a:noFill/>
          <a:ln/>
        </p:spPr>
        <p:txBody>
          <a:bodyPr wrap="square" lIns="0" tIns="0" rIns="0" bIns="0" rtlCol="0" anchor="t"/>
          <a:lstStyle/>
          <a:p>
            <a:pPr indent="0" marL="0">
              <a:buNone/>
            </a:pPr>
            <a:r>
              <a:rPr lang="en-US" sz="1050" dirty="0">
                <a:solidFill>
                  <a:srgbClr val="212121"/>
                </a:solidFill>
                <a:latin typeface="Times New Roman" pitchFamily="34" charset="0"/>
                <a:ea typeface="Times New Roman" pitchFamily="34" charset="-122"/>
                <a:cs typeface="Times New Roman" pitchFamily="34" charset="-120"/>
              </a:rPr>
              <a:t>Explore crop outcomes with verified crop data.</a:t>
            </a:r>
            <a:endParaRPr lang="en-US" sz="1050" dirty="0"/>
          </a:p>
        </p:txBody>
      </p:sp>
      <p:sp>
        <p:nvSpPr>
          <p:cNvPr id="21" name="Shape 18"/>
          <p:cNvSpPr/>
          <p:nvPr/>
        </p:nvSpPr>
        <p:spPr>
          <a:xfrm>
            <a:off x="457200" y="3246120"/>
            <a:ext cx="2651760" cy="1371600"/>
          </a:xfrm>
          <a:prstGeom prst="roundRect">
            <a:avLst>
              <a:gd name="adj" fmla="val 4000"/>
            </a:avLst>
          </a:prstGeom>
          <a:solidFill>
            <a:srgbClr val="F1F3F8"/>
          </a:solidFill>
          <a:ln w="12700">
            <a:solidFill>
              <a:srgbClr val="F1F3F8"/>
            </a:solidFill>
            <a:prstDash val="solid"/>
          </a:ln>
        </p:spPr>
      </p:sp>
      <p:sp>
        <p:nvSpPr>
          <p:cNvPr id="22" name="Text 19"/>
          <p:cNvSpPr txBox="1"/>
          <p:nvPr/>
        </p:nvSpPr>
        <p:spPr>
          <a:xfrm>
            <a:off x="594360" y="3337560"/>
            <a:ext cx="731520" cy="365760"/>
          </a:xfrm>
          <a:prstGeom prst="rect">
            <a:avLst/>
          </a:prstGeom>
          <a:noFill/>
          <a:ln/>
        </p:spPr>
        <p:txBody>
          <a:bodyPr wrap="square" lIns="0" tIns="0" rIns="0" bIns="0" rtlCol="0" anchor="t"/>
          <a:lstStyle/>
          <a:p>
            <a:pPr indent="0" marL="0">
              <a:buNone/>
            </a:pPr>
            <a:r>
              <a:rPr lang="en-US" sz="2200" b="1" dirty="0">
                <a:solidFill>
                  <a:srgbClr val="C00000"/>
                </a:solidFill>
                <a:latin typeface="Times New Roman" pitchFamily="34" charset="0"/>
                <a:ea typeface="Times New Roman" pitchFamily="34" charset="-122"/>
                <a:cs typeface="Times New Roman" pitchFamily="34" charset="-120"/>
              </a:rPr>
              <a:t>04</a:t>
            </a:r>
            <a:endParaRPr lang="en-US" sz="2200" dirty="0"/>
          </a:p>
        </p:txBody>
      </p:sp>
      <p:sp>
        <p:nvSpPr>
          <p:cNvPr id="23" name="Text 20"/>
          <p:cNvSpPr txBox="1"/>
          <p:nvPr/>
        </p:nvSpPr>
        <p:spPr>
          <a:xfrm>
            <a:off x="594360" y="3721608"/>
            <a:ext cx="2377440" cy="274320"/>
          </a:xfrm>
          <a:prstGeom prst="rect">
            <a:avLst/>
          </a:prstGeom>
          <a:noFill/>
          <a:ln/>
        </p:spPr>
        <p:txBody>
          <a:bodyPr wrap="square" lIns="0" tIns="0" rIns="0" bIns="0" rtlCol="0" anchor="t"/>
          <a:lstStyle/>
          <a:p>
            <a:pPr indent="0" marL="0">
              <a:buNone/>
            </a:pPr>
            <a:r>
              <a:rPr lang="en-US" sz="1300" b="1" dirty="0">
                <a:solidFill>
                  <a:srgbClr val="1F3864"/>
                </a:solidFill>
                <a:latin typeface="Times New Roman" pitchFamily="34" charset="0"/>
                <a:ea typeface="Times New Roman" pitchFamily="34" charset="-122"/>
                <a:cs typeface="Times New Roman" pitchFamily="34" charset="-120"/>
              </a:rPr>
              <a:t>District-level output</a:t>
            </a:r>
            <a:endParaRPr lang="en-US" sz="1300" dirty="0"/>
          </a:p>
        </p:txBody>
      </p:sp>
      <p:sp>
        <p:nvSpPr>
          <p:cNvPr id="24" name="Text 21"/>
          <p:cNvSpPr txBox="1"/>
          <p:nvPr/>
        </p:nvSpPr>
        <p:spPr>
          <a:xfrm>
            <a:off x="594360" y="4023360"/>
            <a:ext cx="2377440" cy="548640"/>
          </a:xfrm>
          <a:prstGeom prst="rect">
            <a:avLst/>
          </a:prstGeom>
          <a:noFill/>
          <a:ln/>
        </p:spPr>
        <p:txBody>
          <a:bodyPr wrap="square" lIns="0" tIns="0" rIns="0" bIns="0" rtlCol="0" anchor="t"/>
          <a:lstStyle/>
          <a:p>
            <a:pPr indent="0" marL="0">
              <a:buNone/>
            </a:pPr>
            <a:r>
              <a:rPr lang="en-US" sz="1050" dirty="0">
                <a:solidFill>
                  <a:srgbClr val="212121"/>
                </a:solidFill>
                <a:latin typeface="Times New Roman" pitchFamily="34" charset="0"/>
                <a:ea typeface="Times New Roman" pitchFamily="34" charset="-122"/>
                <a:cs typeface="Times New Roman" pitchFamily="34" charset="-120"/>
              </a:rPr>
              <a:t>Add district data when reliable sources exist.</a:t>
            </a:r>
            <a:endParaRPr lang="en-US" sz="1050" dirty="0"/>
          </a:p>
        </p:txBody>
      </p:sp>
      <p:sp>
        <p:nvSpPr>
          <p:cNvPr id="25" name="Shape 22"/>
          <p:cNvSpPr/>
          <p:nvPr/>
        </p:nvSpPr>
        <p:spPr>
          <a:xfrm>
            <a:off x="3246120" y="3246120"/>
            <a:ext cx="2651760" cy="1371600"/>
          </a:xfrm>
          <a:prstGeom prst="roundRect">
            <a:avLst>
              <a:gd name="adj" fmla="val 4000"/>
            </a:avLst>
          </a:prstGeom>
          <a:solidFill>
            <a:srgbClr val="F1F3F8"/>
          </a:solidFill>
          <a:ln w="12700">
            <a:solidFill>
              <a:srgbClr val="F1F3F8"/>
            </a:solidFill>
            <a:prstDash val="solid"/>
          </a:ln>
        </p:spPr>
      </p:sp>
      <p:sp>
        <p:nvSpPr>
          <p:cNvPr id="26" name="Text 23"/>
          <p:cNvSpPr txBox="1"/>
          <p:nvPr/>
        </p:nvSpPr>
        <p:spPr>
          <a:xfrm>
            <a:off x="3383280" y="3337560"/>
            <a:ext cx="731520" cy="365760"/>
          </a:xfrm>
          <a:prstGeom prst="rect">
            <a:avLst/>
          </a:prstGeom>
          <a:noFill/>
          <a:ln/>
        </p:spPr>
        <p:txBody>
          <a:bodyPr wrap="square" lIns="0" tIns="0" rIns="0" bIns="0" rtlCol="0" anchor="t"/>
          <a:lstStyle/>
          <a:p>
            <a:pPr indent="0" marL="0">
              <a:buNone/>
            </a:pPr>
            <a:r>
              <a:rPr lang="en-US" sz="2200" b="1" dirty="0">
                <a:solidFill>
                  <a:srgbClr val="C00000"/>
                </a:solidFill>
                <a:latin typeface="Times New Roman" pitchFamily="34" charset="0"/>
                <a:ea typeface="Times New Roman" pitchFamily="34" charset="-122"/>
                <a:cs typeface="Times New Roman" pitchFamily="34" charset="-120"/>
              </a:rPr>
              <a:t>05</a:t>
            </a:r>
            <a:endParaRPr lang="en-US" sz="2200" dirty="0"/>
          </a:p>
        </p:txBody>
      </p:sp>
      <p:sp>
        <p:nvSpPr>
          <p:cNvPr id="27" name="Text 24"/>
          <p:cNvSpPr txBox="1"/>
          <p:nvPr/>
        </p:nvSpPr>
        <p:spPr>
          <a:xfrm>
            <a:off x="3383280" y="3721608"/>
            <a:ext cx="2377440" cy="274320"/>
          </a:xfrm>
          <a:prstGeom prst="rect">
            <a:avLst/>
          </a:prstGeom>
          <a:noFill/>
          <a:ln/>
        </p:spPr>
        <p:txBody>
          <a:bodyPr wrap="square" lIns="0" tIns="0" rIns="0" bIns="0" rtlCol="0" anchor="t"/>
          <a:lstStyle/>
          <a:p>
            <a:pPr indent="0" marL="0">
              <a:buNone/>
            </a:pPr>
            <a:r>
              <a:rPr lang="en-US" sz="1300" b="1" dirty="0">
                <a:solidFill>
                  <a:srgbClr val="1F3864"/>
                </a:solidFill>
                <a:latin typeface="Times New Roman" pitchFamily="34" charset="0"/>
                <a:ea typeface="Times New Roman" pitchFamily="34" charset="-122"/>
                <a:cs typeface="Times New Roman" pitchFamily="34" charset="-120"/>
              </a:rPr>
              <a:t>Better validation</a:t>
            </a:r>
            <a:endParaRPr lang="en-US" sz="1300" dirty="0"/>
          </a:p>
        </p:txBody>
      </p:sp>
      <p:sp>
        <p:nvSpPr>
          <p:cNvPr id="28" name="Text 25"/>
          <p:cNvSpPr txBox="1"/>
          <p:nvPr/>
        </p:nvSpPr>
        <p:spPr>
          <a:xfrm>
            <a:off x="3383280" y="4023360"/>
            <a:ext cx="2377440" cy="548640"/>
          </a:xfrm>
          <a:prstGeom prst="rect">
            <a:avLst/>
          </a:prstGeom>
          <a:noFill/>
          <a:ln/>
        </p:spPr>
        <p:txBody>
          <a:bodyPr wrap="square" lIns="0" tIns="0" rIns="0" bIns="0" rtlCol="0" anchor="t"/>
          <a:lstStyle/>
          <a:p>
            <a:pPr indent="0" marL="0">
              <a:buNone/>
            </a:pPr>
            <a:r>
              <a:rPr lang="en-US" sz="1050" dirty="0">
                <a:solidFill>
                  <a:srgbClr val="212121"/>
                </a:solidFill>
                <a:latin typeface="Times New Roman" pitchFamily="34" charset="0"/>
                <a:ea typeface="Times New Roman" pitchFamily="34" charset="-122"/>
                <a:cs typeface="Times New Roman" pitchFamily="34" charset="-120"/>
              </a:rPr>
              <a:t>Add state information and keep a final test period untouched.</a:t>
            </a:r>
            <a:endParaRPr lang="en-US" sz="1050" dirty="0"/>
          </a:p>
        </p:txBody>
      </p:sp>
      <p:sp>
        <p:nvSpPr>
          <p:cNvPr id="29" name="Shape 26"/>
          <p:cNvSpPr/>
          <p:nvPr/>
        </p:nvSpPr>
        <p:spPr>
          <a:xfrm>
            <a:off x="6035040" y="3246120"/>
            <a:ext cx="2651760" cy="1371600"/>
          </a:xfrm>
          <a:prstGeom prst="roundRect">
            <a:avLst>
              <a:gd name="adj" fmla="val 4000"/>
            </a:avLst>
          </a:prstGeom>
          <a:solidFill>
            <a:srgbClr val="F1F3F8"/>
          </a:solidFill>
          <a:ln w="12700">
            <a:solidFill>
              <a:srgbClr val="F1F3F8"/>
            </a:solidFill>
            <a:prstDash val="solid"/>
          </a:ln>
        </p:spPr>
      </p:sp>
      <p:sp>
        <p:nvSpPr>
          <p:cNvPr id="30" name="Text 27"/>
          <p:cNvSpPr txBox="1"/>
          <p:nvPr/>
        </p:nvSpPr>
        <p:spPr>
          <a:xfrm>
            <a:off x="6172200" y="3337560"/>
            <a:ext cx="731520" cy="365760"/>
          </a:xfrm>
          <a:prstGeom prst="rect">
            <a:avLst/>
          </a:prstGeom>
          <a:noFill/>
          <a:ln/>
        </p:spPr>
        <p:txBody>
          <a:bodyPr wrap="square" lIns="0" tIns="0" rIns="0" bIns="0" rtlCol="0" anchor="t"/>
          <a:lstStyle/>
          <a:p>
            <a:pPr indent="0" marL="0">
              <a:buNone/>
            </a:pPr>
            <a:r>
              <a:rPr lang="en-US" sz="2200" b="1" dirty="0">
                <a:solidFill>
                  <a:srgbClr val="C00000"/>
                </a:solidFill>
                <a:latin typeface="Times New Roman" pitchFamily="34" charset="0"/>
                <a:ea typeface="Times New Roman" pitchFamily="34" charset="-122"/>
                <a:cs typeface="Times New Roman" pitchFamily="34" charset="-120"/>
              </a:rPr>
              <a:t>06</a:t>
            </a:r>
            <a:endParaRPr lang="en-US" sz="2200" dirty="0"/>
          </a:p>
        </p:txBody>
      </p:sp>
      <p:sp>
        <p:nvSpPr>
          <p:cNvPr id="31" name="Text 28"/>
          <p:cNvSpPr txBox="1"/>
          <p:nvPr/>
        </p:nvSpPr>
        <p:spPr>
          <a:xfrm>
            <a:off x="6172200" y="3721608"/>
            <a:ext cx="2377440" cy="274320"/>
          </a:xfrm>
          <a:prstGeom prst="rect">
            <a:avLst/>
          </a:prstGeom>
          <a:noFill/>
          <a:ln/>
        </p:spPr>
        <p:txBody>
          <a:bodyPr wrap="square" lIns="0" tIns="0" rIns="0" bIns="0" rtlCol="0" anchor="t"/>
          <a:lstStyle/>
          <a:p>
            <a:pPr indent="0" marL="0">
              <a:buNone/>
            </a:pPr>
            <a:r>
              <a:rPr lang="en-US" sz="1300" b="1" dirty="0">
                <a:solidFill>
                  <a:srgbClr val="1F3864"/>
                </a:solidFill>
                <a:latin typeface="Times New Roman" pitchFamily="34" charset="0"/>
                <a:ea typeface="Times New Roman" pitchFamily="34" charset="-122"/>
                <a:cs typeface="Times New Roman" pitchFamily="34" charset="-120"/>
              </a:rPr>
              <a:t>IMD comparison</a:t>
            </a:r>
            <a:endParaRPr lang="en-US" sz="1300" dirty="0"/>
          </a:p>
        </p:txBody>
      </p:sp>
      <p:sp>
        <p:nvSpPr>
          <p:cNvPr id="32" name="Text 29"/>
          <p:cNvSpPr txBox="1"/>
          <p:nvPr/>
        </p:nvSpPr>
        <p:spPr>
          <a:xfrm>
            <a:off x="6172200" y="4023360"/>
            <a:ext cx="2377440" cy="548640"/>
          </a:xfrm>
          <a:prstGeom prst="rect">
            <a:avLst/>
          </a:prstGeom>
          <a:noFill/>
          <a:ln/>
        </p:spPr>
        <p:txBody>
          <a:bodyPr wrap="square" lIns="0" tIns="0" rIns="0" bIns="0" rtlCol="0" anchor="t"/>
          <a:lstStyle/>
          <a:p>
            <a:pPr indent="0" marL="0">
              <a:buNone/>
            </a:pPr>
            <a:r>
              <a:rPr lang="en-US" sz="1050" dirty="0">
                <a:solidFill>
                  <a:srgbClr val="212121"/>
                </a:solidFill>
                <a:latin typeface="Times New Roman" pitchFamily="34" charset="0"/>
                <a:ea typeface="Times New Roman" pitchFamily="34" charset="-122"/>
                <a:cs typeface="Times New Roman" pitchFamily="34" charset="-120"/>
              </a:rPr>
              <a:t>Compare IMD rainfall with the current Open-Meteo baseline.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15</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12. Conclusion</a:t>
            </a:r>
            <a:endParaRPr lang="en-US" sz="2400" dirty="0"/>
          </a:p>
        </p:txBody>
      </p:sp>
      <p:sp>
        <p:nvSpPr>
          <p:cNvPr id="9" name="Text 6"/>
          <p:cNvSpPr txBox="1"/>
          <p:nvPr/>
        </p:nvSpPr>
        <p:spPr>
          <a:xfrm>
            <a:off x="457200" y="1783080"/>
            <a:ext cx="5029200" cy="292608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212121"/>
                </a:solidFill>
                <a:latin typeface="Times New Roman" pitchFamily="34" charset="0"/>
                <a:ea typeface="Times New Roman" pitchFamily="34" charset="-122"/>
                <a:cs typeface="Times New Roman" pitchFamily="34" charset="-120"/>
              </a:rPr>
              <a:t>Built a local web demo with a data pipeline, five models and what-if scenarios.</a:t>
            </a:r>
            <a:endParaRPr lang="en-US" sz="1400" dirty="0"/>
          </a:p>
          <a:p>
            <a:pPr marL="177800" indent="-177800">
              <a:spcAft>
                <a:spcPts val="900"/>
              </a:spcAft>
              <a:buSzPct val="100000"/>
              <a:buChar char="•"/>
            </a:pPr>
            <a:r>
              <a:rPr lang="en-US" sz="1400" dirty="0">
                <a:solidFill>
                  <a:srgbClr val="212121"/>
                </a:solidFill>
                <a:latin typeface="Times New Roman" pitchFamily="34" charset="0"/>
                <a:ea typeface="Times New Roman" pitchFamily="34" charset="-122"/>
                <a:cs typeface="Times New Roman" pitchFamily="34" charset="-120"/>
              </a:rPr>
              <a:t>Trained on 2009–2019 and compared models on 2020–2023 (150 rows in all).</a:t>
            </a:r>
            <a:endParaRPr lang="en-US" sz="1400" dirty="0"/>
          </a:p>
          <a:p>
            <a:pPr marL="177800" indent="-177800">
              <a:spcAft>
                <a:spcPts val="900"/>
              </a:spcAft>
              <a:buSzPct val="100000"/>
              <a:buChar char="•"/>
            </a:pPr>
            <a:r>
              <a:rPr lang="en-US" sz="1400" dirty="0">
                <a:solidFill>
                  <a:srgbClr val="212121"/>
                </a:solidFill>
                <a:latin typeface="Times New Roman" pitchFamily="34" charset="0"/>
                <a:ea typeface="Times New Roman" pitchFamily="34" charset="-122"/>
                <a:cs typeface="Times New Roman" pitchFamily="34" charset="-120"/>
              </a:rPr>
              <a:t>Extra Trees scored best here: RMSE 15.68, MAE 12.19 sample units, R² 0.5224.</a:t>
            </a:r>
            <a:endParaRPr lang="en-US" sz="1400" dirty="0"/>
          </a:p>
          <a:p>
            <a:pPr marL="177800" indent="-177800">
              <a:spcAft>
                <a:spcPts val="900"/>
              </a:spcAft>
              <a:buSzPct val="100000"/>
              <a:buChar char="•"/>
            </a:pPr>
            <a:r>
              <a:rPr lang="en-US" sz="1400" dirty="0">
                <a:solidFill>
                  <a:srgbClr val="212121"/>
                </a:solidFill>
                <a:latin typeface="Times New Roman" pitchFamily="34" charset="0"/>
                <a:ea typeface="Times New Roman" pitchFamily="34" charset="-122"/>
                <a:cs typeface="Times New Roman" pitchFamily="34" charset="-120"/>
              </a:rPr>
              <a:t>Before real use, verify the economic target and test on a separate final period.</a:t>
            </a:r>
            <a:endParaRPr lang="en-US" sz="1400" dirty="0"/>
          </a:p>
        </p:txBody>
      </p:sp>
      <p:sp>
        <p:nvSpPr>
          <p:cNvPr id="10" name="Shape 7"/>
          <p:cNvSpPr/>
          <p:nvPr/>
        </p:nvSpPr>
        <p:spPr>
          <a:xfrm>
            <a:off x="5760720" y="1755648"/>
            <a:ext cx="2926080" cy="2926080"/>
          </a:xfrm>
          <a:prstGeom prst="roundRect">
            <a:avLst>
              <a:gd name="adj" fmla="val 1875"/>
            </a:avLst>
          </a:prstGeom>
          <a:solidFill>
            <a:srgbClr val="1F3864"/>
          </a:solidFill>
          <a:ln w="12700">
            <a:solidFill>
              <a:srgbClr val="1F3864"/>
            </a:solidFill>
            <a:prstDash val="solid"/>
          </a:ln>
        </p:spPr>
      </p:sp>
      <p:sp>
        <p:nvSpPr>
          <p:cNvPr id="11" name="Text 8"/>
          <p:cNvSpPr txBox="1"/>
          <p:nvPr/>
        </p:nvSpPr>
        <p:spPr>
          <a:xfrm>
            <a:off x="5897880" y="1874520"/>
            <a:ext cx="265176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5 models  |  10 states  |  15 years</a:t>
            </a:r>
            <a:endParaRPr lang="en-US" sz="1200" dirty="0"/>
          </a:p>
        </p:txBody>
      </p:sp>
      <p:sp>
        <p:nvSpPr>
          <p:cNvPr id="12" name="Text 9"/>
          <p:cNvSpPr txBox="1"/>
          <p:nvPr/>
        </p:nvSpPr>
        <p:spPr>
          <a:xfrm>
            <a:off x="5943600" y="2423160"/>
            <a:ext cx="2560320" cy="182880"/>
          </a:xfrm>
          <a:prstGeom prst="rect">
            <a:avLst/>
          </a:prstGeom>
          <a:noFill/>
          <a:ln/>
        </p:spPr>
        <p:txBody>
          <a:bodyPr wrap="square" lIns="0" tIns="0" rIns="0" bIns="0" rtlCol="0" anchor="t"/>
          <a:lstStyle/>
          <a:p>
            <a:pPr indent="0" marL="0">
              <a:buNone/>
            </a:pPr>
            <a:r>
              <a:rPr lang="en-US" sz="900" b="1" dirty="0">
                <a:solidFill>
                  <a:srgbClr val="BFD0F2"/>
                </a:solidFill>
                <a:latin typeface="Times New Roman" pitchFamily="34" charset="0"/>
                <a:ea typeface="Times New Roman" pitchFamily="34" charset="-122"/>
                <a:cs typeface="Times New Roman" pitchFamily="34" charset="-120"/>
              </a:rPr>
              <a:t>LOCAL DEMO</a:t>
            </a:r>
            <a:endParaRPr lang="en-US" sz="900" dirty="0"/>
          </a:p>
        </p:txBody>
      </p:sp>
      <p:sp>
        <p:nvSpPr>
          <p:cNvPr id="13" name="Text 10"/>
          <p:cNvSpPr txBox="1"/>
          <p:nvPr/>
        </p:nvSpPr>
        <p:spPr>
          <a:xfrm>
            <a:off x="5943600" y="2624328"/>
            <a:ext cx="2606040" cy="457200"/>
          </a:xfrm>
          <a:prstGeom prst="rect">
            <a:avLst/>
          </a:prstGeom>
          <a:noFill/>
          <a:ln/>
        </p:spPr>
        <p:txBody>
          <a:bodyPr wrap="square" lIns="0" tIns="0" rIns="0" bIns="0" rtlCol="0" anchor="t"/>
          <a:lstStyle/>
          <a:p>
            <a:pPr indent="0" marL="0">
              <a:buNone/>
            </a:pPr>
            <a:r>
              <a:rPr lang="en-US" sz="1100" u="sng" dirty="0">
                <a:solidFill>
                  <a:srgbClr val="FFFFFF"/>
                </a:solidFill>
                <a:uFill>
                  <a:solidFill>
                    <a:srgbClr val="FFFFFF"/>
                  </a:solidFill>
                </a:uFill>
                <a:latin typeface="Times New Roman" pitchFamily="34" charset="0"/>
                <a:ea typeface="Times New Roman" pitchFamily="34" charset="-122"/>
                <a:cs typeface="Times New Roman"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http://localhost:3000</a:t>
            </a:r>
            <a:endParaRPr lang="en-US" sz="1100" dirty="0"/>
          </a:p>
        </p:txBody>
      </p:sp>
      <p:sp>
        <p:nvSpPr>
          <p:cNvPr id="14" name="Text 11"/>
          <p:cNvSpPr txBox="1"/>
          <p:nvPr/>
        </p:nvSpPr>
        <p:spPr>
          <a:xfrm>
            <a:off x="5943600" y="3291840"/>
            <a:ext cx="2560320" cy="182880"/>
          </a:xfrm>
          <a:prstGeom prst="rect">
            <a:avLst/>
          </a:prstGeom>
          <a:noFill/>
          <a:ln/>
        </p:spPr>
        <p:txBody>
          <a:bodyPr wrap="square" lIns="0" tIns="0" rIns="0" bIns="0" rtlCol="0" anchor="t"/>
          <a:lstStyle/>
          <a:p>
            <a:pPr indent="0" marL="0">
              <a:buNone/>
            </a:pPr>
            <a:r>
              <a:rPr lang="en-US" sz="900" b="1" dirty="0">
                <a:solidFill>
                  <a:srgbClr val="BFD0F2"/>
                </a:solidFill>
                <a:latin typeface="Times New Roman" pitchFamily="34" charset="0"/>
                <a:ea typeface="Times New Roman" pitchFamily="34" charset="-122"/>
                <a:cs typeface="Times New Roman" pitchFamily="34" charset="-120"/>
              </a:rPr>
              <a:t>SOURCE CODE</a:t>
            </a:r>
            <a:endParaRPr lang="en-US" sz="900" dirty="0"/>
          </a:p>
        </p:txBody>
      </p:sp>
      <p:sp>
        <p:nvSpPr>
          <p:cNvPr id="15" name="Text 12"/>
          <p:cNvSpPr txBox="1"/>
          <p:nvPr/>
        </p:nvSpPr>
        <p:spPr>
          <a:xfrm>
            <a:off x="5943600" y="3493008"/>
            <a:ext cx="2606040" cy="457200"/>
          </a:xfrm>
          <a:prstGeom prst="rect">
            <a:avLst/>
          </a:prstGeom>
          <a:noFill/>
          <a:ln/>
        </p:spPr>
        <p:txBody>
          <a:bodyPr wrap="square" lIns="0" tIns="0" rIns="0" bIns="0" rtlCol="0" anchor="t"/>
          <a:lstStyle/>
          <a:p>
            <a:pPr indent="0" marL="0">
              <a:buNone/>
            </a:pPr>
            <a:r>
              <a:rPr lang="en-US" sz="1100" u="sng" dirty="0">
                <a:solidFill>
                  <a:srgbClr val="FFFFFF"/>
                </a:solidFill>
                <a:uFill>
                  <a:solidFill>
                    <a:srgbClr val="FFFFFF"/>
                  </a:solidFill>
                </a:uFill>
                <a:latin typeface="Times New Roman" pitchFamily="34" charset="0"/>
                <a:ea typeface="Times New Roman" pitchFamily="34" charset="-122"/>
                <a:cs typeface="Times New Roman"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github.com/hardiksedani/</a:t>
            </a:r>
            <a:endParaRPr lang="en-US" sz="1100" dirty="0"/>
          </a:p>
          <a:p>
            <a:pPr indent="0" marL="0">
              <a:buNone/>
            </a:pPr>
            <a:r>
              <a:rPr lang="en-US" sz="1100" u="sng" dirty="0">
                <a:solidFill>
                  <a:srgbClr val="FFFFFF"/>
                </a:solidFill>
                <a:uFill>
                  <a:solidFill>
                    <a:srgbClr val="FFFFFF"/>
                  </a:solidFill>
                </a:uFill>
                <a:latin typeface="Times New Roman" pitchFamily="34" charset="0"/>
                <a:ea typeface="Times New Roman" pitchFamily="34" charset="-122"/>
                <a:cs typeface="Times New Roman" pitchFamily="34" charset="-120"/>
                <a:hlinkClick r:id="rId4" invalidUrl="" action="" tgtFrame="" tooltip="" history="1" highlightClick="0" endSnd="0">
                  <a:extLst>
                    <a:ext uri="{A12FA001-AC4F-418D-AE19-62706E023703}">
                      <ahyp:hlinkClr xmlns:ahyp="http://schemas.microsoft.com/office/drawing/2018/hyperlinkcolor" val="tx"/>
                    </a:ext>
                  </a:extLst>
                </a:hlinkClick>
              </a:rPr>
              <a:t>pbl_mini_project_ty_aids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909914" y="1217981"/>
            <a:ext cx="230429" cy="3925519"/>
          </a:xfrm>
          <a:prstGeom prst="rect">
            <a:avLst/>
          </a:prstGeom>
          <a:solidFill>
            <a:srgbClr val="C00000"/>
          </a:solidFill>
          <a:ln w="12700">
            <a:solidFill>
              <a:srgbClr val="C00000"/>
            </a:solidFill>
            <a:prstDash val="solid"/>
          </a:ln>
        </p:spPr>
      </p:sp>
      <p:sp>
        <p:nvSpPr>
          <p:cNvPr id="3" name="Shape 1"/>
          <p:cNvSpPr/>
          <p:nvPr/>
        </p:nvSpPr>
        <p:spPr>
          <a:xfrm>
            <a:off x="0" y="4836262"/>
            <a:ext cx="2104949" cy="307238"/>
          </a:xfrm>
          <a:prstGeom prst="rect">
            <a:avLst/>
          </a:prstGeom>
          <a:solidFill>
            <a:srgbClr val="FF0000"/>
          </a:solidFill>
          <a:ln w="12700">
            <a:solidFill>
              <a:srgbClr val="FF0000"/>
            </a:solidFill>
            <a:prstDash val="solid"/>
          </a:ln>
        </p:spPr>
      </p:sp>
      <p:sp>
        <p:nvSpPr>
          <p:cNvPr id="4" name="Shape 2"/>
          <p:cNvSpPr/>
          <p:nvPr/>
        </p:nvSpPr>
        <p:spPr>
          <a:xfrm>
            <a:off x="2104949" y="4836262"/>
            <a:ext cx="6806794" cy="307238"/>
          </a:xfrm>
          <a:prstGeom prst="rect">
            <a:avLst/>
          </a:prstGeom>
          <a:solidFill>
            <a:srgbClr val="C00000"/>
          </a:solidFill>
          <a:ln w="12700">
            <a:solidFill>
              <a:srgbClr val="C00000"/>
            </a:solidFill>
            <a:prstDash val="solid"/>
          </a:ln>
        </p:spPr>
      </p:sp>
      <p:pic>
        <p:nvPicPr>
          <p:cNvPr id="5" name="Image 0" descr="header.png">    </p:cNvPr>
          <p:cNvPicPr>
            <a:picLocks noChangeAspect="1"/>
          </p:cNvPicPr>
          <p:nvPr/>
        </p:nvPicPr>
        <p:blipFill>
          <a:blip r:embed="rId1"/>
          <a:stretch>
            <a:fillRect/>
          </a:stretch>
        </p:blipFill>
        <p:spPr>
          <a:xfrm>
            <a:off x="0" y="0"/>
            <a:ext cx="9144000" cy="1332281"/>
          </a:xfrm>
          <a:prstGeom prst="rect">
            <a:avLst/>
          </a:prstGeom>
        </p:spPr>
      </p:pic>
      <p:sp>
        <p:nvSpPr>
          <p:cNvPr id="6" name="Text 3"/>
          <p:cNvSpPr txBox="1"/>
          <p:nvPr/>
        </p:nvSpPr>
        <p:spPr>
          <a:xfrm>
            <a:off x="256032" y="4836262"/>
            <a:ext cx="1463040" cy="307238"/>
          </a:xfrm>
          <a:prstGeom prst="rect">
            <a:avLst/>
          </a:prstGeom>
          <a:noFill/>
          <a:ln/>
        </p:spPr>
        <p:txBody>
          <a:bodyPr wrap="square" lIns="0" tIns="0" rIns="0" bIns="0" rtlCol="0" anchor="ctr"/>
          <a:lstStyle/>
          <a:p>
            <a:pPr indent="0" marL="0">
              <a:buNone/>
            </a:pPr>
            <a:r>
              <a:rPr lang="en-US" sz="1200" dirty="0">
                <a:solidFill>
                  <a:srgbClr val="FFFFFF"/>
                </a:solidFill>
                <a:latin typeface="Times New Roman" pitchFamily="34" charset="0"/>
                <a:ea typeface="Times New Roman" pitchFamily="34" charset="-122"/>
                <a:cs typeface="Times New Roman" pitchFamily="34" charset="-120"/>
              </a:rPr>
              <a:t>29/9/2026</a:t>
            </a:r>
            <a:endParaRPr lang="en-US" sz="1200" dirty="0"/>
          </a:p>
        </p:txBody>
      </p:sp>
      <p:sp>
        <p:nvSpPr>
          <p:cNvPr id="7" name="Text 4"/>
          <p:cNvSpPr txBox="1"/>
          <p:nvPr/>
        </p:nvSpPr>
        <p:spPr>
          <a:xfrm>
            <a:off x="8412480" y="4836262"/>
            <a:ext cx="411480" cy="307238"/>
          </a:xfrm>
          <a:prstGeom prst="rect">
            <a:avLst/>
          </a:prstGeom>
          <a:noFill/>
          <a:ln/>
        </p:spPr>
        <p:txBody>
          <a:bodyPr wrap="square" lIns="0" tIns="0" rIns="0" bIns="0" rtlCol="0" anchor="ctr"/>
          <a:lstStyle/>
          <a:p>
            <a:pPr algn="r" indent="0" marL="0">
              <a:buNone/>
            </a:pPr>
            <a:r>
              <a:rPr lang="en-US" sz="1000" dirty="0">
                <a:solidFill>
                  <a:srgbClr val="FFFFFF"/>
                </a:solidFill>
                <a:latin typeface="Times New Roman" pitchFamily="34" charset="0"/>
                <a:ea typeface="Times New Roman" pitchFamily="34" charset="-122"/>
                <a:cs typeface="Times New Roman" pitchFamily="34" charset="-120"/>
              </a:rPr>
              <a:t>16</a:t>
            </a:r>
            <a:endParaRPr lang="en-US" sz="1000" dirty="0"/>
          </a:p>
        </p:txBody>
      </p:sp>
      <p:sp>
        <p:nvSpPr>
          <p:cNvPr id="8" name="Text 5"/>
          <p:cNvSpPr txBox="1"/>
          <p:nvPr/>
        </p:nvSpPr>
        <p:spPr>
          <a:xfrm>
            <a:off x="457200" y="1261872"/>
            <a:ext cx="8229600" cy="384048"/>
          </a:xfrm>
          <a:prstGeom prst="rect">
            <a:avLst/>
          </a:prstGeom>
          <a:noFill/>
          <a:ln/>
        </p:spPr>
        <p:txBody>
          <a:bodyPr wrap="square" lIns="0" tIns="0" rIns="0" bIns="0" rtlCol="0" anchor="ctr"/>
          <a:lstStyle/>
          <a:p>
            <a:pPr indent="0" marL="0">
              <a:buNone/>
            </a:pPr>
            <a:r>
              <a:rPr lang="en-US" sz="2400" b="1" dirty="0">
                <a:solidFill>
                  <a:srgbClr val="1F3864"/>
                </a:solidFill>
                <a:latin typeface="Times New Roman" pitchFamily="34" charset="0"/>
                <a:ea typeface="Times New Roman" pitchFamily="34" charset="-122"/>
                <a:cs typeface="Times New Roman" pitchFamily="34" charset="-120"/>
              </a:rPr>
              <a:t>13. References</a:t>
            </a:r>
            <a:endParaRPr lang="en-US" sz="2400" dirty="0"/>
          </a:p>
        </p:txBody>
      </p:sp>
      <p:sp>
        <p:nvSpPr>
          <p:cNvPr id="9" name="Text 6"/>
          <p:cNvSpPr txBox="1"/>
          <p:nvPr/>
        </p:nvSpPr>
        <p:spPr>
          <a:xfrm>
            <a:off x="457200" y="1737360"/>
            <a:ext cx="8229600" cy="3017520"/>
          </a:xfrm>
          <a:prstGeom prst="rect">
            <a:avLst/>
          </a:prstGeom>
          <a:noFill/>
          <a:ln/>
        </p:spPr>
        <p:txBody>
          <a:bodyPr wrap="square" lIns="0" tIns="0" rIns="0" bIns="0" rtlCol="0" anchor="t"/>
          <a:lstStyle/>
          <a:p>
            <a:pPr indent="0" marL="0">
              <a:spcAft>
                <a:spcPts val="400"/>
              </a:spcAft>
              <a:buNone/>
            </a:pPr>
            <a:r>
              <a:rPr lang="en-US" sz="1050" dirty="0">
                <a:solidFill>
                  <a:srgbClr val="212121"/>
                </a:solidFill>
                <a:latin typeface="Times New Roman" pitchFamily="34" charset="0"/>
                <a:ea typeface="Times New Roman" pitchFamily="34" charset="-122"/>
                <a:cs typeface="Times New Roman" pitchFamily="34" charset="-120"/>
              </a:rPr>
              <a:t>[1] Open-Meteo, "Historical Weather API." https://open-meteo.com/en/docs/historical-weather-api</a:t>
            </a:r>
            <a:endParaRPr lang="en-US" sz="1050" dirty="0"/>
          </a:p>
          <a:p>
            <a:pPr indent="0" marL="0">
              <a:spcAft>
                <a:spcPts val="400"/>
              </a:spcAft>
              <a:buNone/>
            </a:pPr>
            <a:r>
              <a:rPr lang="en-US" sz="1050" dirty="0">
                <a:solidFill>
                  <a:srgbClr val="212121"/>
                </a:solidFill>
                <a:latin typeface="Times New Roman" pitchFamily="34" charset="0"/>
                <a:ea typeface="Times New Roman" pitchFamily="34" charset="-122"/>
                <a:cs typeface="Times New Roman" pitchFamily="34" charset="-120"/>
              </a:rPr>
              <a:t>[2] NOAA PSL, "Oceanic Niño Index (ONI) Data." https://psl.noaa.gov/data/correlation/oni.data</a:t>
            </a:r>
            <a:endParaRPr lang="en-US" sz="1050" dirty="0"/>
          </a:p>
          <a:p>
            <a:pPr indent="0" marL="0">
              <a:spcAft>
                <a:spcPts val="400"/>
              </a:spcAft>
              <a:buNone/>
            </a:pPr>
            <a:r>
              <a:rPr lang="en-US" sz="1050" dirty="0">
                <a:solidFill>
                  <a:srgbClr val="212121"/>
                </a:solidFill>
                <a:latin typeface="Times New Roman" pitchFamily="34" charset="0"/>
                <a:ea typeface="Times New Roman" pitchFamily="34" charset="-122"/>
                <a:cs typeface="Times New Roman" pitchFamily="34" charset="-120"/>
              </a:rPr>
              <a:t>[3] Project economic sample: backend/app/data/sources/agricultural_gdp_reference.csv (origin and units unverified).</a:t>
            </a:r>
            <a:endParaRPr lang="en-US" sz="1050" dirty="0"/>
          </a:p>
          <a:p>
            <a:pPr indent="0" marL="0">
              <a:spcAft>
                <a:spcPts val="400"/>
              </a:spcAft>
              <a:buNone/>
            </a:pPr>
            <a:r>
              <a:rPr lang="en-US" sz="1050" dirty="0">
                <a:solidFill>
                  <a:srgbClr val="212121"/>
                </a:solidFill>
                <a:latin typeface="Times New Roman" pitchFamily="34" charset="0"/>
                <a:ea typeface="Times New Roman" pitchFamily="34" charset="-122"/>
                <a:cs typeface="Times New Roman" pitchFamily="34" charset="-120"/>
              </a:rPr>
              <a:t>[4] IMD Pune, "1° Gridded Rainfall Data" (optional comparison). https://www.imdpune.gov.in/cmpg/Griddata/Rainfall_1_NetCDF.html</a:t>
            </a:r>
            <a:endParaRPr lang="en-US" sz="1050" dirty="0"/>
          </a:p>
          <a:p>
            <a:pPr indent="0" marL="0">
              <a:spcAft>
                <a:spcPts val="400"/>
              </a:spcAft>
              <a:buNone/>
            </a:pPr>
            <a:r>
              <a:rPr lang="en-US" sz="1050" dirty="0">
                <a:solidFill>
                  <a:srgbClr val="212121"/>
                </a:solidFill>
                <a:latin typeface="Times New Roman" pitchFamily="34" charset="0"/>
                <a:ea typeface="Times New Roman" pitchFamily="34" charset="-122"/>
                <a:cs typeface="Times New Roman" pitchFamily="34" charset="-120"/>
              </a:rPr>
              <a:t>[5] Saved model results: data/processed/model_evaluation_report.json (local project file).</a:t>
            </a:r>
            <a:endParaRPr lang="en-US" sz="1050" dirty="0"/>
          </a:p>
          <a:p>
            <a:pPr indent="0" marL="0">
              <a:spcAft>
                <a:spcPts val="400"/>
              </a:spcAft>
              <a:buNone/>
            </a:pPr>
            <a:r>
              <a:rPr lang="en-US" sz="1050" dirty="0">
                <a:solidFill>
                  <a:srgbClr val="212121"/>
                </a:solidFill>
                <a:latin typeface="Times New Roman" pitchFamily="34" charset="0"/>
                <a:ea typeface="Times New Roman" pitchFamily="34" charset="-122"/>
                <a:cs typeface="Times New Roman" pitchFamily="34" charset="-120"/>
              </a:rPr>
              <a:t>[6] P. Mahesh and R. Soundrapandiyan, "Yield Prediction for Crops by Gradient-Based Algorithms," PLOS ONE, vol. 19, no. 8, p. e0291928, Aug. 2024.</a:t>
            </a:r>
            <a:endParaRPr lang="en-US" sz="1050" dirty="0"/>
          </a:p>
          <a:p>
            <a:pPr indent="0" marL="0">
              <a:spcAft>
                <a:spcPts val="400"/>
              </a:spcAft>
              <a:buNone/>
            </a:pPr>
            <a:r>
              <a:rPr lang="en-US" sz="1050" dirty="0">
                <a:solidFill>
                  <a:srgbClr val="212121"/>
                </a:solidFill>
                <a:latin typeface="Times New Roman" pitchFamily="34" charset="0"/>
                <a:ea typeface="Times New Roman" pitchFamily="34" charset="-122"/>
                <a:cs typeface="Times New Roman" pitchFamily="34" charset="-120"/>
              </a:rPr>
              <a:t>[7] U. V. Nikhil, A. M. Pandiyan, S. P. Raja, and Z. Stamenkovic, "Machine Learning-Based Crop Yield Prediction in South India: Performance Analysis of Various Models," Computers, vol. 13, no. 6, p. 137, May 2024.</a:t>
            </a:r>
            <a:endParaRPr lang="en-US" sz="1050" dirty="0"/>
          </a:p>
          <a:p>
            <a:pPr indent="0" marL="0">
              <a:spcAft>
                <a:spcPts val="400"/>
              </a:spcAft>
              <a:buNone/>
            </a:pPr>
            <a:r>
              <a:rPr lang="en-US" sz="1050" dirty="0">
                <a:solidFill>
                  <a:srgbClr val="212121"/>
                </a:solidFill>
                <a:latin typeface="Times New Roman" pitchFamily="34" charset="0"/>
                <a:ea typeface="Times New Roman" pitchFamily="34" charset="-122"/>
                <a:cs typeface="Times New Roman" pitchFamily="34" charset="-120"/>
              </a:rPr>
              <a:t>[8] Y. Li, H. Zeng, M. Zhang, B. Wu, and X. Qin, "Global De-Trending Significantly Improves the Accuracy of XGBoost-Based County-Level Maize and Soybean Yield Prediction in the Midwestern United States," GIScience &amp; Remote Sensing, vol. 61, no. 1, p. 2349341, 2024.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the Impact of El Nino on Agricultural GDP using Panel Data Machine Learning</dc:title>
  <dc:subject>PptxGenJS Presentation</dc:subject>
  <dc:creator>Hardik Sedani, Altair Patel, Nikhil More</dc:creator>
  <cp:lastModifiedBy>Hardik Sedani, Altair Patel, Nikhil More</cp:lastModifiedBy>
  <cp:revision>1</cp:revision>
  <dcterms:created xsi:type="dcterms:W3CDTF">2026-09-29T05:53:29Z</dcterms:created>
  <dcterms:modified xsi:type="dcterms:W3CDTF">2026-09-29T05:53:29Z</dcterms:modified>
</cp:coreProperties>
</file>